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de66678f0444a9" /><Relationship Type="http://schemas.openxmlformats.org/officeDocument/2006/relationships/extended-properties" Target="/docProps/app.xml" Id="R786a5c0ae61e4def" /><Relationship Type="http://schemas.openxmlformats.org/officeDocument/2006/relationships/officeDocument" Target="/ppt/presentation.xml" Id="Rd4538dfe5fb7423b" /></Relationships>
</file>

<file path=ppt/presentation.xml><?xml version="1.0" encoding="utf-8"?>
<p:presentation xmlns:p="http://schemas.openxmlformats.org/presentationml/2006/main">
  <p:sldMasterIdLst>
    <p:sldMasterId xmlns:r="http://schemas.openxmlformats.org/officeDocument/2006/relationships" id="2147483648" r:id="R194764f3b90c4370"/>
  </p:sldMasterIdLst>
  <p:notesMasterIdLst>
    <p:notesMasterId xmlns:r="http://schemas.openxmlformats.org/officeDocument/2006/relationships" r:id="Rb75b030b14c04293"/>
  </p:notesMasterIdLst>
  <p:sldIdLst>
    <p:sldId xmlns:r="http://schemas.openxmlformats.org/officeDocument/2006/relationships" id="256" r:id="Re51a920fba1e4a5f"/>
    <p:sldId xmlns:r="http://schemas.openxmlformats.org/officeDocument/2006/relationships" id="257" r:id="R5dddeba6ec0e4138"/>
    <p:sldId xmlns:r="http://schemas.openxmlformats.org/officeDocument/2006/relationships" id="258" r:id="Rd677d475946f4cf8"/>
    <p:sldId xmlns:r="http://schemas.openxmlformats.org/officeDocument/2006/relationships" id="259" r:id="Rf8b777025f9d4f75"/>
    <p:sldId xmlns:r="http://schemas.openxmlformats.org/officeDocument/2006/relationships" id="260" r:id="R84b64edd11754a2e"/>
    <p:sldId xmlns:r="http://schemas.openxmlformats.org/officeDocument/2006/relationships" id="261" r:id="Ra7c5510cd4fc4595"/>
    <p:sldId xmlns:r="http://schemas.openxmlformats.org/officeDocument/2006/relationships" id="262" r:id="Ra02779d8b9d14b8c"/>
    <p:sldId xmlns:r="http://schemas.openxmlformats.org/officeDocument/2006/relationships" id="263" r:id="R88e0f6a717d1415f"/>
    <p:sldId xmlns:r="http://schemas.openxmlformats.org/officeDocument/2006/relationships" id="264" r:id="R4999bc4d96ba4845"/>
    <p:sldId xmlns:r="http://schemas.openxmlformats.org/officeDocument/2006/relationships" id="265" r:id="R2fe2a89e84ff4d5d"/>
    <p:sldId xmlns:r="http://schemas.openxmlformats.org/officeDocument/2006/relationships" id="266" r:id="Rfcc0166eaa67443d"/>
    <p:sldId xmlns:r="http://schemas.openxmlformats.org/officeDocument/2006/relationships" id="267" r:id="R9398bd74d6274c54"/>
    <p:sldId xmlns:r="http://schemas.openxmlformats.org/officeDocument/2006/relationships" id="268" r:id="R156ead3bcb9b481f"/>
    <p:sldId xmlns:r="http://schemas.openxmlformats.org/officeDocument/2006/relationships" id="269" r:id="R0c3761b5d4bc482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94764f3b90c4370" /><Relationship Type="http://schemas.openxmlformats.org/officeDocument/2006/relationships/theme" Target="/ppt/theme/theme1.xml" Id="R10b5a94abc264b6d" /><Relationship Type="http://schemas.openxmlformats.org/officeDocument/2006/relationships/notesMaster" Target="/ppt/notesMasters/notesMaster1.xml" Id="Rb75b030b14c04293" /><Relationship Type="http://schemas.openxmlformats.org/officeDocument/2006/relationships/presProps" Target="/ppt/presProps.xml" Id="R496c31801acc4d03" /><Relationship Type="http://schemas.openxmlformats.org/officeDocument/2006/relationships/viewProps" Target="/ppt/viewProps.xml" Id="Rca1ab994e3474800" /><Relationship Type="http://schemas.openxmlformats.org/officeDocument/2006/relationships/tableStyles" Target="/ppt/tableStyles.xml" Id="Re8a30210adfb49ed" /><Relationship Type="http://schemas.openxmlformats.org/officeDocument/2006/relationships/slide" Target="/ppt/slides/slide1.xml" Id="Re51a920fba1e4a5f" /><Relationship Type="http://schemas.openxmlformats.org/officeDocument/2006/relationships/slide" Target="/ppt/slides/slide2.xml" Id="R5dddeba6ec0e4138" /><Relationship Type="http://schemas.openxmlformats.org/officeDocument/2006/relationships/slide" Target="/ppt/slides/slide3.xml" Id="Rd677d475946f4cf8" /><Relationship Type="http://schemas.openxmlformats.org/officeDocument/2006/relationships/slide" Target="/ppt/slides/slide4.xml" Id="Rf8b777025f9d4f75" /><Relationship Type="http://schemas.openxmlformats.org/officeDocument/2006/relationships/slide" Target="/ppt/slides/slide5.xml" Id="R84b64edd11754a2e" /><Relationship Type="http://schemas.openxmlformats.org/officeDocument/2006/relationships/slide" Target="/ppt/slides/slide6.xml" Id="Ra7c5510cd4fc4595" /><Relationship Type="http://schemas.openxmlformats.org/officeDocument/2006/relationships/slide" Target="/ppt/slides/slide7.xml" Id="Ra02779d8b9d14b8c" /><Relationship Type="http://schemas.openxmlformats.org/officeDocument/2006/relationships/slide" Target="/ppt/slides/slide8.xml" Id="R88e0f6a717d1415f" /><Relationship Type="http://schemas.openxmlformats.org/officeDocument/2006/relationships/slide" Target="/ppt/slides/slide9.xml" Id="R4999bc4d96ba4845" /><Relationship Type="http://schemas.openxmlformats.org/officeDocument/2006/relationships/slide" Target="/ppt/slides/slide10.xml" Id="R2fe2a89e84ff4d5d" /><Relationship Type="http://schemas.openxmlformats.org/officeDocument/2006/relationships/slide" Target="/ppt/slides/slide11.xml" Id="Rfcc0166eaa67443d" /><Relationship Type="http://schemas.openxmlformats.org/officeDocument/2006/relationships/slide" Target="/ppt/slides/slide12.xml" Id="R9398bd74d6274c54" /><Relationship Type="http://schemas.openxmlformats.org/officeDocument/2006/relationships/slide" Target="/ppt/slides/slide13.xml" Id="R156ead3bcb9b481f" /><Relationship Type="http://schemas.openxmlformats.org/officeDocument/2006/relationships/slide" Target="/ppt/slides/slide14.xml" Id="R0c3761b5d4bc48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c14e0d8045645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713ad0d8244886" /><Relationship Type="http://schemas.openxmlformats.org/officeDocument/2006/relationships/notesMaster" Target="/ppt/notesMasters/notesMaster1.xml" Id="R20a3bd86900249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fee0670de0494f" /><Relationship Type="http://schemas.openxmlformats.org/officeDocument/2006/relationships/notesMaster" Target="/ppt/notesMasters/notesMaster1.xml" Id="R09110c585f7942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9b175322cb48a6" /><Relationship Type="http://schemas.openxmlformats.org/officeDocument/2006/relationships/notesMaster" Target="/ppt/notesMasters/notesMaster1.xml" Id="R953358caea1c4a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36986c8314407c" /><Relationship Type="http://schemas.openxmlformats.org/officeDocument/2006/relationships/notesMaster" Target="/ppt/notesMasters/notesMaster1.xml" Id="R65df848079bb4f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7b62d5bc1745d4" /><Relationship Type="http://schemas.openxmlformats.org/officeDocument/2006/relationships/notesMaster" Target="/ppt/notesMasters/notesMaster1.xml" Id="R2677da97664949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03ca3af68a4927" /><Relationship Type="http://schemas.openxmlformats.org/officeDocument/2006/relationships/notesMaster" Target="/ppt/notesMasters/notesMaster1.xml" Id="R5efcad501d9543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b6d2ee4e9e4b77" /><Relationship Type="http://schemas.openxmlformats.org/officeDocument/2006/relationships/notesMaster" Target="/ppt/notesMasters/notesMaster1.xml" Id="R4a242619ea5141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51b6a3d67f463f" /><Relationship Type="http://schemas.openxmlformats.org/officeDocument/2006/relationships/notesMaster" Target="/ppt/notesMasters/notesMaster1.xml" Id="Rcd5babefd5bb46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d3e5d248e542be" /><Relationship Type="http://schemas.openxmlformats.org/officeDocument/2006/relationships/notesMaster" Target="/ppt/notesMasters/notesMaster1.xml" Id="R1c3db50347a04d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575e073ca84754" /><Relationship Type="http://schemas.openxmlformats.org/officeDocument/2006/relationships/notesMaster" Target="/ppt/notesMasters/notesMaster1.xml" Id="Rfe4f308e3b7c40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04e0394e6a4655" /><Relationship Type="http://schemas.openxmlformats.org/officeDocument/2006/relationships/notesMaster" Target="/ppt/notesMasters/notesMaster1.xml" Id="R19318b7f98134b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f17f1eb2b467d" /><Relationship Type="http://schemas.openxmlformats.org/officeDocument/2006/relationships/notesMaster" Target="/ppt/notesMasters/notesMaster1.xml" Id="R7e93a87a57874a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886ec760a14365" /><Relationship Type="http://schemas.openxmlformats.org/officeDocument/2006/relationships/notesMaster" Target="/ppt/notesMasters/notesMaster1.xml" Id="R5ee57c51f7eb4f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14a16dd7e14106" /><Relationship Type="http://schemas.openxmlformats.org/officeDocument/2006/relationships/notesMaster" Target="/ppt/notesMasters/notesMaster1.xml" Id="R81a04dee6ef4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d5060890c04ff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dafca092f4243b6" /><Relationship Type="http://schemas.openxmlformats.org/officeDocument/2006/relationships/slideLayout" Target="/ppt/slideLayouts/slideLayout2.xml" Id="R1e08064259a9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08064259a9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44f9edac2d54c22" /><Relationship Type="http://schemas.openxmlformats.org/officeDocument/2006/relationships/image" Target="/ppt/media/image.jpeg" Id="R2871c82030e94458" /><Relationship Type="http://schemas.openxmlformats.org/officeDocument/2006/relationships/image" Target="/ppt/media/image2.jpeg" Id="Refdf9e3203404458" /><Relationship Type="http://schemas.openxmlformats.org/officeDocument/2006/relationships/image" Target="/ppt/media/image3.jpeg" Id="R23e20fbd818f4c49" /><Relationship Type="http://schemas.openxmlformats.org/officeDocument/2006/relationships/notesSlide" Target="/ppt/notesSlides/notesSlide1.xml" Id="R0d8467e6402d48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09d3dd180b24a3f" /><Relationship Type="http://schemas.openxmlformats.org/officeDocument/2006/relationships/notesSlide" Target="/ppt/notesSlides/notesSlide2.xml" Id="Rac7c7fdda88445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90f73a1fa44458a" /><Relationship Type="http://schemas.openxmlformats.org/officeDocument/2006/relationships/notesSlide" Target="/ppt/notesSlides/notesSlide3.xml" Id="R1cca7550914d47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212113dfa804be9" /><Relationship Type="http://schemas.openxmlformats.org/officeDocument/2006/relationships/notesSlide" Target="/ppt/notesSlides/notesSlide4.xml" Id="Rb6d53ce9aa594d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479249b60464d38" /><Relationship Type="http://schemas.openxmlformats.org/officeDocument/2006/relationships/image" Target="/ppt/media/image4.jpeg" Id="R53d9b64b9f624454" /><Relationship Type="http://schemas.openxmlformats.org/officeDocument/2006/relationships/image" Target="/ppt/media/image5.jpeg" Id="Reebc5795889b42dc" /><Relationship Type="http://schemas.openxmlformats.org/officeDocument/2006/relationships/image" Target="/ppt/media/image6.jpeg" Id="R6ac1801f9d9a4d5a" /><Relationship Type="http://schemas.openxmlformats.org/officeDocument/2006/relationships/image" Target="/ppt/media/image7.jpeg" Id="R4e2d7f7ca78e46b8" /><Relationship Type="http://schemas.openxmlformats.org/officeDocument/2006/relationships/image" Target="/ppt/media/image8.jpeg" Id="R78a044e2f57242b3" /><Relationship Type="http://schemas.openxmlformats.org/officeDocument/2006/relationships/image" Target="/ppt/media/image9.jpeg" Id="Rb0251ee0d97e4c97" /><Relationship Type="http://schemas.openxmlformats.org/officeDocument/2006/relationships/notesSlide" Target="/ppt/notesSlides/notesSlide5.xml" Id="Rf983e839421640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e714549c6cc4679" /><Relationship Type="http://schemas.openxmlformats.org/officeDocument/2006/relationships/notesSlide" Target="/ppt/notesSlides/notesSlide6.xml" Id="R633b79c0d12a48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00376d2e0704715" /><Relationship Type="http://schemas.openxmlformats.org/officeDocument/2006/relationships/image" Target="/ppt/media/image10.jpeg" Id="R08f50ffa76064d6e" /><Relationship Type="http://schemas.openxmlformats.org/officeDocument/2006/relationships/image" Target="/ppt/media/image11.jpeg" Id="Rf884e2fd86e44541" /><Relationship Type="http://schemas.openxmlformats.org/officeDocument/2006/relationships/image" Target="/ppt/media/image12.jpeg" Id="Rdec0df7c29014bd0" /><Relationship Type="http://schemas.openxmlformats.org/officeDocument/2006/relationships/notesSlide" Target="/ppt/notesSlides/notesSlide7.xml" Id="R225a4a7a1f244a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5ca341c712a41a4" /><Relationship Type="http://schemas.openxmlformats.org/officeDocument/2006/relationships/notesSlide" Target="/ppt/notesSlides/notesSlide8.xml" Id="R348a39625e9343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c9c53c61add4f0b" /><Relationship Type="http://schemas.openxmlformats.org/officeDocument/2006/relationships/notesSlide" Target="/ppt/notesSlides/notesSlide9.xml" Id="R6b6c31633f8d4b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770415c753140f8" /><Relationship Type="http://schemas.openxmlformats.org/officeDocument/2006/relationships/notesSlide" Target="/ppt/notesSlides/notesSlide10.xml" Id="Redb09183b65946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526c44869bc413d" /><Relationship Type="http://schemas.openxmlformats.org/officeDocument/2006/relationships/notesSlide" Target="/ppt/notesSlides/notesSlide11.xml" Id="Rf9553d4b236f49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ef86b8396f94a9c" /><Relationship Type="http://schemas.openxmlformats.org/officeDocument/2006/relationships/notesSlide" Target="/ppt/notesSlides/notesSlide12.xml" Id="R75e37239b41045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949aad985924f3d" /><Relationship Type="http://schemas.openxmlformats.org/officeDocument/2006/relationships/notesSlide" Target="/ppt/notesSlides/notesSlide13.xml" Id="Rf90e7d2d7ee04c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e260a629956481c" /><Relationship Type="http://schemas.openxmlformats.org/officeDocument/2006/relationships/notesSlide" Target="/ppt/notesSlides/notesSlide14.xml" Id="R7a09b5486cb24ef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7D99F4-09FF-4A15-822D-5747E674A5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8EDBC3A-1971-4978-9769-A8BE334EA4F9}"/>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5BED038-6F5A-4636-926E-A59C49F8D13F}"/>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01</a:t>
            </a:r>
          </a:p>
        </p:txBody>
      </p:sp>
      <p:sp>
        <p:nvSpPr>
          <p:cNvPr id="4" name="">
            <a:extLst xmlns:a="http://schemas.openxmlformats.org/drawingml/2006/main">
              <a:ext uri="{FF2B5EF4-FFF2-40B4-BE49-F238E27FC236}">
                <a16:creationId xmlns:a16="http://schemas.microsoft.com/office/drawing/2014/main" id="{F99EE9A2-7852-4C10-B62C-9B5A2922792B}"/>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FINAL DEFENSE</a:t>
            </a:r>
          </a:p>
        </p:txBody>
      </p:sp>
      <p:sp>
        <p:nvSpPr>
          <p:cNvPr id="5" name="">
            <a:extLst xmlns:a="http://schemas.openxmlformats.org/drawingml/2006/main">
              <a:ext uri="{FF2B5EF4-FFF2-40B4-BE49-F238E27FC236}">
                <a16:creationId xmlns:a16="http://schemas.microsoft.com/office/drawing/2014/main" id="{2EA0A201-59C7-49BC-9F89-728555E43926}"/>
              </a:ext>
            </a:extLst>
          </p:cNvPr>
          <p:cNvSpPr>
            <a:spLocks xmlns:a="http://schemas.openxmlformats.org/drawingml/2006/main" noGrp="1"/>
          </p:cNvSpPr>
          <p:nvPr/>
        </p:nvSpPr>
        <p:spPr>
          <a:xfrm xmlns:a="http://schemas.openxmlformats.org/drawingml/2006/main">
            <a:off x="552450" y="1123950"/>
            <a:ext cx="7239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7FAFC"/>
                </a:solidFill>
                <a:latin typeface="PingFang SC"/>
                <a:ea typeface="PingFang SC"/>
                <a:cs typeface="PingFang SC"/>
              </a:defRPr>
            </a:pPr>
            <a:r>
              <a:rPr sz="3000" b="1">
                <a:solidFill>
                  <a:srgbClr val="F7FAFC"/>
                </a:solidFill>
                <a:latin typeface="PingFang SC"/>
                <a:ea typeface="PingFang SC"/>
                <a:cs typeface="PingFang SC"/>
              </a:rPr>
              <a:t>面向真实作业场景的</a:t>
            </a:r>
          </a:p>
          <a:p xmlns:a="http://schemas.openxmlformats.org/drawingml/2006/main">
            <a:pPr algn="l">
              <a:defRPr sz="3000" b="1">
                <a:solidFill>
                  <a:srgbClr val="F7FAFC"/>
                </a:solidFill>
                <a:latin typeface="PingFang SC"/>
                <a:ea typeface="PingFang SC"/>
                <a:cs typeface="PingFang SC"/>
              </a:defRPr>
            </a:pPr>
            <a:r>
              <a:rPr sz="3000" b="1">
                <a:solidFill>
                  <a:srgbClr val="F7FAFC"/>
                </a:solidFill>
                <a:latin typeface="PingFang SC"/>
                <a:ea typeface="PingFang SC"/>
                <a:cs typeface="PingFang SC"/>
              </a:rPr>
              <a:t>XLeRobot 多模态具身智能原型系统</a:t>
            </a:r>
          </a:p>
        </p:txBody>
      </p:sp>
      <p:sp>
        <p:nvSpPr>
          <p:cNvPr id="6" name="">
            <a:extLst xmlns:a="http://schemas.openxmlformats.org/drawingml/2006/main">
              <a:ext uri="{FF2B5EF4-FFF2-40B4-BE49-F238E27FC236}">
                <a16:creationId xmlns:a16="http://schemas.microsoft.com/office/drawing/2014/main" id="{770306AF-659C-4110-A03C-E5364FDBEA0D}"/>
              </a:ext>
            </a:extLst>
          </p:cNvPr>
          <p:cNvSpPr>
            <a:spLocks xmlns:a="http://schemas.openxmlformats.org/drawingml/2006/main" noGrp="1"/>
          </p:cNvSpPr>
          <p:nvPr/>
        </p:nvSpPr>
        <p:spPr>
          <a:xfrm xmlns:a="http://schemas.openxmlformats.org/drawingml/2006/main">
            <a:off x="590550" y="289560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CBD5E1"/>
                </a:solidFill>
                <a:latin typeface="PingFang SC"/>
                <a:ea typeface="PingFang SC"/>
                <a:cs typeface="PingFang SC"/>
              </a:defRPr>
            </a:pPr>
            <a:r>
              <a:rPr sz="1275" b="0">
                <a:solidFill>
                  <a:srgbClr val="CBD5E1"/>
                </a:solidFill>
                <a:latin typeface="PingFang SC"/>
                <a:ea typeface="PingFang SC"/>
                <a:cs typeface="PingFang SC"/>
              </a:rPr>
              <a:t>低成本双臂移动平台 · 分布式控制 · 语音视觉交互 · 动作示教 · ACT 策略训练</a:t>
            </a:r>
          </a:p>
        </p:txBody>
      </p:sp>
      <p:sp>
        <p:nvSpPr>
          <p:cNvPr id="7" name="">
            <a:extLst xmlns:a="http://schemas.openxmlformats.org/drawingml/2006/main">
              <a:ext uri="{FF2B5EF4-FFF2-40B4-BE49-F238E27FC236}">
                <a16:creationId xmlns:a16="http://schemas.microsoft.com/office/drawing/2014/main" id="{DDACFF2C-F004-4D0F-A3C2-75B1EBD09085}"/>
              </a:ext>
            </a:extLst>
          </p:cNvPr>
          <p:cNvSpPr>
            <a:spLocks xmlns:a="http://schemas.openxmlformats.org/drawingml/2006/main" noGrp="1"/>
          </p:cNvSpPr>
          <p:nvPr/>
        </p:nvSpPr>
        <p:spPr>
          <a:xfrm xmlns:a="http://schemas.openxmlformats.org/drawingml/2006/main">
            <a:off x="590550" y="3676650"/>
            <a:ext cx="5734050" cy="876300"/>
          </a:xfrm>
          <a:prstGeom xmlns:a="http://schemas.openxmlformats.org/drawingml/2006/main" prst="rect">
            <a:avLst/>
          </a:prstGeom>
          <a:solidFill xmlns:a="http://schemas.openxmlformats.org/drawingml/2006/main">
            <a:srgbClr val="101A2D"/>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0D7D1C0A-6DDA-48FA-81D0-9F2A52424A11}"/>
              </a:ext>
            </a:extLst>
          </p:cNvPr>
          <p:cNvSpPr>
            <a:spLocks xmlns:a="http://schemas.openxmlformats.org/drawingml/2006/main" noGrp="1"/>
          </p:cNvSpPr>
          <p:nvPr/>
        </p:nvSpPr>
        <p:spPr>
          <a:xfrm xmlns:a="http://schemas.openxmlformats.org/drawingml/2006/main">
            <a:off x="857250" y="394335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核心命题</a:t>
            </a:r>
          </a:p>
        </p:txBody>
      </p:sp>
      <p:sp>
        <p:nvSpPr>
          <p:cNvPr id="9" name="">
            <a:extLst xmlns:a="http://schemas.openxmlformats.org/drawingml/2006/main">
              <a:ext uri="{FF2B5EF4-FFF2-40B4-BE49-F238E27FC236}">
                <a16:creationId xmlns:a16="http://schemas.microsoft.com/office/drawing/2014/main" id="{6315DA8C-E3DE-44B9-B56E-27A3DCC59E86}"/>
              </a:ext>
            </a:extLst>
          </p:cNvPr>
          <p:cNvSpPr>
            <a:spLocks xmlns:a="http://schemas.openxmlformats.org/drawingml/2006/main" noGrp="1"/>
          </p:cNvSpPr>
          <p:nvPr/>
        </p:nvSpPr>
        <p:spPr>
          <a:xfrm xmlns:a="http://schemas.openxmlformats.org/drawingml/2006/main">
            <a:off x="1809750" y="3848100"/>
            <a:ext cx="4000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7FAFC"/>
                </a:solidFill>
                <a:latin typeface="PingFang SC"/>
                <a:ea typeface="PingFang SC"/>
                <a:cs typeface="PingFang SC"/>
              </a:defRPr>
            </a:pPr>
            <a:r>
              <a:rPr sz="1650" b="1">
                <a:solidFill>
                  <a:srgbClr val="F7FAFC"/>
                </a:solidFill>
                <a:latin typeface="PingFang SC"/>
                <a:ea typeface="PingFang SC"/>
                <a:cs typeface="PingFang SC"/>
              </a:rPr>
              <a:t>让 AI 从理解指令走向真实物理动作，并具备持续学习能力。</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871c82030e94458"/>
          <a:srcRect xmlns:a="http://schemas.openxmlformats.org/drawingml/2006/main" l="90" t="0" r="90" b="0"/>
          <a:stretch xmlns:a="http://schemas.openxmlformats.org/drawingml/2006/main">
            <a:fillRect l="0" t="0" r="0" b="0"/>
          </a:stretch>
        </p:blipFill>
        <p:spPr>
          <a:xfrm xmlns:a="http://schemas.openxmlformats.org/drawingml/2006/main">
            <a:off x="7677150" y="781050"/>
            <a:ext cx="3524250" cy="264795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fdf9e3203404458"/>
          <a:srcRect xmlns:a="http://schemas.openxmlformats.org/drawingml/2006/main" l="0" t="0" r="0" b="0"/>
          <a:stretch xmlns:a="http://schemas.openxmlformats.org/drawingml/2006/main">
            <a:fillRect l="0" t="0" r="0" b="0"/>
          </a:stretch>
        </p:blipFill>
        <p:spPr>
          <a:xfrm xmlns:a="http://schemas.openxmlformats.org/drawingml/2006/main">
            <a:off x="7048500" y="3733800"/>
            <a:ext cx="2095500" cy="15716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e20fbd818f4c49"/>
          <a:srcRect xmlns:a="http://schemas.openxmlformats.org/drawingml/2006/main" l="5455" t="0" r="5455" b="0"/>
          <a:stretch xmlns:a="http://schemas.openxmlformats.org/drawingml/2006/main">
            <a:fillRect l="0" t="0" r="0" b="0"/>
          </a:stretch>
        </p:blipFill>
        <p:spPr>
          <a:xfrm xmlns:a="http://schemas.openxmlformats.org/drawingml/2006/main">
            <a:off x="9353550" y="3733800"/>
            <a:ext cx="1866900" cy="1571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360DFDA-3E3C-4FE6-9562-FBB15F15994F}"/>
              </a:ext>
            </a:extLst>
          </p:cNvPr>
          <p:cNvSpPr>
            <a:spLocks xmlns:a="http://schemas.openxmlformats.org/drawingml/2006/main" noGrp="1"/>
          </p:cNvSpPr>
          <p:nvPr/>
        </p:nvSpPr>
        <p:spPr>
          <a:xfrm xmlns:a="http://schemas.openxmlformats.org/drawingml/2006/main">
            <a:off x="7600950" y="704850"/>
            <a:ext cx="3676650" cy="2800350"/>
          </a:xfrm>
          <a:prstGeom xmlns:a="http://schemas.openxmlformats.org/drawingml/2006/main" prst="rect">
            <a:avLst/>
          </a:prstGeom>
          <a:solidFill xmlns:a="http://schemas.openxmlformats.org/drawingml/2006/main">
            <a:srgbClr val="000000">
              <a:alpha val="0"/>
            </a:srgbClr>
          </a:solidFill>
          <a:ln xmlns:a="http://schemas.openxmlformats.org/drawingml/2006/main" w="19050">
            <a:solidFill>
              <a:srgbClr val="22D3EE"/>
            </a:solidFill>
            <a:prstDash val="solid"/>
          </a:ln>
        </p:spPr>
      </p:sp>
      <p:sp>
        <p:nvSpPr>
          <p:cNvPr id="14" name="">
            <a:extLst xmlns:a="http://schemas.openxmlformats.org/drawingml/2006/main">
              <a:ext uri="{FF2B5EF4-FFF2-40B4-BE49-F238E27FC236}">
                <a16:creationId xmlns:a16="http://schemas.microsoft.com/office/drawing/2014/main" id="{D1570B34-F3BF-4F95-8524-3EC5D8A78317}"/>
              </a:ext>
            </a:extLst>
          </p:cNvPr>
          <p:cNvSpPr>
            <a:spLocks xmlns:a="http://schemas.openxmlformats.org/drawingml/2006/main" noGrp="1"/>
          </p:cNvSpPr>
          <p:nvPr/>
        </p:nvSpPr>
        <p:spPr>
          <a:xfrm xmlns:a="http://schemas.openxmlformats.org/drawingml/2006/main">
            <a:off x="666750" y="5334000"/>
            <a:ext cx="1619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D3EE"/>
                </a:solidFill>
                <a:latin typeface="Georgia"/>
                <a:ea typeface="Georgia"/>
                <a:cs typeface="Georgia"/>
              </a:defRPr>
            </a:pPr>
            <a:r>
              <a:rPr sz="2700" b="1">
                <a:solidFill>
                  <a:srgbClr val="22D3EE"/>
                </a:solidFill>
                <a:latin typeface="Georgia"/>
                <a:ea typeface="Georgia"/>
                <a:cs typeface="Georgia"/>
              </a:rPr>
              <a:t>AI</a:t>
            </a:r>
          </a:p>
        </p:txBody>
      </p:sp>
      <p:sp>
        <p:nvSpPr>
          <p:cNvPr id="15" name="">
            <a:extLst xmlns:a="http://schemas.openxmlformats.org/drawingml/2006/main">
              <a:ext uri="{FF2B5EF4-FFF2-40B4-BE49-F238E27FC236}">
                <a16:creationId xmlns:a16="http://schemas.microsoft.com/office/drawing/2014/main" id="{E7EDC75A-2351-4A59-A7F1-EA8779D02F43}"/>
              </a:ext>
            </a:extLst>
          </p:cNvPr>
          <p:cNvSpPr>
            <a:spLocks xmlns:a="http://schemas.openxmlformats.org/drawingml/2006/main" noGrp="1"/>
          </p:cNvSpPr>
          <p:nvPr/>
        </p:nvSpPr>
        <p:spPr>
          <a:xfrm xmlns:a="http://schemas.openxmlformats.org/drawingml/2006/main">
            <a:off x="666750" y="58102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真实落地</a:t>
            </a:r>
          </a:p>
        </p:txBody>
      </p:sp>
      <p:sp>
        <p:nvSpPr>
          <p:cNvPr id="16" name="">
            <a:extLst xmlns:a="http://schemas.openxmlformats.org/drawingml/2006/main">
              <a:ext uri="{FF2B5EF4-FFF2-40B4-BE49-F238E27FC236}">
                <a16:creationId xmlns:a16="http://schemas.microsoft.com/office/drawing/2014/main" id="{B020852B-CF39-49FF-B5CD-995BE34712CE}"/>
              </a:ext>
            </a:extLst>
          </p:cNvPr>
          <p:cNvSpPr>
            <a:spLocks xmlns:a="http://schemas.openxmlformats.org/drawingml/2006/main" noGrp="1"/>
          </p:cNvSpPr>
          <p:nvPr/>
        </p:nvSpPr>
        <p:spPr>
          <a:xfrm xmlns:a="http://schemas.openxmlformats.org/drawingml/2006/main">
            <a:off x="666750" y="6038850"/>
            <a:ext cx="1619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从语言理解到实体动作</a:t>
            </a:r>
          </a:p>
        </p:txBody>
      </p:sp>
      <p:sp>
        <p:nvSpPr>
          <p:cNvPr id="17" name="">
            <a:extLst xmlns:a="http://schemas.openxmlformats.org/drawingml/2006/main">
              <a:ext uri="{FF2B5EF4-FFF2-40B4-BE49-F238E27FC236}">
                <a16:creationId xmlns:a16="http://schemas.microsoft.com/office/drawing/2014/main" id="{786165E1-7038-4855-B4B8-0DE4F3400A34}"/>
              </a:ext>
            </a:extLst>
          </p:cNvPr>
          <p:cNvSpPr>
            <a:spLocks xmlns:a="http://schemas.openxmlformats.org/drawingml/2006/main" noGrp="1"/>
          </p:cNvSpPr>
          <p:nvPr/>
        </p:nvSpPr>
        <p:spPr>
          <a:xfrm xmlns:a="http://schemas.openxmlformats.org/drawingml/2006/main">
            <a:off x="2667000" y="5334000"/>
            <a:ext cx="17621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C55E"/>
                </a:solidFill>
                <a:latin typeface="Georgia"/>
                <a:ea typeface="Georgia"/>
                <a:cs typeface="Georgia"/>
              </a:defRPr>
            </a:pPr>
            <a:r>
              <a:rPr sz="2700" b="1">
                <a:solidFill>
                  <a:srgbClr val="22C55E"/>
                </a:solidFill>
                <a:latin typeface="Georgia"/>
                <a:ea typeface="Georgia"/>
                <a:cs typeface="Georgia"/>
              </a:rPr>
              <a:t>Robot</a:t>
            </a:r>
          </a:p>
        </p:txBody>
      </p:sp>
      <p:sp>
        <p:nvSpPr>
          <p:cNvPr id="18" name="">
            <a:extLst xmlns:a="http://schemas.openxmlformats.org/drawingml/2006/main">
              <a:ext uri="{FF2B5EF4-FFF2-40B4-BE49-F238E27FC236}">
                <a16:creationId xmlns:a16="http://schemas.microsoft.com/office/drawing/2014/main" id="{E986CB8D-C567-43FE-8FED-EDE374B79C55}"/>
              </a:ext>
            </a:extLst>
          </p:cNvPr>
          <p:cNvSpPr>
            <a:spLocks xmlns:a="http://schemas.openxmlformats.org/drawingml/2006/main" noGrp="1"/>
          </p:cNvSpPr>
          <p:nvPr/>
        </p:nvSpPr>
        <p:spPr>
          <a:xfrm xmlns:a="http://schemas.openxmlformats.org/drawingml/2006/main">
            <a:off x="2667000" y="5810250"/>
            <a:ext cx="17621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低成本原型</a:t>
            </a:r>
          </a:p>
        </p:txBody>
      </p:sp>
      <p:sp>
        <p:nvSpPr>
          <p:cNvPr id="19" name="">
            <a:extLst xmlns:a="http://schemas.openxmlformats.org/drawingml/2006/main">
              <a:ext uri="{FF2B5EF4-FFF2-40B4-BE49-F238E27FC236}">
                <a16:creationId xmlns:a16="http://schemas.microsoft.com/office/drawing/2014/main" id="{B3A415A3-BF90-418E-BD3C-9E1A695ABE69}"/>
              </a:ext>
            </a:extLst>
          </p:cNvPr>
          <p:cNvSpPr>
            <a:spLocks xmlns:a="http://schemas.openxmlformats.org/drawingml/2006/main" noGrp="1"/>
          </p:cNvSpPr>
          <p:nvPr/>
        </p:nvSpPr>
        <p:spPr>
          <a:xfrm xmlns:a="http://schemas.openxmlformats.org/drawingml/2006/main">
            <a:off x="2667000" y="6038850"/>
            <a:ext cx="17621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可验证、可复现、可扩展</a:t>
            </a:r>
          </a:p>
        </p:txBody>
      </p:sp>
      <p:sp>
        <p:nvSpPr>
          <p:cNvPr id="20" name="">
            <a:extLst xmlns:a="http://schemas.openxmlformats.org/drawingml/2006/main">
              <a:ext uri="{FF2B5EF4-FFF2-40B4-BE49-F238E27FC236}">
                <a16:creationId xmlns:a16="http://schemas.microsoft.com/office/drawing/2014/main" id="{EF80B1DC-7EAF-475B-86D1-EE718440F498}"/>
              </a:ext>
            </a:extLst>
          </p:cNvPr>
          <p:cNvSpPr>
            <a:spLocks xmlns:a="http://schemas.openxmlformats.org/drawingml/2006/main" noGrp="1"/>
          </p:cNvSpPr>
          <p:nvPr/>
        </p:nvSpPr>
        <p:spPr>
          <a:xfrm xmlns:a="http://schemas.openxmlformats.org/drawingml/2006/main">
            <a:off x="4953000" y="53340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59E0B"/>
                </a:solidFill>
                <a:latin typeface="Georgia"/>
                <a:ea typeface="Georgia"/>
                <a:cs typeface="Georgia"/>
              </a:defRPr>
            </a:pPr>
            <a:r>
              <a:rPr sz="2700" b="1">
                <a:solidFill>
                  <a:srgbClr val="F59E0B"/>
                </a:solidFill>
                <a:latin typeface="Georgia"/>
                <a:ea typeface="Georgia"/>
                <a:cs typeface="Georgia"/>
              </a:rPr>
              <a:t>Loop</a:t>
            </a:r>
          </a:p>
        </p:txBody>
      </p:sp>
      <p:sp>
        <p:nvSpPr>
          <p:cNvPr id="21" name="">
            <a:extLst xmlns:a="http://schemas.openxmlformats.org/drawingml/2006/main">
              <a:ext uri="{FF2B5EF4-FFF2-40B4-BE49-F238E27FC236}">
                <a16:creationId xmlns:a16="http://schemas.microsoft.com/office/drawing/2014/main" id="{1E7754BB-C836-43B6-B496-5D4503B3686A}"/>
              </a:ext>
            </a:extLst>
          </p:cNvPr>
          <p:cNvSpPr>
            <a:spLocks xmlns:a="http://schemas.openxmlformats.org/drawingml/2006/main" noGrp="1"/>
          </p:cNvSpPr>
          <p:nvPr/>
        </p:nvSpPr>
        <p:spPr>
          <a:xfrm xmlns:a="http://schemas.openxmlformats.org/drawingml/2006/main">
            <a:off x="4953000" y="58102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训练闭环</a:t>
            </a:r>
          </a:p>
        </p:txBody>
      </p:sp>
      <p:sp>
        <p:nvSpPr>
          <p:cNvPr id="22" name="">
            <a:extLst xmlns:a="http://schemas.openxmlformats.org/drawingml/2006/main">
              <a:ext uri="{FF2B5EF4-FFF2-40B4-BE49-F238E27FC236}">
                <a16:creationId xmlns:a16="http://schemas.microsoft.com/office/drawing/2014/main" id="{9D53BA2B-57FB-4755-A06A-E640EC426001}"/>
              </a:ext>
            </a:extLst>
          </p:cNvPr>
          <p:cNvSpPr>
            <a:spLocks xmlns:a="http://schemas.openxmlformats.org/drawingml/2006/main" noGrp="1"/>
          </p:cNvSpPr>
          <p:nvPr/>
        </p:nvSpPr>
        <p:spPr>
          <a:xfrm xmlns:a="http://schemas.openxmlformats.org/drawingml/2006/main">
            <a:off x="4953000" y="60388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示教数据驱动策略迭代</a:t>
            </a:r>
          </a:p>
        </p:txBody>
      </p:sp>
      <p:sp>
        <p:nvSpPr>
          <p:cNvPr id="23" name="">
            <a:extLst xmlns:a="http://schemas.openxmlformats.org/drawingml/2006/main">
              <a:ext uri="{FF2B5EF4-FFF2-40B4-BE49-F238E27FC236}">
                <a16:creationId xmlns:a16="http://schemas.microsoft.com/office/drawing/2014/main" id="{9E810497-C60E-4B72-9A0D-FC24B9751678}"/>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4CE1FEF-964C-4C2B-A9B5-247B4CA1F8EB}"/>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25" name="">
            <a:extLst xmlns:a="http://schemas.openxmlformats.org/drawingml/2006/main">
              <a:ext uri="{FF2B5EF4-FFF2-40B4-BE49-F238E27FC236}">
                <a16:creationId xmlns:a16="http://schemas.microsoft.com/office/drawing/2014/main" id="{22275EED-16F0-4CE5-B582-01EBD7CEF8AD}"/>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01</a:t>
            </a:r>
          </a:p>
        </p:txBody>
      </p:sp>
    </p:spTree>
    <p:extLst>
      <p:ext uri="{BB962C8B-B14F-4D97-AF65-F5344CB8AC3E}">
        <p14:creationId xmlns:p14="http://schemas.microsoft.com/office/powerpoint/2010/main" val="201847278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E36D82-81A0-4F1F-8DE6-524923D032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CE432D1-E27D-4D5C-8419-77BF3BAAFE4F}"/>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EB20E0-3AC9-42B5-9E9D-09F9E992D81B}"/>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02</a:t>
            </a:r>
          </a:p>
        </p:txBody>
      </p:sp>
      <p:sp>
        <p:nvSpPr>
          <p:cNvPr id="4" name="">
            <a:extLst xmlns:a="http://schemas.openxmlformats.org/drawingml/2006/main">
              <a:ext uri="{FF2B5EF4-FFF2-40B4-BE49-F238E27FC236}">
                <a16:creationId xmlns:a16="http://schemas.microsoft.com/office/drawing/2014/main" id="{11B78F0A-7A6D-4C0C-BEEA-291A9198B15F}"/>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REAL-WORLD NEED</a:t>
            </a:r>
          </a:p>
        </p:txBody>
      </p:sp>
      <p:sp>
        <p:nvSpPr>
          <p:cNvPr id="5" name="">
            <a:extLst xmlns:a="http://schemas.openxmlformats.org/drawingml/2006/main">
              <a:ext uri="{FF2B5EF4-FFF2-40B4-BE49-F238E27FC236}">
                <a16:creationId xmlns:a16="http://schemas.microsoft.com/office/drawing/2014/main" id="{FE015AC8-88F8-486A-83C9-447D06BE0B5C}"/>
              </a:ext>
            </a:extLst>
          </p:cNvPr>
          <p:cNvSpPr>
            <a:spLocks xmlns:a="http://schemas.openxmlformats.org/drawingml/2006/main" noGrp="1"/>
          </p:cNvSpPr>
          <p:nvPr/>
        </p:nvSpPr>
        <p:spPr>
          <a:xfrm xmlns:a="http://schemas.openxmlformats.org/drawingml/2006/main">
            <a:off x="552450" y="781050"/>
            <a:ext cx="9334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F172A"/>
                </a:solidFill>
                <a:latin typeface="PingFang SC"/>
                <a:ea typeface="PingFang SC"/>
                <a:cs typeface="PingFang SC"/>
              </a:defRPr>
            </a:pPr>
            <a:r>
              <a:rPr sz="2400" b="1">
                <a:solidFill>
                  <a:srgbClr val="0F172A"/>
                </a:solidFill>
                <a:latin typeface="PingFang SC"/>
                <a:ea typeface="PingFang SC"/>
                <a:cs typeface="PingFang SC"/>
              </a:rPr>
              <a:t>危险、恶劣、重复的作业环节，需要机器人先进入现场</a:t>
            </a:r>
          </a:p>
        </p:txBody>
      </p:sp>
      <p:sp>
        <p:nvSpPr>
          <p:cNvPr id="6" name="">
            <a:extLst xmlns:a="http://schemas.openxmlformats.org/drawingml/2006/main">
              <a:ext uri="{FF2B5EF4-FFF2-40B4-BE49-F238E27FC236}">
                <a16:creationId xmlns:a16="http://schemas.microsoft.com/office/drawing/2014/main" id="{656DEEEB-CBA3-4226-B890-4274BE297C4A}"/>
              </a:ext>
            </a:extLst>
          </p:cNvPr>
          <p:cNvSpPr>
            <a:spLocks xmlns:a="http://schemas.openxmlformats.org/drawingml/2006/main" noGrp="1"/>
          </p:cNvSpPr>
          <p:nvPr/>
        </p:nvSpPr>
        <p:spPr>
          <a:xfrm xmlns:a="http://schemas.openxmlformats.org/drawingml/2006/main">
            <a:off x="590550" y="144780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475569"/>
                </a:solidFill>
                <a:latin typeface="PingFang SC"/>
                <a:ea typeface="PingFang SC"/>
                <a:cs typeface="PingFang SC"/>
              </a:defRPr>
            </a:pPr>
            <a:r>
              <a:rPr sz="1125" b="0">
                <a:solidFill>
                  <a:srgbClr val="475569"/>
                </a:solidFill>
                <a:latin typeface="PingFang SC"/>
                <a:ea typeface="PingFang SC"/>
                <a:cs typeface="PingFang SC"/>
              </a:rPr>
              <a:t>高温、高危、腐蚀和重复搬运场景，对机器人的需求来自真实生产与服务现场。</a:t>
            </a:r>
          </a:p>
        </p:txBody>
      </p:sp>
      <p:sp>
        <p:nvSpPr>
          <p:cNvPr id="7" name="">
            <a:extLst xmlns:a="http://schemas.openxmlformats.org/drawingml/2006/main">
              <a:ext uri="{FF2B5EF4-FFF2-40B4-BE49-F238E27FC236}">
                <a16:creationId xmlns:a16="http://schemas.microsoft.com/office/drawing/2014/main" id="{0E9D0E0B-6C88-4072-BE46-A2359CCBFAA4}"/>
              </a:ext>
            </a:extLst>
          </p:cNvPr>
          <p:cNvSpPr>
            <a:spLocks xmlns:a="http://schemas.openxmlformats.org/drawingml/2006/main" noGrp="1"/>
          </p:cNvSpPr>
          <p:nvPr/>
        </p:nvSpPr>
        <p:spPr>
          <a:xfrm xmlns:a="http://schemas.openxmlformats.org/drawingml/2006/main">
            <a:off x="762000" y="2286000"/>
            <a:ext cx="23812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F97316"/>
            </a:solidFill>
            <a:prstDash val="solid"/>
          </a:ln>
        </p:spPr>
      </p:sp>
      <p:sp>
        <p:nvSpPr>
          <p:cNvPr id="8" name="">
            <a:extLst xmlns:a="http://schemas.openxmlformats.org/drawingml/2006/main">
              <a:ext uri="{FF2B5EF4-FFF2-40B4-BE49-F238E27FC236}">
                <a16:creationId xmlns:a16="http://schemas.microsoft.com/office/drawing/2014/main" id="{89E1699C-2DD4-4FB4-B667-2850CAC68261}"/>
              </a:ext>
            </a:extLst>
          </p:cNvPr>
          <p:cNvSpPr>
            <a:spLocks xmlns:a="http://schemas.openxmlformats.org/drawingml/2006/main" noGrp="1"/>
          </p:cNvSpPr>
          <p:nvPr/>
        </p:nvSpPr>
        <p:spPr>
          <a:xfrm xmlns:a="http://schemas.openxmlformats.org/drawingml/2006/main">
            <a:off x="762000" y="2286000"/>
            <a:ext cx="2381250" cy="76200"/>
          </a:xfrm>
          <a:prstGeom xmlns:a="http://schemas.openxmlformats.org/drawingml/2006/main" prst="rect">
            <a:avLst/>
          </a:prstGeom>
          <a:solidFill xmlns:a="http://schemas.openxmlformats.org/drawingml/2006/main">
            <a:srgbClr val="F9731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83A0B5F-FBB7-43E1-96BE-2CE892F4732D}"/>
              </a:ext>
            </a:extLst>
          </p:cNvPr>
          <p:cNvSpPr>
            <a:spLocks xmlns:a="http://schemas.openxmlformats.org/drawingml/2006/main" noGrp="1"/>
          </p:cNvSpPr>
          <p:nvPr/>
        </p:nvSpPr>
        <p:spPr>
          <a:xfrm xmlns:a="http://schemas.openxmlformats.org/drawingml/2006/main">
            <a:off x="990600" y="2571750"/>
            <a:ext cx="4953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97316"/>
                </a:solidFill>
                <a:latin typeface="PingFang SC"/>
                <a:ea typeface="PingFang SC"/>
                <a:cs typeface="PingFang SC"/>
              </a:defRPr>
            </a:pPr>
            <a:r>
              <a:rPr sz="2550" b="1">
                <a:solidFill>
                  <a:srgbClr val="F97316"/>
                </a:solidFill>
                <a:latin typeface="PingFang SC"/>
                <a:ea typeface="PingFang SC"/>
                <a:cs typeface="PingFang SC"/>
              </a:rPr>
              <a:t>热</a:t>
            </a:r>
          </a:p>
        </p:txBody>
      </p:sp>
      <p:sp>
        <p:nvSpPr>
          <p:cNvPr id="10" name="">
            <a:extLst xmlns:a="http://schemas.openxmlformats.org/drawingml/2006/main">
              <a:ext uri="{FF2B5EF4-FFF2-40B4-BE49-F238E27FC236}">
                <a16:creationId xmlns:a16="http://schemas.microsoft.com/office/drawing/2014/main" id="{0150BB7E-D393-4D66-889B-8E4D4CC78F92}"/>
              </a:ext>
            </a:extLst>
          </p:cNvPr>
          <p:cNvSpPr>
            <a:spLocks xmlns:a="http://schemas.openxmlformats.org/drawingml/2006/main" noGrp="1"/>
          </p:cNvSpPr>
          <p:nvPr/>
        </p:nvSpPr>
        <p:spPr>
          <a:xfrm xmlns:a="http://schemas.openxmlformats.org/drawingml/2006/main">
            <a:off x="1619250" y="260985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PingFang SC"/>
                <a:ea typeface="PingFang SC"/>
                <a:cs typeface="PingFang SC"/>
              </a:defRPr>
            </a:pPr>
            <a:r>
              <a:rPr sz="1575" b="1">
                <a:solidFill>
                  <a:srgbClr val="0F172A"/>
                </a:solidFill>
                <a:latin typeface="PingFang SC"/>
                <a:ea typeface="PingFang SC"/>
                <a:cs typeface="PingFang SC"/>
              </a:rPr>
              <a:t>高温物体</a:t>
            </a:r>
          </a:p>
        </p:txBody>
      </p:sp>
      <p:sp>
        <p:nvSpPr>
          <p:cNvPr id="11" name="">
            <a:extLst xmlns:a="http://schemas.openxmlformats.org/drawingml/2006/main">
              <a:ext uri="{FF2B5EF4-FFF2-40B4-BE49-F238E27FC236}">
                <a16:creationId xmlns:a16="http://schemas.microsoft.com/office/drawing/2014/main" id="{5022A416-3197-4D2E-A827-C77F0626C20F}"/>
              </a:ext>
            </a:extLst>
          </p:cNvPr>
          <p:cNvSpPr>
            <a:spLocks xmlns:a="http://schemas.openxmlformats.org/drawingml/2006/main" noGrp="1"/>
          </p:cNvSpPr>
          <p:nvPr/>
        </p:nvSpPr>
        <p:spPr>
          <a:xfrm xmlns:a="http://schemas.openxmlformats.org/drawingml/2006/main">
            <a:off x="1028700" y="3162300"/>
            <a:ext cx="18478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热加工工件、实验容器、灼热物体的转移。</a:t>
            </a:r>
          </a:p>
        </p:txBody>
      </p:sp>
      <p:sp>
        <p:nvSpPr>
          <p:cNvPr id="12" name="">
            <a:extLst xmlns:a="http://schemas.openxmlformats.org/drawingml/2006/main">
              <a:ext uri="{FF2B5EF4-FFF2-40B4-BE49-F238E27FC236}">
                <a16:creationId xmlns:a16="http://schemas.microsoft.com/office/drawing/2014/main" id="{975DD6BA-47F2-47B9-8D93-74BD5B37C676}"/>
              </a:ext>
            </a:extLst>
          </p:cNvPr>
          <p:cNvSpPr>
            <a:spLocks xmlns:a="http://schemas.openxmlformats.org/drawingml/2006/main" noGrp="1"/>
          </p:cNvSpPr>
          <p:nvPr/>
        </p:nvSpPr>
        <p:spPr>
          <a:xfrm xmlns:a="http://schemas.openxmlformats.org/drawingml/2006/main">
            <a:off x="3562350" y="2286000"/>
            <a:ext cx="23812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sp>
      <p:sp>
        <p:nvSpPr>
          <p:cNvPr id="13" name="">
            <a:extLst xmlns:a="http://schemas.openxmlformats.org/drawingml/2006/main">
              <a:ext uri="{FF2B5EF4-FFF2-40B4-BE49-F238E27FC236}">
                <a16:creationId xmlns:a16="http://schemas.microsoft.com/office/drawing/2014/main" id="{0B116018-53A2-4FF4-B84F-71C535A4929A}"/>
              </a:ext>
            </a:extLst>
          </p:cNvPr>
          <p:cNvSpPr>
            <a:spLocks xmlns:a="http://schemas.openxmlformats.org/drawingml/2006/main" noGrp="1"/>
          </p:cNvSpPr>
          <p:nvPr/>
        </p:nvSpPr>
        <p:spPr>
          <a:xfrm xmlns:a="http://schemas.openxmlformats.org/drawingml/2006/main">
            <a:off x="3562350" y="2286000"/>
            <a:ext cx="2381250" cy="76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03ACAEF-2D1B-4555-91D9-675EA36C0BEA}"/>
              </a:ext>
            </a:extLst>
          </p:cNvPr>
          <p:cNvSpPr>
            <a:spLocks xmlns:a="http://schemas.openxmlformats.org/drawingml/2006/main" noGrp="1"/>
          </p:cNvSpPr>
          <p:nvPr/>
        </p:nvSpPr>
        <p:spPr>
          <a:xfrm xmlns:a="http://schemas.openxmlformats.org/drawingml/2006/main">
            <a:off x="3790950" y="2571750"/>
            <a:ext cx="4953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59E0B"/>
                </a:solidFill>
                <a:latin typeface="PingFang SC"/>
                <a:ea typeface="PingFang SC"/>
                <a:cs typeface="PingFang SC"/>
              </a:defRPr>
            </a:pPr>
            <a:r>
              <a:rPr sz="2550" b="1">
                <a:solidFill>
                  <a:srgbClr val="F59E0B"/>
                </a:solidFill>
                <a:latin typeface="PingFang SC"/>
                <a:ea typeface="PingFang SC"/>
                <a:cs typeface="PingFang SC"/>
              </a:rPr>
              <a:t>危</a:t>
            </a:r>
          </a:p>
        </p:txBody>
      </p:sp>
      <p:sp>
        <p:nvSpPr>
          <p:cNvPr id="15" name="">
            <a:extLst xmlns:a="http://schemas.openxmlformats.org/drawingml/2006/main">
              <a:ext uri="{FF2B5EF4-FFF2-40B4-BE49-F238E27FC236}">
                <a16:creationId xmlns:a16="http://schemas.microsoft.com/office/drawing/2014/main" id="{07E97B49-D950-4FBE-93EA-83DCB18C58A5}"/>
              </a:ext>
            </a:extLst>
          </p:cNvPr>
          <p:cNvSpPr>
            <a:spLocks xmlns:a="http://schemas.openxmlformats.org/drawingml/2006/main" noGrp="1"/>
          </p:cNvSpPr>
          <p:nvPr/>
        </p:nvSpPr>
        <p:spPr>
          <a:xfrm xmlns:a="http://schemas.openxmlformats.org/drawingml/2006/main">
            <a:off x="4419600" y="260985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PingFang SC"/>
                <a:ea typeface="PingFang SC"/>
                <a:cs typeface="PingFang SC"/>
              </a:defRPr>
            </a:pPr>
            <a:r>
              <a:rPr sz="1575" b="1">
                <a:solidFill>
                  <a:srgbClr val="0F172A"/>
                </a:solidFill>
                <a:latin typeface="PingFang SC"/>
                <a:ea typeface="PingFang SC"/>
                <a:cs typeface="PingFang SC"/>
              </a:rPr>
              <a:t>高危物体</a:t>
            </a:r>
          </a:p>
        </p:txBody>
      </p:sp>
      <p:sp>
        <p:nvSpPr>
          <p:cNvPr id="16" name="">
            <a:extLst xmlns:a="http://schemas.openxmlformats.org/drawingml/2006/main">
              <a:ext uri="{FF2B5EF4-FFF2-40B4-BE49-F238E27FC236}">
                <a16:creationId xmlns:a16="http://schemas.microsoft.com/office/drawing/2014/main" id="{7B78DE83-7B8C-47F8-AB2E-69A01A490A39}"/>
              </a:ext>
            </a:extLst>
          </p:cNvPr>
          <p:cNvSpPr>
            <a:spLocks xmlns:a="http://schemas.openxmlformats.org/drawingml/2006/main" noGrp="1"/>
          </p:cNvSpPr>
          <p:nvPr/>
        </p:nvSpPr>
        <p:spPr>
          <a:xfrm xmlns:a="http://schemas.openxmlformats.org/drawingml/2006/main">
            <a:off x="3829050" y="3162300"/>
            <a:ext cx="18478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危险样品、尖锐物、未知环境中的物体搬运。</a:t>
            </a:r>
          </a:p>
        </p:txBody>
      </p:sp>
      <p:sp>
        <p:nvSpPr>
          <p:cNvPr id="17" name="">
            <a:extLst xmlns:a="http://schemas.openxmlformats.org/drawingml/2006/main">
              <a:ext uri="{FF2B5EF4-FFF2-40B4-BE49-F238E27FC236}">
                <a16:creationId xmlns:a16="http://schemas.microsoft.com/office/drawing/2014/main" id="{013F4871-3151-4952-A29B-B17E1AF8152E}"/>
              </a:ext>
            </a:extLst>
          </p:cNvPr>
          <p:cNvSpPr>
            <a:spLocks xmlns:a="http://schemas.openxmlformats.org/drawingml/2006/main" noGrp="1"/>
          </p:cNvSpPr>
          <p:nvPr/>
        </p:nvSpPr>
        <p:spPr>
          <a:xfrm xmlns:a="http://schemas.openxmlformats.org/drawingml/2006/main">
            <a:off x="6362700" y="2286000"/>
            <a:ext cx="23812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22C55E"/>
            </a:solidFill>
            <a:prstDash val="solid"/>
          </a:ln>
        </p:spPr>
      </p:sp>
      <p:sp>
        <p:nvSpPr>
          <p:cNvPr id="18" name="">
            <a:extLst xmlns:a="http://schemas.openxmlformats.org/drawingml/2006/main">
              <a:ext uri="{FF2B5EF4-FFF2-40B4-BE49-F238E27FC236}">
                <a16:creationId xmlns:a16="http://schemas.microsoft.com/office/drawing/2014/main" id="{8B9D21AC-A3EC-499E-8E7E-2AB38EBD611E}"/>
              </a:ext>
            </a:extLst>
          </p:cNvPr>
          <p:cNvSpPr>
            <a:spLocks xmlns:a="http://schemas.openxmlformats.org/drawingml/2006/main" noGrp="1"/>
          </p:cNvSpPr>
          <p:nvPr/>
        </p:nvSpPr>
        <p:spPr>
          <a:xfrm xmlns:a="http://schemas.openxmlformats.org/drawingml/2006/main">
            <a:off x="6362700" y="2286000"/>
            <a:ext cx="238125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6448629-4353-47BE-9E1D-C057E3534B64}"/>
              </a:ext>
            </a:extLst>
          </p:cNvPr>
          <p:cNvSpPr>
            <a:spLocks xmlns:a="http://schemas.openxmlformats.org/drawingml/2006/main" noGrp="1"/>
          </p:cNvSpPr>
          <p:nvPr/>
        </p:nvSpPr>
        <p:spPr>
          <a:xfrm xmlns:a="http://schemas.openxmlformats.org/drawingml/2006/main">
            <a:off x="6591300" y="2571750"/>
            <a:ext cx="4953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22C55E"/>
                </a:solidFill>
                <a:latin typeface="PingFang SC"/>
                <a:ea typeface="PingFang SC"/>
                <a:cs typeface="PingFang SC"/>
              </a:defRPr>
            </a:pPr>
            <a:r>
              <a:rPr sz="2550" b="1">
                <a:solidFill>
                  <a:srgbClr val="22C55E"/>
                </a:solidFill>
                <a:latin typeface="PingFang SC"/>
                <a:ea typeface="PingFang SC"/>
                <a:cs typeface="PingFang SC"/>
              </a:rPr>
              <a:t>蚀</a:t>
            </a:r>
          </a:p>
        </p:txBody>
      </p:sp>
      <p:sp>
        <p:nvSpPr>
          <p:cNvPr id="20" name="">
            <a:extLst xmlns:a="http://schemas.openxmlformats.org/drawingml/2006/main">
              <a:ext uri="{FF2B5EF4-FFF2-40B4-BE49-F238E27FC236}">
                <a16:creationId xmlns:a16="http://schemas.microsoft.com/office/drawing/2014/main" id="{01BD701E-172C-4E7C-9EAD-F5A9C90CA6B9}"/>
              </a:ext>
            </a:extLst>
          </p:cNvPr>
          <p:cNvSpPr>
            <a:spLocks xmlns:a="http://schemas.openxmlformats.org/drawingml/2006/main" noGrp="1"/>
          </p:cNvSpPr>
          <p:nvPr/>
        </p:nvSpPr>
        <p:spPr>
          <a:xfrm xmlns:a="http://schemas.openxmlformats.org/drawingml/2006/main">
            <a:off x="7219950" y="260985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PingFang SC"/>
                <a:ea typeface="PingFang SC"/>
                <a:cs typeface="PingFang SC"/>
              </a:defRPr>
            </a:pPr>
            <a:r>
              <a:rPr sz="1575" b="1">
                <a:solidFill>
                  <a:srgbClr val="0F172A"/>
                </a:solidFill>
                <a:latin typeface="PingFang SC"/>
                <a:ea typeface="PingFang SC"/>
                <a:cs typeface="PingFang SC"/>
              </a:rPr>
              <a:t>易腐蚀物</a:t>
            </a:r>
          </a:p>
        </p:txBody>
      </p:sp>
      <p:sp>
        <p:nvSpPr>
          <p:cNvPr id="21" name="">
            <a:extLst xmlns:a="http://schemas.openxmlformats.org/drawingml/2006/main">
              <a:ext uri="{FF2B5EF4-FFF2-40B4-BE49-F238E27FC236}">
                <a16:creationId xmlns:a16="http://schemas.microsoft.com/office/drawing/2014/main" id="{E39B5161-AC55-4399-9DF9-2B9B7999EE9E}"/>
              </a:ext>
            </a:extLst>
          </p:cNvPr>
          <p:cNvSpPr>
            <a:spLocks xmlns:a="http://schemas.openxmlformats.org/drawingml/2006/main" noGrp="1"/>
          </p:cNvSpPr>
          <p:nvPr/>
        </p:nvSpPr>
        <p:spPr>
          <a:xfrm xmlns:a="http://schemas.openxmlformats.org/drawingml/2006/main">
            <a:off x="6629400" y="3162300"/>
            <a:ext cx="18478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化学实验、污染物、腐蚀性材料的远程操作。</a:t>
            </a:r>
          </a:p>
        </p:txBody>
      </p:sp>
      <p:sp>
        <p:nvSpPr>
          <p:cNvPr id="22" name="">
            <a:extLst xmlns:a="http://schemas.openxmlformats.org/drawingml/2006/main">
              <a:ext uri="{FF2B5EF4-FFF2-40B4-BE49-F238E27FC236}">
                <a16:creationId xmlns:a16="http://schemas.microsoft.com/office/drawing/2014/main" id="{F70007EB-237C-413F-BB34-B94A529AE044}"/>
              </a:ext>
            </a:extLst>
          </p:cNvPr>
          <p:cNvSpPr>
            <a:spLocks xmlns:a="http://schemas.openxmlformats.org/drawingml/2006/main" noGrp="1"/>
          </p:cNvSpPr>
          <p:nvPr/>
        </p:nvSpPr>
        <p:spPr>
          <a:xfrm xmlns:a="http://schemas.openxmlformats.org/drawingml/2006/main">
            <a:off x="9163050" y="2286000"/>
            <a:ext cx="23812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3B82F6"/>
            </a:solidFill>
            <a:prstDash val="solid"/>
          </a:ln>
        </p:spPr>
      </p:sp>
      <p:sp>
        <p:nvSpPr>
          <p:cNvPr id="23" name="">
            <a:extLst xmlns:a="http://schemas.openxmlformats.org/drawingml/2006/main">
              <a:ext uri="{FF2B5EF4-FFF2-40B4-BE49-F238E27FC236}">
                <a16:creationId xmlns:a16="http://schemas.microsoft.com/office/drawing/2014/main" id="{84F5F7C6-7462-4DBA-B7C8-CC6B21C85CDD}"/>
              </a:ext>
            </a:extLst>
          </p:cNvPr>
          <p:cNvSpPr>
            <a:spLocks xmlns:a="http://schemas.openxmlformats.org/drawingml/2006/main" noGrp="1"/>
          </p:cNvSpPr>
          <p:nvPr/>
        </p:nvSpPr>
        <p:spPr>
          <a:xfrm xmlns:a="http://schemas.openxmlformats.org/drawingml/2006/main">
            <a:off x="9163050" y="2286000"/>
            <a:ext cx="238125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6F4025B-9035-4507-804C-9B7384E65AD4}"/>
              </a:ext>
            </a:extLst>
          </p:cNvPr>
          <p:cNvSpPr>
            <a:spLocks xmlns:a="http://schemas.openxmlformats.org/drawingml/2006/main" noGrp="1"/>
          </p:cNvSpPr>
          <p:nvPr/>
        </p:nvSpPr>
        <p:spPr>
          <a:xfrm xmlns:a="http://schemas.openxmlformats.org/drawingml/2006/main">
            <a:off x="9391650" y="2571750"/>
            <a:ext cx="4953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3B82F6"/>
                </a:solidFill>
                <a:latin typeface="PingFang SC"/>
                <a:ea typeface="PingFang SC"/>
                <a:cs typeface="PingFang SC"/>
              </a:defRPr>
            </a:pPr>
            <a:r>
              <a:rPr sz="2550" b="1">
                <a:solidFill>
                  <a:srgbClr val="3B82F6"/>
                </a:solidFill>
                <a:latin typeface="PingFang SC"/>
                <a:ea typeface="PingFang SC"/>
                <a:cs typeface="PingFang SC"/>
              </a:rPr>
              <a:t>服</a:t>
            </a:r>
          </a:p>
        </p:txBody>
      </p:sp>
      <p:sp>
        <p:nvSpPr>
          <p:cNvPr id="25" name="">
            <a:extLst xmlns:a="http://schemas.openxmlformats.org/drawingml/2006/main">
              <a:ext uri="{FF2B5EF4-FFF2-40B4-BE49-F238E27FC236}">
                <a16:creationId xmlns:a16="http://schemas.microsoft.com/office/drawing/2014/main" id="{39CAD1CD-DAC9-4CDC-A456-3B39E24ABE3B}"/>
              </a:ext>
            </a:extLst>
          </p:cNvPr>
          <p:cNvSpPr>
            <a:spLocks xmlns:a="http://schemas.openxmlformats.org/drawingml/2006/main" noGrp="1"/>
          </p:cNvSpPr>
          <p:nvPr/>
        </p:nvSpPr>
        <p:spPr>
          <a:xfrm xmlns:a="http://schemas.openxmlformats.org/drawingml/2006/main">
            <a:off x="10020300" y="260985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PingFang SC"/>
                <a:ea typeface="PingFang SC"/>
                <a:cs typeface="PingFang SC"/>
              </a:defRPr>
            </a:pPr>
            <a:r>
              <a:rPr sz="1575" b="1">
                <a:solidFill>
                  <a:srgbClr val="0F172A"/>
                </a:solidFill>
                <a:latin typeface="PingFang SC"/>
                <a:ea typeface="PingFang SC"/>
                <a:cs typeface="PingFang SC"/>
              </a:rPr>
              <a:t>日常服务</a:t>
            </a:r>
          </a:p>
        </p:txBody>
      </p:sp>
      <p:sp>
        <p:nvSpPr>
          <p:cNvPr id="26" name="">
            <a:extLst xmlns:a="http://schemas.openxmlformats.org/drawingml/2006/main">
              <a:ext uri="{FF2B5EF4-FFF2-40B4-BE49-F238E27FC236}">
                <a16:creationId xmlns:a16="http://schemas.microsoft.com/office/drawing/2014/main" id="{F30F3EEB-1921-4B65-A83F-D797CDF83ABA}"/>
              </a:ext>
            </a:extLst>
          </p:cNvPr>
          <p:cNvSpPr>
            <a:spLocks xmlns:a="http://schemas.openxmlformats.org/drawingml/2006/main" noGrp="1"/>
          </p:cNvSpPr>
          <p:nvPr/>
        </p:nvSpPr>
        <p:spPr>
          <a:xfrm xmlns:a="http://schemas.openxmlformats.org/drawingml/2006/main">
            <a:off x="9429750" y="3162300"/>
            <a:ext cx="18478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仓储整理、物品递送、台面整理和辅助搬运。</a:t>
            </a:r>
          </a:p>
        </p:txBody>
      </p:sp>
      <p:sp>
        <p:nvSpPr>
          <p:cNvPr id="27" name="">
            <a:extLst xmlns:a="http://schemas.openxmlformats.org/drawingml/2006/main">
              <a:ext uri="{FF2B5EF4-FFF2-40B4-BE49-F238E27FC236}">
                <a16:creationId xmlns:a16="http://schemas.microsoft.com/office/drawing/2014/main" id="{E710E7C7-7E39-457D-91B0-0F16623DF26C}"/>
              </a:ext>
            </a:extLst>
          </p:cNvPr>
          <p:cNvSpPr>
            <a:spLocks xmlns:a="http://schemas.openxmlformats.org/drawingml/2006/main" noGrp="1"/>
          </p:cNvSpPr>
          <p:nvPr/>
        </p:nvSpPr>
        <p:spPr>
          <a:xfrm xmlns:a="http://schemas.openxmlformats.org/drawingml/2006/main">
            <a:off x="1066800" y="4762500"/>
            <a:ext cx="9906000" cy="8382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50306B3-FC33-4A69-8294-56C0FC663749}"/>
              </a:ext>
            </a:extLst>
          </p:cNvPr>
          <p:cNvSpPr>
            <a:spLocks xmlns:a="http://schemas.openxmlformats.org/drawingml/2006/main" noGrp="1"/>
          </p:cNvSpPr>
          <p:nvPr/>
        </p:nvSpPr>
        <p:spPr>
          <a:xfrm xmlns:a="http://schemas.openxmlformats.org/drawingml/2006/main">
            <a:off x="1390650" y="5010150"/>
            <a:ext cx="80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作品定位</a:t>
            </a:r>
          </a:p>
        </p:txBody>
      </p:sp>
      <p:sp>
        <p:nvSpPr>
          <p:cNvPr id="29" name="">
            <a:extLst xmlns:a="http://schemas.openxmlformats.org/drawingml/2006/main">
              <a:ext uri="{FF2B5EF4-FFF2-40B4-BE49-F238E27FC236}">
                <a16:creationId xmlns:a16="http://schemas.microsoft.com/office/drawing/2014/main" id="{A8F538EA-7023-4B31-9C67-B9576489EDA4}"/>
              </a:ext>
            </a:extLst>
          </p:cNvPr>
          <p:cNvSpPr>
            <a:spLocks xmlns:a="http://schemas.openxmlformats.org/drawingml/2006/main" noGrp="1"/>
          </p:cNvSpPr>
          <p:nvPr/>
        </p:nvSpPr>
        <p:spPr>
          <a:xfrm xmlns:a="http://schemas.openxmlformats.org/drawingml/2006/main">
            <a:off x="2400300" y="4876800"/>
            <a:ext cx="647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AFC"/>
                </a:solidFill>
                <a:latin typeface="PingFang SC"/>
                <a:ea typeface="PingFang SC"/>
                <a:cs typeface="PingFang SC"/>
              </a:defRPr>
            </a:pPr>
            <a:r>
              <a:rPr sz="1425" b="1">
                <a:solidFill>
                  <a:srgbClr val="F7FAFC"/>
                </a:solidFill>
                <a:latin typeface="PingFang SC"/>
                <a:ea typeface="PingFang SC"/>
                <a:cs typeface="PingFang SC"/>
              </a:rPr>
              <a:t>以低成本机器人原型验证“感知、决策、执行、学习”</a:t>
            </a:r>
          </a:p>
        </p:txBody>
      </p:sp>
      <p:sp>
        <p:nvSpPr>
          <p:cNvPr id="30" name="">
            <a:extLst xmlns:a="http://schemas.openxmlformats.org/drawingml/2006/main">
              <a:ext uri="{FF2B5EF4-FFF2-40B4-BE49-F238E27FC236}">
                <a16:creationId xmlns:a16="http://schemas.microsoft.com/office/drawing/2014/main" id="{F0453AF1-728B-47CD-A227-98175832E7A2}"/>
              </a:ext>
            </a:extLst>
          </p:cNvPr>
          <p:cNvSpPr>
            <a:spLocks xmlns:a="http://schemas.openxmlformats.org/drawingml/2006/main" noGrp="1"/>
          </p:cNvSpPr>
          <p:nvPr/>
        </p:nvSpPr>
        <p:spPr>
          <a:xfrm xmlns:a="http://schemas.openxmlformats.org/drawingml/2006/main">
            <a:off x="2400300" y="512445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AFC"/>
                </a:solidFill>
                <a:latin typeface="PingFang SC"/>
                <a:ea typeface="PingFang SC"/>
                <a:cs typeface="PingFang SC"/>
              </a:defRPr>
            </a:pPr>
            <a:r>
              <a:rPr sz="1425" b="1">
                <a:solidFill>
                  <a:srgbClr val="F7FAFC"/>
                </a:solidFill>
                <a:latin typeface="PingFang SC"/>
                <a:ea typeface="PingFang SC"/>
                <a:cs typeface="PingFang SC"/>
              </a:rPr>
              <a:t>进入真实作业场景的可行路线。</a:t>
            </a:r>
          </a:p>
        </p:txBody>
      </p:sp>
      <p:sp>
        <p:nvSpPr>
          <p:cNvPr id="31" name="">
            <a:extLst xmlns:a="http://schemas.openxmlformats.org/drawingml/2006/main">
              <a:ext uri="{FF2B5EF4-FFF2-40B4-BE49-F238E27FC236}">
                <a16:creationId xmlns:a16="http://schemas.microsoft.com/office/drawing/2014/main" id="{FAEF8501-3E4A-4E26-8074-1BDDCD6D1EB8}"/>
              </a:ext>
            </a:extLst>
          </p:cNvPr>
          <p:cNvSpPr>
            <a:spLocks xmlns:a="http://schemas.openxmlformats.org/drawingml/2006/main" noGrp="1"/>
          </p:cNvSpPr>
          <p:nvPr/>
        </p:nvSpPr>
        <p:spPr>
          <a:xfrm xmlns:a="http://schemas.openxmlformats.org/drawingml/2006/main">
            <a:off x="2400300" y="5372100"/>
            <a:ext cx="6477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4A3B8"/>
                </a:solidFill>
                <a:latin typeface="PingFang SC"/>
                <a:ea typeface="PingFang SC"/>
                <a:cs typeface="PingFang SC"/>
              </a:defRPr>
            </a:pPr>
            <a:r>
              <a:rPr sz="825" b="0">
                <a:solidFill>
                  <a:srgbClr val="94A3B8"/>
                </a:solidFill>
                <a:latin typeface="PingFang SC"/>
                <a:ea typeface="PingFang SC"/>
                <a:cs typeface="PingFang SC"/>
              </a:rPr>
              <a:t>从高危替代到日常服务，核心都是让机器人能听懂、看见、行动、学习。</a:t>
            </a:r>
          </a:p>
        </p:txBody>
      </p:sp>
      <p:sp>
        <p:nvSpPr>
          <p:cNvPr id="32" name="">
            <a:extLst xmlns:a="http://schemas.openxmlformats.org/drawingml/2006/main">
              <a:ext uri="{FF2B5EF4-FFF2-40B4-BE49-F238E27FC236}">
                <a16:creationId xmlns:a16="http://schemas.microsoft.com/office/drawing/2014/main" id="{A5F89E87-9F51-4EDA-AF08-BCDBF4F3713E}"/>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7C8FA253-1530-4082-AD57-DFCB0748E236}"/>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34" name="">
            <a:extLst xmlns:a="http://schemas.openxmlformats.org/drawingml/2006/main">
              <a:ext uri="{FF2B5EF4-FFF2-40B4-BE49-F238E27FC236}">
                <a16:creationId xmlns:a16="http://schemas.microsoft.com/office/drawing/2014/main" id="{72E949B6-B5F6-4900-A092-E7C532D01981}"/>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02</a:t>
            </a:r>
          </a:p>
        </p:txBody>
      </p:sp>
    </p:spTree>
    <p:extLst>
      <p:ext uri="{BB962C8B-B14F-4D97-AF65-F5344CB8AC3E}">
        <p14:creationId xmlns:p14="http://schemas.microsoft.com/office/powerpoint/2010/main" val="20418437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6EAFC0-1186-43F8-9E36-81AAAA9DD1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FC9F809-6BC1-4AEC-8423-4BB0E1C653DE}"/>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0582589-6F71-429F-8D90-DAB4D2DCC7E8}"/>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03</a:t>
            </a:r>
          </a:p>
        </p:txBody>
      </p:sp>
      <p:sp>
        <p:nvSpPr>
          <p:cNvPr id="4" name="">
            <a:extLst xmlns:a="http://schemas.openxmlformats.org/drawingml/2006/main">
              <a:ext uri="{FF2B5EF4-FFF2-40B4-BE49-F238E27FC236}">
                <a16:creationId xmlns:a16="http://schemas.microsoft.com/office/drawing/2014/main" id="{4644F517-F9CF-4748-8118-0CC88FFC9B0F}"/>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PROTOTYPE</a:t>
            </a:r>
          </a:p>
        </p:txBody>
      </p:sp>
      <p:sp>
        <p:nvSpPr>
          <p:cNvPr id="5" name="">
            <a:extLst xmlns:a="http://schemas.openxmlformats.org/drawingml/2006/main">
              <a:ext uri="{FF2B5EF4-FFF2-40B4-BE49-F238E27FC236}">
                <a16:creationId xmlns:a16="http://schemas.microsoft.com/office/drawing/2014/main" id="{0A40C0E9-36DE-4375-8A69-8302DB84F91B}"/>
              </a:ext>
            </a:extLst>
          </p:cNvPr>
          <p:cNvSpPr>
            <a:spLocks xmlns:a="http://schemas.openxmlformats.org/drawingml/2006/main" noGrp="1"/>
          </p:cNvSpPr>
          <p:nvPr/>
        </p:nvSpPr>
        <p:spPr>
          <a:xfrm xmlns:a="http://schemas.openxmlformats.org/drawingml/2006/main">
            <a:off x="552450" y="781050"/>
            <a:ext cx="8953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用低成本双臂移动平台，证明真实机器人智能闭环可行</a:t>
            </a:r>
          </a:p>
        </p:txBody>
      </p:sp>
      <p:sp>
        <p:nvSpPr>
          <p:cNvPr id="6" name="">
            <a:extLst xmlns:a="http://schemas.openxmlformats.org/drawingml/2006/main">
              <a:ext uri="{FF2B5EF4-FFF2-40B4-BE49-F238E27FC236}">
                <a16:creationId xmlns:a16="http://schemas.microsoft.com/office/drawing/2014/main" id="{56DD94B6-652D-4EA1-A290-D485B182DD12}"/>
              </a:ext>
            </a:extLst>
          </p:cNvPr>
          <p:cNvSpPr>
            <a:spLocks xmlns:a="http://schemas.openxmlformats.org/drawingml/2006/main" noGrp="1"/>
          </p:cNvSpPr>
          <p:nvPr/>
        </p:nvSpPr>
        <p:spPr>
          <a:xfrm xmlns:a="http://schemas.openxmlformats.org/drawingml/2006/main">
            <a:off x="590550" y="1447800"/>
            <a:ext cx="8953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原型不追求一开始替代成熟工业机器人，而是证明“交互、观察、执行、示教、训练”这条链路能跑通。</a:t>
            </a:r>
          </a:p>
        </p:txBody>
      </p:sp>
      <p:sp>
        <p:nvSpPr>
          <p:cNvPr id="7" name="">
            <a:extLst xmlns:a="http://schemas.openxmlformats.org/drawingml/2006/main">
              <a:ext uri="{FF2B5EF4-FFF2-40B4-BE49-F238E27FC236}">
                <a16:creationId xmlns:a16="http://schemas.microsoft.com/office/drawing/2014/main" id="{A083124B-9CE4-4E4A-8C7F-D335B6F6008E}"/>
              </a:ext>
            </a:extLst>
          </p:cNvPr>
          <p:cNvSpPr>
            <a:spLocks xmlns:a="http://schemas.openxmlformats.org/drawingml/2006/main" noGrp="1"/>
          </p:cNvSpPr>
          <p:nvPr/>
        </p:nvSpPr>
        <p:spPr>
          <a:xfrm xmlns:a="http://schemas.openxmlformats.org/drawingml/2006/main">
            <a:off x="876300" y="2457450"/>
            <a:ext cx="2000250" cy="1104900"/>
          </a:xfrm>
          <a:prstGeom xmlns:a="http://schemas.openxmlformats.org/drawingml/2006/main" prst="rect">
            <a:avLst/>
          </a:prstGeom>
          <a:solidFill xmlns:a="http://schemas.openxmlformats.org/drawingml/2006/main">
            <a:srgbClr val="121B2E"/>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D3D2F5C1-9825-4825-83DA-FA812D502852}"/>
              </a:ext>
            </a:extLst>
          </p:cNvPr>
          <p:cNvSpPr>
            <a:spLocks xmlns:a="http://schemas.openxmlformats.org/drawingml/2006/main" noGrp="1"/>
          </p:cNvSpPr>
          <p:nvPr/>
        </p:nvSpPr>
        <p:spPr>
          <a:xfrm xmlns:a="http://schemas.openxmlformats.org/drawingml/2006/main">
            <a:off x="876300" y="2457450"/>
            <a:ext cx="47625" cy="11049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329CA21-A2D1-4140-852C-D62E129C5BB0}"/>
              </a:ext>
            </a:extLst>
          </p:cNvPr>
          <p:cNvSpPr>
            <a:spLocks xmlns:a="http://schemas.openxmlformats.org/drawingml/2006/main" noGrp="1"/>
          </p:cNvSpPr>
          <p:nvPr/>
        </p:nvSpPr>
        <p:spPr>
          <a:xfrm xmlns:a="http://schemas.openxmlformats.org/drawingml/2006/main">
            <a:off x="1047750" y="25908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自然交互</a:t>
            </a:r>
          </a:p>
        </p:txBody>
      </p:sp>
      <p:sp>
        <p:nvSpPr>
          <p:cNvPr id="10" name="">
            <a:extLst xmlns:a="http://schemas.openxmlformats.org/drawingml/2006/main">
              <a:ext uri="{FF2B5EF4-FFF2-40B4-BE49-F238E27FC236}">
                <a16:creationId xmlns:a16="http://schemas.microsoft.com/office/drawing/2014/main" id="{4E373AD3-584B-4A81-960B-7B1559FF65D7}"/>
              </a:ext>
            </a:extLst>
          </p:cNvPr>
          <p:cNvSpPr>
            <a:spLocks xmlns:a="http://schemas.openxmlformats.org/drawingml/2006/main" noGrp="1"/>
          </p:cNvSpPr>
          <p:nvPr/>
        </p:nvSpPr>
        <p:spPr>
          <a:xfrm xmlns:a="http://schemas.openxmlformats.org/drawingml/2006/main">
            <a:off x="1047750" y="2905125"/>
            <a:ext cx="1714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文字 / 语音 / Web</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下达作业意图</a:t>
            </a:r>
          </a:p>
        </p:txBody>
      </p:sp>
      <p:sp>
        <p:nvSpPr>
          <p:cNvPr id="11" name="">
            <a:extLst xmlns:a="http://schemas.openxmlformats.org/drawingml/2006/main">
              <a:ext uri="{FF2B5EF4-FFF2-40B4-BE49-F238E27FC236}">
                <a16:creationId xmlns:a16="http://schemas.microsoft.com/office/drawing/2014/main" id="{B97630C3-D7BA-4D58-AD05-F63674841C73}"/>
              </a:ext>
            </a:extLst>
          </p:cNvPr>
          <p:cNvSpPr>
            <a:spLocks xmlns:a="http://schemas.openxmlformats.org/drawingml/2006/main" noGrp="1"/>
          </p:cNvSpPr>
          <p:nvPr/>
        </p:nvSpPr>
        <p:spPr>
          <a:xfrm xmlns:a="http://schemas.openxmlformats.org/drawingml/2006/main">
            <a:off x="3714750" y="2457450"/>
            <a:ext cx="2000250" cy="1104900"/>
          </a:xfrm>
          <a:prstGeom xmlns:a="http://schemas.openxmlformats.org/drawingml/2006/main" prst="rect">
            <a:avLst/>
          </a:prstGeom>
          <a:solidFill xmlns:a="http://schemas.openxmlformats.org/drawingml/2006/main">
            <a:srgbClr val="121B2E"/>
          </a:solidFill>
          <a:ln xmlns:a="http://schemas.openxmlformats.org/drawingml/2006/main" w="9525">
            <a:solidFill>
              <a:srgbClr val="3B82F6"/>
            </a:solidFill>
            <a:prstDash val="solid"/>
          </a:ln>
        </p:spPr>
      </p:sp>
      <p:sp>
        <p:nvSpPr>
          <p:cNvPr id="12" name="">
            <a:extLst xmlns:a="http://schemas.openxmlformats.org/drawingml/2006/main">
              <a:ext uri="{FF2B5EF4-FFF2-40B4-BE49-F238E27FC236}">
                <a16:creationId xmlns:a16="http://schemas.microsoft.com/office/drawing/2014/main" id="{83154E70-0B5F-4EA0-83DF-328B3D684899}"/>
              </a:ext>
            </a:extLst>
          </p:cNvPr>
          <p:cNvSpPr>
            <a:spLocks xmlns:a="http://schemas.openxmlformats.org/drawingml/2006/main" noGrp="1"/>
          </p:cNvSpPr>
          <p:nvPr/>
        </p:nvSpPr>
        <p:spPr>
          <a:xfrm xmlns:a="http://schemas.openxmlformats.org/drawingml/2006/main">
            <a:off x="3714750" y="2457450"/>
            <a:ext cx="47625" cy="11049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C96B9E4-3502-4D7E-9E28-0D1110853634}"/>
              </a:ext>
            </a:extLst>
          </p:cNvPr>
          <p:cNvSpPr>
            <a:spLocks xmlns:a="http://schemas.openxmlformats.org/drawingml/2006/main" noGrp="1"/>
          </p:cNvSpPr>
          <p:nvPr/>
        </p:nvSpPr>
        <p:spPr>
          <a:xfrm xmlns:a="http://schemas.openxmlformats.org/drawingml/2006/main">
            <a:off x="3886200" y="25908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环境观察</a:t>
            </a:r>
          </a:p>
        </p:txBody>
      </p:sp>
      <p:sp>
        <p:nvSpPr>
          <p:cNvPr id="14" name="">
            <a:extLst xmlns:a="http://schemas.openxmlformats.org/drawingml/2006/main">
              <a:ext uri="{FF2B5EF4-FFF2-40B4-BE49-F238E27FC236}">
                <a16:creationId xmlns:a16="http://schemas.microsoft.com/office/drawing/2014/main" id="{BF29018F-37C6-4F5C-8FEB-E9677E392E0B}"/>
              </a:ext>
            </a:extLst>
          </p:cNvPr>
          <p:cNvSpPr>
            <a:spLocks xmlns:a="http://schemas.openxmlformats.org/drawingml/2006/main" noGrp="1"/>
          </p:cNvSpPr>
          <p:nvPr/>
        </p:nvSpPr>
        <p:spPr>
          <a:xfrm xmlns:a="http://schemas.openxmlformats.org/drawingml/2006/main">
            <a:off x="3886200" y="2905125"/>
            <a:ext cx="1714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三路摄像头</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回传现场画面</a:t>
            </a:r>
          </a:p>
        </p:txBody>
      </p:sp>
      <p:sp>
        <p:nvSpPr>
          <p:cNvPr id="15" name="">
            <a:extLst xmlns:a="http://schemas.openxmlformats.org/drawingml/2006/main">
              <a:ext uri="{FF2B5EF4-FFF2-40B4-BE49-F238E27FC236}">
                <a16:creationId xmlns:a16="http://schemas.microsoft.com/office/drawing/2014/main" id="{3BCAB36D-3D37-4C85-9F97-56F77639C010}"/>
              </a:ext>
            </a:extLst>
          </p:cNvPr>
          <p:cNvSpPr>
            <a:spLocks xmlns:a="http://schemas.openxmlformats.org/drawingml/2006/main" noGrp="1"/>
          </p:cNvSpPr>
          <p:nvPr/>
        </p:nvSpPr>
        <p:spPr>
          <a:xfrm xmlns:a="http://schemas.openxmlformats.org/drawingml/2006/main">
            <a:off x="6553200" y="2457450"/>
            <a:ext cx="2000250" cy="1104900"/>
          </a:xfrm>
          <a:prstGeom xmlns:a="http://schemas.openxmlformats.org/drawingml/2006/main" prst="rect">
            <a:avLst/>
          </a:prstGeom>
          <a:solidFill xmlns:a="http://schemas.openxmlformats.org/drawingml/2006/main">
            <a:srgbClr val="121B2E"/>
          </a:solidFill>
          <a:ln xmlns:a="http://schemas.openxmlformats.org/drawingml/2006/main" w="9525">
            <a:solidFill>
              <a:srgbClr val="22C55E"/>
            </a:solidFill>
            <a:prstDash val="solid"/>
          </a:ln>
        </p:spPr>
      </p:sp>
      <p:sp>
        <p:nvSpPr>
          <p:cNvPr id="16" name="">
            <a:extLst xmlns:a="http://schemas.openxmlformats.org/drawingml/2006/main">
              <a:ext uri="{FF2B5EF4-FFF2-40B4-BE49-F238E27FC236}">
                <a16:creationId xmlns:a16="http://schemas.microsoft.com/office/drawing/2014/main" id="{F8210B9A-FD4B-4571-8404-F684791F0BAF}"/>
              </a:ext>
            </a:extLst>
          </p:cNvPr>
          <p:cNvSpPr>
            <a:spLocks xmlns:a="http://schemas.openxmlformats.org/drawingml/2006/main" noGrp="1"/>
          </p:cNvSpPr>
          <p:nvPr/>
        </p:nvSpPr>
        <p:spPr>
          <a:xfrm xmlns:a="http://schemas.openxmlformats.org/drawingml/2006/main">
            <a:off x="6553200" y="2457450"/>
            <a:ext cx="47625" cy="11049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98D75F4-A964-4548-B68A-84D141D2D114}"/>
              </a:ext>
            </a:extLst>
          </p:cNvPr>
          <p:cNvSpPr>
            <a:spLocks xmlns:a="http://schemas.openxmlformats.org/drawingml/2006/main" noGrp="1"/>
          </p:cNvSpPr>
          <p:nvPr/>
        </p:nvSpPr>
        <p:spPr>
          <a:xfrm xmlns:a="http://schemas.openxmlformats.org/drawingml/2006/main">
            <a:off x="6724650" y="25908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真实动作</a:t>
            </a:r>
          </a:p>
        </p:txBody>
      </p:sp>
      <p:sp>
        <p:nvSpPr>
          <p:cNvPr id="18" name="">
            <a:extLst xmlns:a="http://schemas.openxmlformats.org/drawingml/2006/main">
              <a:ext uri="{FF2B5EF4-FFF2-40B4-BE49-F238E27FC236}">
                <a16:creationId xmlns:a16="http://schemas.microsoft.com/office/drawing/2014/main" id="{8A986962-2111-4056-8CA2-E98D4A04D153}"/>
              </a:ext>
            </a:extLst>
          </p:cNvPr>
          <p:cNvSpPr>
            <a:spLocks xmlns:a="http://schemas.openxmlformats.org/drawingml/2006/main" noGrp="1"/>
          </p:cNvSpPr>
          <p:nvPr/>
        </p:nvSpPr>
        <p:spPr>
          <a:xfrm xmlns:a="http://schemas.openxmlformats.org/drawingml/2006/main">
            <a:off x="6724650" y="2905125"/>
            <a:ext cx="1714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底盘 / 头部 / 双臂</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工具化执行</a:t>
            </a:r>
          </a:p>
        </p:txBody>
      </p:sp>
      <p:sp>
        <p:nvSpPr>
          <p:cNvPr id="19" name="">
            <a:extLst xmlns:a="http://schemas.openxmlformats.org/drawingml/2006/main">
              <a:ext uri="{FF2B5EF4-FFF2-40B4-BE49-F238E27FC236}">
                <a16:creationId xmlns:a16="http://schemas.microsoft.com/office/drawing/2014/main" id="{8F048E6E-4D3B-4E1D-9961-6320FDAEB6FF}"/>
              </a:ext>
            </a:extLst>
          </p:cNvPr>
          <p:cNvSpPr>
            <a:spLocks xmlns:a="http://schemas.openxmlformats.org/drawingml/2006/main" noGrp="1"/>
          </p:cNvSpPr>
          <p:nvPr/>
        </p:nvSpPr>
        <p:spPr>
          <a:xfrm xmlns:a="http://schemas.openxmlformats.org/drawingml/2006/main">
            <a:off x="9391650" y="2457450"/>
            <a:ext cx="2000250" cy="1104900"/>
          </a:xfrm>
          <a:prstGeom xmlns:a="http://schemas.openxmlformats.org/drawingml/2006/main" prst="rect">
            <a:avLst/>
          </a:prstGeom>
          <a:solidFill xmlns:a="http://schemas.openxmlformats.org/drawingml/2006/main">
            <a:srgbClr val="121B2E"/>
          </a:solidFill>
          <a:ln xmlns:a="http://schemas.openxmlformats.org/drawingml/2006/main" w="9525">
            <a:solidFill>
              <a:srgbClr val="F59E0B"/>
            </a:solidFill>
            <a:prstDash val="solid"/>
          </a:ln>
        </p:spPr>
      </p:sp>
      <p:sp>
        <p:nvSpPr>
          <p:cNvPr id="20" name="">
            <a:extLst xmlns:a="http://schemas.openxmlformats.org/drawingml/2006/main">
              <a:ext uri="{FF2B5EF4-FFF2-40B4-BE49-F238E27FC236}">
                <a16:creationId xmlns:a16="http://schemas.microsoft.com/office/drawing/2014/main" id="{36849523-FC40-4AFF-9F4B-C2400B9E2526}"/>
              </a:ext>
            </a:extLst>
          </p:cNvPr>
          <p:cNvSpPr>
            <a:spLocks xmlns:a="http://schemas.openxmlformats.org/drawingml/2006/main" noGrp="1"/>
          </p:cNvSpPr>
          <p:nvPr/>
        </p:nvSpPr>
        <p:spPr>
          <a:xfrm xmlns:a="http://schemas.openxmlformats.org/drawingml/2006/main">
            <a:off x="9391650" y="2457450"/>
            <a:ext cx="47625" cy="11049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DDCC217-51F5-4A11-B8B6-BAB07AA37B60}"/>
              </a:ext>
            </a:extLst>
          </p:cNvPr>
          <p:cNvSpPr>
            <a:spLocks xmlns:a="http://schemas.openxmlformats.org/drawingml/2006/main" noGrp="1"/>
          </p:cNvSpPr>
          <p:nvPr/>
        </p:nvSpPr>
        <p:spPr>
          <a:xfrm xmlns:a="http://schemas.openxmlformats.org/drawingml/2006/main">
            <a:off x="9563100" y="25908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学习迭代</a:t>
            </a:r>
          </a:p>
        </p:txBody>
      </p:sp>
      <p:sp>
        <p:nvSpPr>
          <p:cNvPr id="22" name="">
            <a:extLst xmlns:a="http://schemas.openxmlformats.org/drawingml/2006/main">
              <a:ext uri="{FF2B5EF4-FFF2-40B4-BE49-F238E27FC236}">
                <a16:creationId xmlns:a16="http://schemas.microsoft.com/office/drawing/2014/main" id="{99BBEFEA-5031-4E88-9723-96EA34D9B677}"/>
              </a:ext>
            </a:extLst>
          </p:cNvPr>
          <p:cNvSpPr>
            <a:spLocks xmlns:a="http://schemas.openxmlformats.org/drawingml/2006/main" noGrp="1"/>
          </p:cNvSpPr>
          <p:nvPr/>
        </p:nvSpPr>
        <p:spPr>
          <a:xfrm xmlns:a="http://schemas.openxmlformats.org/drawingml/2006/main">
            <a:off x="9563100" y="2905125"/>
            <a:ext cx="1714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动作示教</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数据集 + ACT</a:t>
            </a:r>
          </a:p>
        </p:txBody>
      </p:sp>
      <p:sp>
        <p:nvSpPr>
          <p:cNvPr id="23" name="">
            <a:extLst xmlns:a="http://schemas.openxmlformats.org/drawingml/2006/main">
              <a:ext uri="{FF2B5EF4-FFF2-40B4-BE49-F238E27FC236}">
                <a16:creationId xmlns:a16="http://schemas.microsoft.com/office/drawing/2014/main" id="{3629C075-2ED8-4A1C-BFA1-ED36104E4612}"/>
              </a:ext>
            </a:extLst>
          </p:cNvPr>
          <p:cNvSpPr>
            <a:spLocks xmlns:a="http://schemas.openxmlformats.org/drawingml/2006/main" noGrp="1"/>
          </p:cNvSpPr>
          <p:nvPr/>
        </p:nvSpPr>
        <p:spPr>
          <a:xfrm xmlns:a="http://schemas.openxmlformats.org/drawingml/2006/main">
            <a:off x="2876550" y="3009900"/>
            <a:ext cx="838200" cy="381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CA07DCF-4CD0-4CD3-95AF-9A8C19DE8505}"/>
              </a:ext>
            </a:extLst>
          </p:cNvPr>
          <p:cNvSpPr>
            <a:spLocks xmlns:a="http://schemas.openxmlformats.org/drawingml/2006/main" noGrp="1"/>
          </p:cNvSpPr>
          <p:nvPr/>
        </p:nvSpPr>
        <p:spPr>
          <a:xfrm xmlns:a="http://schemas.openxmlformats.org/drawingml/2006/main">
            <a:off x="3676650" y="2971800"/>
            <a:ext cx="762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AE58873-D658-4064-8298-E2242CBB5DC8}"/>
              </a:ext>
            </a:extLst>
          </p:cNvPr>
          <p:cNvSpPr>
            <a:spLocks xmlns:a="http://schemas.openxmlformats.org/drawingml/2006/main" noGrp="1"/>
          </p:cNvSpPr>
          <p:nvPr/>
        </p:nvSpPr>
        <p:spPr>
          <a:xfrm xmlns:a="http://schemas.openxmlformats.org/drawingml/2006/main">
            <a:off x="5715000" y="3009900"/>
            <a:ext cx="838200" cy="381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6E78F92-061A-4777-ACD2-7C2A759CC61F}"/>
              </a:ext>
            </a:extLst>
          </p:cNvPr>
          <p:cNvSpPr>
            <a:spLocks xmlns:a="http://schemas.openxmlformats.org/drawingml/2006/main" noGrp="1"/>
          </p:cNvSpPr>
          <p:nvPr/>
        </p:nvSpPr>
        <p:spPr>
          <a:xfrm xmlns:a="http://schemas.openxmlformats.org/drawingml/2006/main">
            <a:off x="6515100" y="2971800"/>
            <a:ext cx="7620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43BBE29-DFA6-4662-9FB0-7F95090CF3AA}"/>
              </a:ext>
            </a:extLst>
          </p:cNvPr>
          <p:cNvSpPr>
            <a:spLocks xmlns:a="http://schemas.openxmlformats.org/drawingml/2006/main" noGrp="1"/>
          </p:cNvSpPr>
          <p:nvPr/>
        </p:nvSpPr>
        <p:spPr>
          <a:xfrm xmlns:a="http://schemas.openxmlformats.org/drawingml/2006/main">
            <a:off x="8553450" y="3009900"/>
            <a:ext cx="838200" cy="381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F612D7A-8CCF-4ED3-A45E-BAD382D19DDC}"/>
              </a:ext>
            </a:extLst>
          </p:cNvPr>
          <p:cNvSpPr>
            <a:spLocks xmlns:a="http://schemas.openxmlformats.org/drawingml/2006/main" noGrp="1"/>
          </p:cNvSpPr>
          <p:nvPr/>
        </p:nvSpPr>
        <p:spPr>
          <a:xfrm xmlns:a="http://schemas.openxmlformats.org/drawingml/2006/main">
            <a:off x="9353550" y="2971800"/>
            <a:ext cx="7620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AB7DAA2-7B86-4C49-8D59-31F08032CBC7}"/>
              </a:ext>
            </a:extLst>
          </p:cNvPr>
          <p:cNvSpPr>
            <a:spLocks xmlns:a="http://schemas.openxmlformats.org/drawingml/2006/main" noGrp="1"/>
          </p:cNvSpPr>
          <p:nvPr/>
        </p:nvSpPr>
        <p:spPr>
          <a:xfrm xmlns:a="http://schemas.openxmlformats.org/drawingml/2006/main">
            <a:off x="876300" y="4457700"/>
            <a:ext cx="5334000" cy="952500"/>
          </a:xfrm>
          <a:prstGeom xmlns:a="http://schemas.openxmlformats.org/drawingml/2006/main" prst="rect">
            <a:avLst/>
          </a:prstGeom>
          <a:solidFill xmlns:a="http://schemas.openxmlformats.org/drawingml/2006/main">
            <a:srgbClr val="111A2D"/>
          </a:solidFill>
          <a:ln xmlns:a="http://schemas.openxmlformats.org/drawingml/2006/main" w="9525">
            <a:solidFill>
              <a:srgbClr val="253246"/>
            </a:solidFill>
            <a:prstDash val="solid"/>
          </a:ln>
        </p:spPr>
      </p:sp>
      <p:sp>
        <p:nvSpPr>
          <p:cNvPr id="30" name="">
            <a:extLst xmlns:a="http://schemas.openxmlformats.org/drawingml/2006/main">
              <a:ext uri="{FF2B5EF4-FFF2-40B4-BE49-F238E27FC236}">
                <a16:creationId xmlns:a16="http://schemas.microsoft.com/office/drawing/2014/main" id="{A224D614-E310-48D2-A480-06207A7821BA}"/>
              </a:ext>
            </a:extLst>
          </p:cNvPr>
          <p:cNvSpPr>
            <a:spLocks xmlns:a="http://schemas.openxmlformats.org/drawingml/2006/main" noGrp="1"/>
          </p:cNvSpPr>
          <p:nvPr/>
        </p:nvSpPr>
        <p:spPr>
          <a:xfrm xmlns:a="http://schemas.openxmlformats.org/drawingml/2006/main">
            <a:off x="1162050" y="47434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为什么可行</a:t>
            </a:r>
          </a:p>
        </p:txBody>
      </p:sp>
      <p:sp>
        <p:nvSpPr>
          <p:cNvPr id="31" name="">
            <a:extLst xmlns:a="http://schemas.openxmlformats.org/drawingml/2006/main">
              <a:ext uri="{FF2B5EF4-FFF2-40B4-BE49-F238E27FC236}">
                <a16:creationId xmlns:a16="http://schemas.microsoft.com/office/drawing/2014/main" id="{5EAA1EC5-0E99-49A4-A633-54C440141782}"/>
              </a:ext>
            </a:extLst>
          </p:cNvPr>
          <p:cNvSpPr>
            <a:spLocks xmlns:a="http://schemas.openxmlformats.org/drawingml/2006/main" noGrp="1"/>
          </p:cNvSpPr>
          <p:nvPr/>
        </p:nvSpPr>
        <p:spPr>
          <a:xfrm xmlns:a="http://schemas.openxmlformats.org/drawingml/2006/main">
            <a:off x="2305050" y="46291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AFC"/>
                </a:solidFill>
                <a:latin typeface="PingFang SC"/>
                <a:ea typeface="PingFang SC"/>
                <a:cs typeface="PingFang SC"/>
              </a:defRPr>
            </a:pPr>
            <a:r>
              <a:rPr sz="1425" b="1">
                <a:solidFill>
                  <a:srgbClr val="F7FAFC"/>
                </a:solidFill>
                <a:latin typeface="PingFang SC"/>
                <a:ea typeface="PingFang SC"/>
                <a:cs typeface="PingFang SC"/>
              </a:rPr>
              <a:t>把复杂能力拆成受控工具，</a:t>
            </a:r>
          </a:p>
        </p:txBody>
      </p:sp>
      <p:sp>
        <p:nvSpPr>
          <p:cNvPr id="32" name="">
            <a:extLst xmlns:a="http://schemas.openxmlformats.org/drawingml/2006/main">
              <a:ext uri="{FF2B5EF4-FFF2-40B4-BE49-F238E27FC236}">
                <a16:creationId xmlns:a16="http://schemas.microsoft.com/office/drawing/2014/main" id="{3D031589-0317-469C-A64B-604A4E603FF0}"/>
              </a:ext>
            </a:extLst>
          </p:cNvPr>
          <p:cNvSpPr>
            <a:spLocks xmlns:a="http://schemas.openxmlformats.org/drawingml/2006/main" noGrp="1"/>
          </p:cNvSpPr>
          <p:nvPr/>
        </p:nvSpPr>
        <p:spPr>
          <a:xfrm xmlns:a="http://schemas.openxmlformats.org/drawingml/2006/main">
            <a:off x="2305050" y="487680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AFC"/>
                </a:solidFill>
                <a:latin typeface="PingFang SC"/>
                <a:ea typeface="PingFang SC"/>
                <a:cs typeface="PingFang SC"/>
              </a:defRPr>
            </a:pPr>
            <a:r>
              <a:rPr sz="1425" b="1">
                <a:solidFill>
                  <a:srgbClr val="F7FAFC"/>
                </a:solidFill>
                <a:latin typeface="PingFang SC"/>
                <a:ea typeface="PingFang SC"/>
                <a:cs typeface="PingFang SC"/>
              </a:rPr>
              <a:t>再由智能体调度执行。</a:t>
            </a:r>
          </a:p>
        </p:txBody>
      </p:sp>
      <p:sp>
        <p:nvSpPr>
          <p:cNvPr id="33" name="">
            <a:extLst xmlns:a="http://schemas.openxmlformats.org/drawingml/2006/main">
              <a:ext uri="{FF2B5EF4-FFF2-40B4-BE49-F238E27FC236}">
                <a16:creationId xmlns:a16="http://schemas.microsoft.com/office/drawing/2014/main" id="{D6A143A6-14A2-4A75-9B90-F8C8AFAFDEA9}"/>
              </a:ext>
            </a:extLst>
          </p:cNvPr>
          <p:cNvSpPr>
            <a:spLocks xmlns:a="http://schemas.openxmlformats.org/drawingml/2006/main" noGrp="1"/>
          </p:cNvSpPr>
          <p:nvPr/>
        </p:nvSpPr>
        <p:spPr>
          <a:xfrm xmlns:a="http://schemas.openxmlformats.org/drawingml/2006/main">
            <a:off x="2305050" y="5162550"/>
            <a:ext cx="3333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94A3B8"/>
                </a:solidFill>
                <a:latin typeface="PingFang SC"/>
                <a:ea typeface="PingFang SC"/>
                <a:cs typeface="PingFang SC"/>
              </a:defRPr>
            </a:pPr>
            <a:r>
              <a:rPr sz="788" b="0">
                <a:solidFill>
                  <a:srgbClr val="94A3B8"/>
                </a:solidFill>
                <a:latin typeface="PingFang SC"/>
                <a:ea typeface="PingFang SC"/>
                <a:cs typeface="PingFang SC"/>
              </a:rPr>
              <a:t>大模型不是直接拧电机，而是选择安全边界内的工具。</a:t>
            </a:r>
          </a:p>
        </p:txBody>
      </p:sp>
      <p:sp>
        <p:nvSpPr>
          <p:cNvPr id="34" name="">
            <a:extLst xmlns:a="http://schemas.openxmlformats.org/drawingml/2006/main">
              <a:ext uri="{FF2B5EF4-FFF2-40B4-BE49-F238E27FC236}">
                <a16:creationId xmlns:a16="http://schemas.microsoft.com/office/drawing/2014/main" id="{6D620FB8-89C4-45BF-99EE-6667CB1E21E9}"/>
              </a:ext>
            </a:extLst>
          </p:cNvPr>
          <p:cNvSpPr>
            <a:spLocks xmlns:a="http://schemas.openxmlformats.org/drawingml/2006/main" noGrp="1"/>
          </p:cNvSpPr>
          <p:nvPr/>
        </p:nvSpPr>
        <p:spPr>
          <a:xfrm xmlns:a="http://schemas.openxmlformats.org/drawingml/2006/main">
            <a:off x="7086600" y="4495800"/>
            <a:ext cx="142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C55E"/>
                </a:solidFill>
                <a:latin typeface="Georgia"/>
                <a:ea typeface="Georgia"/>
                <a:cs typeface="Georgia"/>
              </a:defRPr>
            </a:pPr>
            <a:r>
              <a:rPr sz="2700" b="1">
                <a:solidFill>
                  <a:srgbClr val="22C55E"/>
                </a:solidFill>
                <a:latin typeface="Georgia"/>
                <a:ea typeface="Georgia"/>
                <a:cs typeface="Georgia"/>
              </a:rPr>
              <a:t>低成本</a:t>
            </a:r>
          </a:p>
        </p:txBody>
      </p:sp>
      <p:sp>
        <p:nvSpPr>
          <p:cNvPr id="35" name="">
            <a:extLst xmlns:a="http://schemas.openxmlformats.org/drawingml/2006/main">
              <a:ext uri="{FF2B5EF4-FFF2-40B4-BE49-F238E27FC236}">
                <a16:creationId xmlns:a16="http://schemas.microsoft.com/office/drawing/2014/main" id="{8540C776-4194-48B7-A3EC-847D78AFAE69}"/>
              </a:ext>
            </a:extLst>
          </p:cNvPr>
          <p:cNvSpPr>
            <a:spLocks xmlns:a="http://schemas.openxmlformats.org/drawingml/2006/main" noGrp="1"/>
          </p:cNvSpPr>
          <p:nvPr/>
        </p:nvSpPr>
        <p:spPr>
          <a:xfrm xmlns:a="http://schemas.openxmlformats.org/drawingml/2006/main">
            <a:off x="7086600" y="49720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硬件原型</a:t>
            </a:r>
          </a:p>
        </p:txBody>
      </p:sp>
      <p:sp>
        <p:nvSpPr>
          <p:cNvPr id="36" name="">
            <a:extLst xmlns:a="http://schemas.openxmlformats.org/drawingml/2006/main">
              <a:ext uri="{FF2B5EF4-FFF2-40B4-BE49-F238E27FC236}">
                <a16:creationId xmlns:a16="http://schemas.microsoft.com/office/drawing/2014/main" id="{D2517DDA-3FB1-4727-A601-8245DEB73FB4}"/>
              </a:ext>
            </a:extLst>
          </p:cNvPr>
          <p:cNvSpPr>
            <a:spLocks xmlns:a="http://schemas.openxmlformats.org/drawingml/2006/main" noGrp="1"/>
          </p:cNvSpPr>
          <p:nvPr/>
        </p:nvSpPr>
        <p:spPr>
          <a:xfrm xmlns:a="http://schemas.openxmlformats.org/drawingml/2006/main">
            <a:off x="7086600" y="5200650"/>
            <a:ext cx="1428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便于继续试错和扩展</a:t>
            </a:r>
          </a:p>
        </p:txBody>
      </p:sp>
      <p:sp>
        <p:nvSpPr>
          <p:cNvPr id="37" name="">
            <a:extLst xmlns:a="http://schemas.openxmlformats.org/drawingml/2006/main">
              <a:ext uri="{FF2B5EF4-FFF2-40B4-BE49-F238E27FC236}">
                <a16:creationId xmlns:a16="http://schemas.microsoft.com/office/drawing/2014/main" id="{E1A92FB6-5A9C-47D2-ADFE-81174AFA5D32}"/>
              </a:ext>
            </a:extLst>
          </p:cNvPr>
          <p:cNvSpPr>
            <a:spLocks xmlns:a="http://schemas.openxmlformats.org/drawingml/2006/main" noGrp="1"/>
          </p:cNvSpPr>
          <p:nvPr/>
        </p:nvSpPr>
        <p:spPr>
          <a:xfrm xmlns:a="http://schemas.openxmlformats.org/drawingml/2006/main">
            <a:off x="8972550" y="44958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D3EE"/>
                </a:solidFill>
                <a:latin typeface="Georgia"/>
                <a:ea typeface="Georgia"/>
                <a:cs typeface="Georgia"/>
              </a:defRPr>
            </a:pPr>
            <a:r>
              <a:rPr sz="2700" b="1">
                <a:solidFill>
                  <a:srgbClr val="22D3EE"/>
                </a:solidFill>
                <a:latin typeface="Georgia"/>
                <a:ea typeface="Georgia"/>
                <a:cs typeface="Georgia"/>
              </a:rPr>
              <a:t>多模态</a:t>
            </a:r>
          </a:p>
        </p:txBody>
      </p:sp>
      <p:sp>
        <p:nvSpPr>
          <p:cNvPr id="38" name="">
            <a:extLst xmlns:a="http://schemas.openxmlformats.org/drawingml/2006/main">
              <a:ext uri="{FF2B5EF4-FFF2-40B4-BE49-F238E27FC236}">
                <a16:creationId xmlns:a16="http://schemas.microsoft.com/office/drawing/2014/main" id="{8A263F5D-6594-4D6C-8A05-E01E03BC536E}"/>
              </a:ext>
            </a:extLst>
          </p:cNvPr>
          <p:cNvSpPr>
            <a:spLocks xmlns:a="http://schemas.openxmlformats.org/drawingml/2006/main" noGrp="1"/>
          </p:cNvSpPr>
          <p:nvPr/>
        </p:nvSpPr>
        <p:spPr>
          <a:xfrm xmlns:a="http://schemas.openxmlformats.org/drawingml/2006/main">
            <a:off x="8972550" y="49720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AI 接口</a:t>
            </a:r>
          </a:p>
        </p:txBody>
      </p:sp>
      <p:sp>
        <p:nvSpPr>
          <p:cNvPr id="39" name="">
            <a:extLst xmlns:a="http://schemas.openxmlformats.org/drawingml/2006/main">
              <a:ext uri="{FF2B5EF4-FFF2-40B4-BE49-F238E27FC236}">
                <a16:creationId xmlns:a16="http://schemas.microsoft.com/office/drawing/2014/main" id="{026D1F99-B9E6-4375-9480-0785EAFC7346}"/>
              </a:ext>
            </a:extLst>
          </p:cNvPr>
          <p:cNvSpPr>
            <a:spLocks xmlns:a="http://schemas.openxmlformats.org/drawingml/2006/main" noGrp="1"/>
          </p:cNvSpPr>
          <p:nvPr/>
        </p:nvSpPr>
        <p:spPr>
          <a:xfrm xmlns:a="http://schemas.openxmlformats.org/drawingml/2006/main">
            <a:off x="8972550" y="52006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语音、视觉、动作统一闭环</a:t>
            </a:r>
          </a:p>
        </p:txBody>
      </p:sp>
      <p:sp>
        <p:nvSpPr>
          <p:cNvPr id="40" name="">
            <a:extLst xmlns:a="http://schemas.openxmlformats.org/drawingml/2006/main">
              <a:ext uri="{FF2B5EF4-FFF2-40B4-BE49-F238E27FC236}">
                <a16:creationId xmlns:a16="http://schemas.microsoft.com/office/drawing/2014/main" id="{C33D9C8A-40EF-4B34-BCD2-597FCEA62B24}"/>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87F29753-F89A-47F8-88BE-8716CE1120A1}"/>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42" name="">
            <a:extLst xmlns:a="http://schemas.openxmlformats.org/drawingml/2006/main">
              <a:ext uri="{FF2B5EF4-FFF2-40B4-BE49-F238E27FC236}">
                <a16:creationId xmlns:a16="http://schemas.microsoft.com/office/drawing/2014/main" id="{A9B5707B-4ACD-4341-8FAA-781DE1D9B974}"/>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03</a:t>
            </a:r>
          </a:p>
        </p:txBody>
      </p:sp>
    </p:spTree>
    <p:extLst>
      <p:ext uri="{BB962C8B-B14F-4D97-AF65-F5344CB8AC3E}">
        <p14:creationId xmlns:p14="http://schemas.microsoft.com/office/powerpoint/2010/main" val="7947462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016436-B96A-4AC4-8174-0E8369E828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85C1A89-A79D-4F00-A678-0F5640D42C72}"/>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ADB1F9D-2331-47C1-A49B-5476560F8FCC}"/>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04</a:t>
            </a:r>
          </a:p>
        </p:txBody>
      </p:sp>
      <p:sp>
        <p:nvSpPr>
          <p:cNvPr id="4" name="">
            <a:extLst xmlns:a="http://schemas.openxmlformats.org/drawingml/2006/main">
              <a:ext uri="{FF2B5EF4-FFF2-40B4-BE49-F238E27FC236}">
                <a16:creationId xmlns:a16="http://schemas.microsoft.com/office/drawing/2014/main" id="{F7B19C20-BE9A-4B53-A107-35017817A3F9}"/>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ARCHITECTURE</a:t>
            </a:r>
          </a:p>
        </p:txBody>
      </p:sp>
      <p:sp>
        <p:nvSpPr>
          <p:cNvPr id="5" name="">
            <a:extLst xmlns:a="http://schemas.openxmlformats.org/drawingml/2006/main">
              <a:ext uri="{FF2B5EF4-FFF2-40B4-BE49-F238E27FC236}">
                <a16:creationId xmlns:a16="http://schemas.microsoft.com/office/drawing/2014/main" id="{FA059157-8A9C-4363-BAA7-A95D0157A937}"/>
              </a:ext>
            </a:extLst>
          </p:cNvPr>
          <p:cNvSpPr>
            <a:spLocks xmlns:a="http://schemas.openxmlformats.org/drawingml/2006/main" noGrp="1"/>
          </p:cNvSpPr>
          <p:nvPr/>
        </p:nvSpPr>
        <p:spPr>
          <a:xfrm xmlns:a="http://schemas.openxmlformats.org/drawingml/2006/main">
            <a:off x="552450" y="781050"/>
            <a:ext cx="857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身体在树莓派服务端，大脑在 Windows 控制端</a:t>
            </a:r>
          </a:p>
        </p:txBody>
      </p:sp>
      <p:sp>
        <p:nvSpPr>
          <p:cNvPr id="6" name="">
            <a:extLst xmlns:a="http://schemas.openxmlformats.org/drawingml/2006/main">
              <a:ext uri="{FF2B5EF4-FFF2-40B4-BE49-F238E27FC236}">
                <a16:creationId xmlns:a16="http://schemas.microsoft.com/office/drawing/2014/main" id="{777B69D9-EB77-4173-A534-7A47EE32AB44}"/>
              </a:ext>
            </a:extLst>
          </p:cNvPr>
          <p:cNvSpPr>
            <a:spLocks xmlns:a="http://schemas.openxmlformats.org/drawingml/2006/main" noGrp="1"/>
          </p:cNvSpPr>
          <p:nvPr/>
        </p:nvSpPr>
        <p:spPr>
          <a:xfrm xmlns:a="http://schemas.openxmlformats.org/drawingml/2006/main">
            <a:off x="590550" y="14478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94A3B8"/>
                </a:solidFill>
                <a:latin typeface="PingFang SC"/>
                <a:ea typeface="PingFang SC"/>
                <a:cs typeface="PingFang SC"/>
              </a:defRPr>
            </a:pPr>
            <a:r>
              <a:rPr sz="1013" b="0">
                <a:solidFill>
                  <a:srgbClr val="94A3B8"/>
                </a:solidFill>
                <a:latin typeface="PingFang SC"/>
                <a:ea typeface="PingFang SC"/>
                <a:cs typeface="PingFang SC"/>
              </a:rPr>
              <a:t>控制端负责智能计算与策略训练，机器人服务端负责稳定硬件执行，两端用 action / observation 双通道连接。</a:t>
            </a:r>
          </a:p>
        </p:txBody>
      </p:sp>
      <p:sp>
        <p:nvSpPr>
          <p:cNvPr id="7" name="">
            <a:extLst xmlns:a="http://schemas.openxmlformats.org/drawingml/2006/main">
              <a:ext uri="{FF2B5EF4-FFF2-40B4-BE49-F238E27FC236}">
                <a16:creationId xmlns:a16="http://schemas.microsoft.com/office/drawing/2014/main" id="{9F40E11D-974A-4992-9F21-3AA24991691A}"/>
              </a:ext>
            </a:extLst>
          </p:cNvPr>
          <p:cNvSpPr>
            <a:spLocks xmlns:a="http://schemas.openxmlformats.org/drawingml/2006/main" noGrp="1"/>
          </p:cNvSpPr>
          <p:nvPr/>
        </p:nvSpPr>
        <p:spPr>
          <a:xfrm xmlns:a="http://schemas.openxmlformats.org/drawingml/2006/main">
            <a:off x="666750" y="2133600"/>
            <a:ext cx="1809750" cy="3028950"/>
          </a:xfrm>
          <a:prstGeom xmlns:a="http://schemas.openxmlformats.org/drawingml/2006/main" prst="rect">
            <a:avLst/>
          </a:prstGeom>
          <a:solidFill xmlns:a="http://schemas.openxmlformats.org/drawingml/2006/main">
            <a:srgbClr val="101A2D"/>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77E6416A-C4E6-489D-83CD-4F14BE7E7A2D}"/>
              </a:ext>
            </a:extLst>
          </p:cNvPr>
          <p:cNvSpPr>
            <a:spLocks xmlns:a="http://schemas.openxmlformats.org/drawingml/2006/main" noGrp="1"/>
          </p:cNvSpPr>
          <p:nvPr/>
        </p:nvSpPr>
        <p:spPr>
          <a:xfrm xmlns:a="http://schemas.openxmlformats.org/drawingml/2006/main">
            <a:off x="2857500" y="1866900"/>
            <a:ext cx="2952750" cy="3562350"/>
          </a:xfrm>
          <a:prstGeom xmlns:a="http://schemas.openxmlformats.org/drawingml/2006/main" prst="rect">
            <a:avLst/>
          </a:prstGeom>
          <a:solidFill xmlns:a="http://schemas.openxmlformats.org/drawingml/2006/main">
            <a:srgbClr val="111A2D"/>
          </a:solidFill>
          <a:ln xmlns:a="http://schemas.openxmlformats.org/drawingml/2006/main" w="19050">
            <a:solidFill>
              <a:srgbClr val="3B82F6"/>
            </a:solidFill>
            <a:prstDash val="solid"/>
          </a:ln>
        </p:spPr>
      </p:sp>
      <p:sp>
        <p:nvSpPr>
          <p:cNvPr id="9" name="">
            <a:extLst xmlns:a="http://schemas.openxmlformats.org/drawingml/2006/main">
              <a:ext uri="{FF2B5EF4-FFF2-40B4-BE49-F238E27FC236}">
                <a16:creationId xmlns:a16="http://schemas.microsoft.com/office/drawing/2014/main" id="{74F74FE4-25C8-4BA0-AE8E-839F138D4937}"/>
              </a:ext>
            </a:extLst>
          </p:cNvPr>
          <p:cNvSpPr>
            <a:spLocks xmlns:a="http://schemas.openxmlformats.org/drawingml/2006/main" noGrp="1"/>
          </p:cNvSpPr>
          <p:nvPr/>
        </p:nvSpPr>
        <p:spPr>
          <a:xfrm xmlns:a="http://schemas.openxmlformats.org/drawingml/2006/main">
            <a:off x="6191250" y="2133600"/>
            <a:ext cx="1524000" cy="3028950"/>
          </a:xfrm>
          <a:prstGeom xmlns:a="http://schemas.openxmlformats.org/drawingml/2006/main" prst="rect">
            <a:avLst/>
          </a:prstGeom>
          <a:solidFill xmlns:a="http://schemas.openxmlformats.org/drawingml/2006/main">
            <a:srgbClr val="0D2533"/>
          </a:solidFill>
          <a:ln xmlns:a="http://schemas.openxmlformats.org/drawingml/2006/main" w="19050">
            <a:solidFill>
              <a:srgbClr val="22D3EE"/>
            </a:solidFill>
            <a:prstDash val="solid"/>
          </a:ln>
        </p:spPr>
      </p:sp>
      <p:sp>
        <p:nvSpPr>
          <p:cNvPr id="10" name="">
            <a:extLst xmlns:a="http://schemas.openxmlformats.org/drawingml/2006/main">
              <a:ext uri="{FF2B5EF4-FFF2-40B4-BE49-F238E27FC236}">
                <a16:creationId xmlns:a16="http://schemas.microsoft.com/office/drawing/2014/main" id="{3F3A6549-FE0E-495A-A0FC-DB8457ADCABC}"/>
              </a:ext>
            </a:extLst>
          </p:cNvPr>
          <p:cNvSpPr>
            <a:spLocks xmlns:a="http://schemas.openxmlformats.org/drawingml/2006/main" noGrp="1"/>
          </p:cNvSpPr>
          <p:nvPr/>
        </p:nvSpPr>
        <p:spPr>
          <a:xfrm xmlns:a="http://schemas.openxmlformats.org/drawingml/2006/main">
            <a:off x="8096250" y="1866900"/>
            <a:ext cx="2952750" cy="3562350"/>
          </a:xfrm>
          <a:prstGeom xmlns:a="http://schemas.openxmlformats.org/drawingml/2006/main" prst="rect">
            <a:avLst/>
          </a:prstGeom>
          <a:solidFill xmlns:a="http://schemas.openxmlformats.org/drawingml/2006/main">
            <a:srgbClr val="111A2D"/>
          </a:solidFill>
          <a:ln xmlns:a="http://schemas.openxmlformats.org/drawingml/2006/main" w="19050">
            <a:solidFill>
              <a:srgbClr val="22C55E"/>
            </a:solidFill>
            <a:prstDash val="solid"/>
          </a:ln>
        </p:spPr>
      </p:sp>
      <p:sp>
        <p:nvSpPr>
          <p:cNvPr id="11" name="">
            <a:extLst xmlns:a="http://schemas.openxmlformats.org/drawingml/2006/main">
              <a:ext uri="{FF2B5EF4-FFF2-40B4-BE49-F238E27FC236}">
                <a16:creationId xmlns:a16="http://schemas.microsoft.com/office/drawing/2014/main" id="{7DDD1401-9881-4997-9BE9-D9691C9B06FF}"/>
              </a:ext>
            </a:extLst>
          </p:cNvPr>
          <p:cNvSpPr>
            <a:spLocks xmlns:a="http://schemas.openxmlformats.org/drawingml/2006/main" noGrp="1"/>
          </p:cNvSpPr>
          <p:nvPr/>
        </p:nvSpPr>
        <p:spPr>
          <a:xfrm xmlns:a="http://schemas.openxmlformats.org/drawingml/2006/main">
            <a:off x="914400" y="23622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AFC"/>
                </a:solidFill>
                <a:latin typeface="PingFang SC"/>
                <a:ea typeface="PingFang SC"/>
                <a:cs typeface="PingFang SC"/>
              </a:defRPr>
            </a:pPr>
            <a:r>
              <a:rPr sz="1350" b="1">
                <a:solidFill>
                  <a:srgbClr val="F7FAFC"/>
                </a:solidFill>
                <a:latin typeface="PingFang SC"/>
                <a:ea typeface="PingFang SC"/>
                <a:cs typeface="PingFang SC"/>
              </a:rPr>
              <a:t>交互入口</a:t>
            </a:r>
          </a:p>
        </p:txBody>
      </p:sp>
      <p:sp>
        <p:nvSpPr>
          <p:cNvPr id="12" name="">
            <a:extLst xmlns:a="http://schemas.openxmlformats.org/drawingml/2006/main">
              <a:ext uri="{FF2B5EF4-FFF2-40B4-BE49-F238E27FC236}">
                <a16:creationId xmlns:a16="http://schemas.microsoft.com/office/drawing/2014/main" id="{DF64EC0C-805E-4B9B-9BC4-38A3A38C221C}"/>
              </a:ext>
            </a:extLst>
          </p:cNvPr>
          <p:cNvSpPr>
            <a:spLocks xmlns:a="http://schemas.openxmlformats.org/drawingml/2006/main" noGrp="1"/>
          </p:cNvSpPr>
          <p:nvPr/>
        </p:nvSpPr>
        <p:spPr>
          <a:xfrm xmlns:a="http://schemas.openxmlformats.org/drawingml/2006/main">
            <a:off x="914400" y="2857500"/>
            <a:ext cx="1143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BD5E1"/>
                </a:solidFill>
                <a:latin typeface="PingFang SC"/>
                <a:ea typeface="PingFang SC"/>
                <a:cs typeface="PingFang SC"/>
              </a:defRPr>
            </a:pPr>
            <a:r>
              <a:rPr sz="1050" b="0">
                <a:solidFill>
                  <a:srgbClr val="CBD5E1"/>
                </a:solidFill>
                <a:latin typeface="PingFang SC"/>
                <a:ea typeface="PingFang SC"/>
                <a:cs typeface="PingFang SC"/>
              </a:rPr>
              <a:t>文字任务</a:t>
            </a:r>
          </a:p>
          <a:p xmlns:a="http://schemas.openxmlformats.org/drawingml/2006/main">
            <a:pPr algn="l">
              <a:defRPr sz="1050" b="0">
                <a:solidFill>
                  <a:srgbClr val="CBD5E1"/>
                </a:solidFill>
                <a:latin typeface="PingFang SC"/>
                <a:ea typeface="PingFang SC"/>
                <a:cs typeface="PingFang SC"/>
              </a:defRPr>
            </a:pPr>
            <a:r>
              <a:rPr sz="1050" b="0">
                <a:solidFill>
                  <a:srgbClr val="CBD5E1"/>
                </a:solidFill>
                <a:latin typeface="PingFang SC"/>
                <a:ea typeface="PingFang SC"/>
                <a:cs typeface="PingFang SC"/>
              </a:rPr>
              <a:t>语音指令</a:t>
            </a:r>
          </a:p>
          <a:p xmlns:a="http://schemas.openxmlformats.org/drawingml/2006/main">
            <a:pPr algn="l">
              <a:defRPr sz="1050" b="0">
                <a:solidFill>
                  <a:srgbClr val="CBD5E1"/>
                </a:solidFill>
                <a:latin typeface="PingFang SC"/>
                <a:ea typeface="PingFang SC"/>
                <a:cs typeface="PingFang SC"/>
              </a:defRPr>
            </a:pPr>
            <a:r>
              <a:rPr sz="1050" b="0">
                <a:solidFill>
                  <a:srgbClr val="CBD5E1"/>
                </a:solidFill>
                <a:latin typeface="PingFang SC"/>
                <a:ea typeface="PingFang SC"/>
                <a:cs typeface="PingFang SC"/>
              </a:rPr>
              <a:t>Web 控制台</a:t>
            </a:r>
          </a:p>
          <a:p xmlns:a="http://schemas.openxmlformats.org/drawingml/2006/main">
            <a:pPr algn="l">
              <a:defRPr sz="1050" b="0">
                <a:solidFill>
                  <a:srgbClr val="CBD5E1"/>
                </a:solidFill>
                <a:latin typeface="PingFang SC"/>
                <a:ea typeface="PingFang SC"/>
                <a:cs typeface="PingFang SC"/>
              </a:defRPr>
            </a:pPr>
            <a:r>
              <a:rPr sz="1050" b="0">
                <a:solidFill>
                  <a:srgbClr val="CBD5E1"/>
                </a:solidFill>
                <a:latin typeface="PingFang SC"/>
                <a:ea typeface="PingFang SC"/>
                <a:cs typeface="PingFang SC"/>
              </a:rPr>
              <a:t>摄像头预览</a:t>
            </a:r>
          </a:p>
        </p:txBody>
      </p:sp>
      <p:sp>
        <p:nvSpPr>
          <p:cNvPr id="13" name="">
            <a:extLst xmlns:a="http://schemas.openxmlformats.org/drawingml/2006/main">
              <a:ext uri="{FF2B5EF4-FFF2-40B4-BE49-F238E27FC236}">
                <a16:creationId xmlns:a16="http://schemas.microsoft.com/office/drawing/2014/main" id="{62D5208E-AB4A-433C-B71E-F33B14DB6793}"/>
              </a:ext>
            </a:extLst>
          </p:cNvPr>
          <p:cNvSpPr>
            <a:spLocks xmlns:a="http://schemas.openxmlformats.org/drawingml/2006/main" noGrp="1"/>
          </p:cNvSpPr>
          <p:nvPr/>
        </p:nvSpPr>
        <p:spPr>
          <a:xfrm xmlns:a="http://schemas.openxmlformats.org/drawingml/2006/main">
            <a:off x="3105150" y="21145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AFC"/>
                </a:solidFill>
                <a:latin typeface="PingFang SC"/>
                <a:ea typeface="PingFang SC"/>
                <a:cs typeface="PingFang SC"/>
              </a:defRPr>
            </a:pPr>
            <a:r>
              <a:rPr sz="1350" b="1">
                <a:solidFill>
                  <a:srgbClr val="F7FAFC"/>
                </a:solidFill>
                <a:latin typeface="PingFang SC"/>
                <a:ea typeface="PingFang SC"/>
                <a:cs typeface="PingFang SC"/>
              </a:rPr>
              <a:t>Windows 智能控制端</a:t>
            </a:r>
          </a:p>
        </p:txBody>
      </p:sp>
      <p:sp>
        <p:nvSpPr>
          <p:cNvPr id="14" name="">
            <a:extLst xmlns:a="http://schemas.openxmlformats.org/drawingml/2006/main">
              <a:ext uri="{FF2B5EF4-FFF2-40B4-BE49-F238E27FC236}">
                <a16:creationId xmlns:a16="http://schemas.microsoft.com/office/drawing/2014/main" id="{E4E2808B-5162-464A-A684-5EAE1983AE72}"/>
              </a:ext>
            </a:extLst>
          </p:cNvPr>
          <p:cNvSpPr>
            <a:spLocks xmlns:a="http://schemas.openxmlformats.org/drawingml/2006/main" noGrp="1"/>
          </p:cNvSpPr>
          <p:nvPr/>
        </p:nvSpPr>
        <p:spPr>
          <a:xfrm xmlns:a="http://schemas.openxmlformats.org/drawingml/2006/main">
            <a:off x="3143250" y="2571750"/>
            <a:ext cx="2266950" cy="419100"/>
          </a:xfrm>
          <a:prstGeom xmlns:a="http://schemas.openxmlformats.org/drawingml/2006/main" prst="rect">
            <a:avLst/>
          </a:prstGeom>
          <a:solidFill xmlns:a="http://schemas.openxmlformats.org/drawingml/2006/main">
            <a:srgbClr val="0B2340"/>
          </a:solidFill>
          <a:ln xmlns:a="http://schemas.openxmlformats.org/drawingml/2006/main" w="9525">
            <a:solidFill>
              <a:srgbClr val="3B82F6"/>
            </a:solidFill>
            <a:prstDash val="solid"/>
          </a:ln>
        </p:spPr>
      </p:sp>
      <p:sp>
        <p:nvSpPr>
          <p:cNvPr id="15" name="">
            <a:extLst xmlns:a="http://schemas.openxmlformats.org/drawingml/2006/main">
              <a:ext uri="{FF2B5EF4-FFF2-40B4-BE49-F238E27FC236}">
                <a16:creationId xmlns:a16="http://schemas.microsoft.com/office/drawing/2014/main" id="{D4CDED64-7CAC-48B6-9B85-9C93F1C2F6AB}"/>
              </a:ext>
            </a:extLst>
          </p:cNvPr>
          <p:cNvSpPr>
            <a:spLocks xmlns:a="http://schemas.openxmlformats.org/drawingml/2006/main" noGrp="1"/>
          </p:cNvSpPr>
          <p:nvPr/>
        </p:nvSpPr>
        <p:spPr>
          <a:xfrm xmlns:a="http://schemas.openxmlformats.org/drawingml/2006/main">
            <a:off x="3143250" y="3105150"/>
            <a:ext cx="2266950" cy="419100"/>
          </a:xfrm>
          <a:prstGeom xmlns:a="http://schemas.openxmlformats.org/drawingml/2006/main" prst="rect">
            <a:avLst/>
          </a:prstGeom>
          <a:solidFill xmlns:a="http://schemas.openxmlformats.org/drawingml/2006/main">
            <a:srgbClr val="0B2340"/>
          </a:solidFill>
          <a:ln xmlns:a="http://schemas.openxmlformats.org/drawingml/2006/main" w="9525">
            <a:solidFill>
              <a:srgbClr val="3B82F6"/>
            </a:solidFill>
            <a:prstDash val="solid"/>
          </a:ln>
        </p:spPr>
      </p:sp>
      <p:sp>
        <p:nvSpPr>
          <p:cNvPr id="16" name="">
            <a:extLst xmlns:a="http://schemas.openxmlformats.org/drawingml/2006/main">
              <a:ext uri="{FF2B5EF4-FFF2-40B4-BE49-F238E27FC236}">
                <a16:creationId xmlns:a16="http://schemas.microsoft.com/office/drawing/2014/main" id="{0E423212-AC6F-4F52-B1E9-29A4DB9538E6}"/>
              </a:ext>
            </a:extLst>
          </p:cNvPr>
          <p:cNvSpPr>
            <a:spLocks xmlns:a="http://schemas.openxmlformats.org/drawingml/2006/main" noGrp="1"/>
          </p:cNvSpPr>
          <p:nvPr/>
        </p:nvSpPr>
        <p:spPr>
          <a:xfrm xmlns:a="http://schemas.openxmlformats.org/drawingml/2006/main">
            <a:off x="3143250" y="3638550"/>
            <a:ext cx="2266950" cy="419100"/>
          </a:xfrm>
          <a:prstGeom xmlns:a="http://schemas.openxmlformats.org/drawingml/2006/main" prst="rect">
            <a:avLst/>
          </a:prstGeom>
          <a:solidFill xmlns:a="http://schemas.openxmlformats.org/drawingml/2006/main">
            <a:srgbClr val="0B2340"/>
          </a:solidFill>
          <a:ln xmlns:a="http://schemas.openxmlformats.org/drawingml/2006/main" w="9525">
            <a:solidFill>
              <a:srgbClr val="3B82F6"/>
            </a:solidFill>
            <a:prstDash val="solid"/>
          </a:ln>
        </p:spPr>
      </p:sp>
      <p:sp>
        <p:nvSpPr>
          <p:cNvPr id="17" name="">
            <a:extLst xmlns:a="http://schemas.openxmlformats.org/drawingml/2006/main">
              <a:ext uri="{FF2B5EF4-FFF2-40B4-BE49-F238E27FC236}">
                <a16:creationId xmlns:a16="http://schemas.microsoft.com/office/drawing/2014/main" id="{8465705C-102D-46D7-8CE9-B6437792A9E1}"/>
              </a:ext>
            </a:extLst>
          </p:cNvPr>
          <p:cNvSpPr>
            <a:spLocks xmlns:a="http://schemas.openxmlformats.org/drawingml/2006/main" noGrp="1"/>
          </p:cNvSpPr>
          <p:nvPr/>
        </p:nvSpPr>
        <p:spPr>
          <a:xfrm xmlns:a="http://schemas.openxmlformats.org/drawingml/2006/main">
            <a:off x="3143250" y="4171950"/>
            <a:ext cx="2266950" cy="419100"/>
          </a:xfrm>
          <a:prstGeom xmlns:a="http://schemas.openxmlformats.org/drawingml/2006/main" prst="rect">
            <a:avLst/>
          </a:prstGeom>
          <a:solidFill xmlns:a="http://schemas.openxmlformats.org/drawingml/2006/main">
            <a:srgbClr val="0B2340"/>
          </a:solidFill>
          <a:ln xmlns:a="http://schemas.openxmlformats.org/drawingml/2006/main" w="9525">
            <a:solidFill>
              <a:srgbClr val="3B82F6"/>
            </a:solidFill>
            <a:prstDash val="solid"/>
          </a:ln>
        </p:spPr>
      </p:sp>
      <p:sp>
        <p:nvSpPr>
          <p:cNvPr id="18" name="">
            <a:extLst xmlns:a="http://schemas.openxmlformats.org/drawingml/2006/main">
              <a:ext uri="{FF2B5EF4-FFF2-40B4-BE49-F238E27FC236}">
                <a16:creationId xmlns:a16="http://schemas.microsoft.com/office/drawing/2014/main" id="{E6704F06-DDE2-45D4-A690-2281949A8546}"/>
              </a:ext>
            </a:extLst>
          </p:cNvPr>
          <p:cNvSpPr>
            <a:spLocks xmlns:a="http://schemas.openxmlformats.org/drawingml/2006/main" noGrp="1"/>
          </p:cNvSpPr>
          <p:nvPr/>
        </p:nvSpPr>
        <p:spPr>
          <a:xfrm xmlns:a="http://schemas.openxmlformats.org/drawingml/2006/main">
            <a:off x="3333750" y="27051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任务路由 / LLM 工具调用</a:t>
            </a:r>
          </a:p>
        </p:txBody>
      </p:sp>
      <p:sp>
        <p:nvSpPr>
          <p:cNvPr id="19" name="">
            <a:extLst xmlns:a="http://schemas.openxmlformats.org/drawingml/2006/main">
              <a:ext uri="{FF2B5EF4-FFF2-40B4-BE49-F238E27FC236}">
                <a16:creationId xmlns:a16="http://schemas.microsoft.com/office/drawing/2014/main" id="{A9E1E128-55F3-4F8A-A6DA-8672C4576A4D}"/>
              </a:ext>
            </a:extLst>
          </p:cNvPr>
          <p:cNvSpPr>
            <a:spLocks xmlns:a="http://schemas.openxmlformats.org/drawingml/2006/main" noGrp="1"/>
          </p:cNvSpPr>
          <p:nvPr/>
        </p:nvSpPr>
        <p:spPr>
          <a:xfrm xmlns:a="http://schemas.openxmlformats.org/drawingml/2006/main">
            <a:off x="3333750" y="32385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Whisper 语音识别</a:t>
            </a:r>
          </a:p>
        </p:txBody>
      </p:sp>
      <p:sp>
        <p:nvSpPr>
          <p:cNvPr id="20" name="">
            <a:extLst xmlns:a="http://schemas.openxmlformats.org/drawingml/2006/main">
              <a:ext uri="{FF2B5EF4-FFF2-40B4-BE49-F238E27FC236}">
                <a16:creationId xmlns:a16="http://schemas.microsoft.com/office/drawing/2014/main" id="{77E9E034-2267-4EA6-95CA-BA1399051170}"/>
              </a:ext>
            </a:extLst>
          </p:cNvPr>
          <p:cNvSpPr>
            <a:spLocks xmlns:a="http://schemas.openxmlformats.org/drawingml/2006/main" noGrp="1"/>
          </p:cNvSpPr>
          <p:nvPr/>
        </p:nvSpPr>
        <p:spPr>
          <a:xfrm xmlns:a="http://schemas.openxmlformats.org/drawingml/2006/main">
            <a:off x="3333750" y="37719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视觉处理 / 摄像头预览</a:t>
            </a:r>
          </a:p>
        </p:txBody>
      </p:sp>
      <p:sp>
        <p:nvSpPr>
          <p:cNvPr id="21" name="">
            <a:extLst xmlns:a="http://schemas.openxmlformats.org/drawingml/2006/main">
              <a:ext uri="{FF2B5EF4-FFF2-40B4-BE49-F238E27FC236}">
                <a16:creationId xmlns:a16="http://schemas.microsoft.com/office/drawing/2014/main" id="{E51220C1-A36D-499A-8390-2D22DCAF0CC3}"/>
              </a:ext>
            </a:extLst>
          </p:cNvPr>
          <p:cNvSpPr>
            <a:spLocks xmlns:a="http://schemas.openxmlformats.org/drawingml/2006/main" noGrp="1"/>
          </p:cNvSpPr>
          <p:nvPr/>
        </p:nvSpPr>
        <p:spPr>
          <a:xfrm xmlns:a="http://schemas.openxmlformats.org/drawingml/2006/main">
            <a:off x="3333750" y="43053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LeRobot 数据采集 / ACT 训练</a:t>
            </a:r>
          </a:p>
        </p:txBody>
      </p:sp>
      <p:sp>
        <p:nvSpPr>
          <p:cNvPr id="22" name="">
            <a:extLst xmlns:a="http://schemas.openxmlformats.org/drawingml/2006/main">
              <a:ext uri="{FF2B5EF4-FFF2-40B4-BE49-F238E27FC236}">
                <a16:creationId xmlns:a16="http://schemas.microsoft.com/office/drawing/2014/main" id="{DF44A842-39DF-4BCF-A522-3BE8BC659BE1}"/>
              </a:ext>
            </a:extLst>
          </p:cNvPr>
          <p:cNvSpPr>
            <a:spLocks xmlns:a="http://schemas.openxmlformats.org/drawingml/2006/main" noGrp="1"/>
          </p:cNvSpPr>
          <p:nvPr/>
        </p:nvSpPr>
        <p:spPr>
          <a:xfrm xmlns:a="http://schemas.openxmlformats.org/drawingml/2006/main">
            <a:off x="3257550" y="48768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远程适配：保持官方工具接口</a:t>
            </a:r>
          </a:p>
        </p:txBody>
      </p:sp>
      <p:sp>
        <p:nvSpPr>
          <p:cNvPr id="23" name="">
            <a:extLst xmlns:a="http://schemas.openxmlformats.org/drawingml/2006/main">
              <a:ext uri="{FF2B5EF4-FFF2-40B4-BE49-F238E27FC236}">
                <a16:creationId xmlns:a16="http://schemas.microsoft.com/office/drawing/2014/main" id="{5CA85E7D-911B-410F-9A90-761D4C403E10}"/>
              </a:ext>
            </a:extLst>
          </p:cNvPr>
          <p:cNvSpPr>
            <a:spLocks xmlns:a="http://schemas.openxmlformats.org/drawingml/2006/main" noGrp="1"/>
          </p:cNvSpPr>
          <p:nvPr/>
        </p:nvSpPr>
        <p:spPr>
          <a:xfrm xmlns:a="http://schemas.openxmlformats.org/drawingml/2006/main">
            <a:off x="6496050" y="2457450"/>
            <a:ext cx="9144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a:solidFill>
                  <a:srgbClr val="F7FAFC"/>
                </a:solidFill>
                <a:latin typeface="PingFang SC"/>
                <a:ea typeface="PingFang SC"/>
                <a:cs typeface="PingFang SC"/>
              </a:defRPr>
            </a:pPr>
            <a:r>
              <a:rPr sz="1725" b="1">
                <a:solidFill>
                  <a:srgbClr val="F7FAFC"/>
                </a:solidFill>
                <a:latin typeface="PingFang SC"/>
                <a:ea typeface="PingFang SC"/>
                <a:cs typeface="PingFang SC"/>
              </a:rPr>
              <a:t>ZMQ</a:t>
            </a:r>
          </a:p>
          <a:p xmlns:a="http://schemas.openxmlformats.org/drawingml/2006/main">
            <a:pPr algn="ctr">
              <a:defRPr sz="1725" b="1">
                <a:solidFill>
                  <a:srgbClr val="F7FAFC"/>
                </a:solidFill>
                <a:latin typeface="PingFang SC"/>
                <a:ea typeface="PingFang SC"/>
                <a:cs typeface="PingFang SC"/>
              </a:defRPr>
            </a:pPr>
            <a:r>
              <a:rPr sz="1725" b="1">
                <a:solidFill>
                  <a:srgbClr val="F7FAFC"/>
                </a:solidFill>
                <a:latin typeface="PingFang SC"/>
                <a:ea typeface="PingFang SC"/>
                <a:cs typeface="PingFang SC"/>
              </a:rPr>
              <a:t>双通道</a:t>
            </a:r>
          </a:p>
        </p:txBody>
      </p:sp>
      <p:sp>
        <p:nvSpPr>
          <p:cNvPr id="24" name="">
            <a:extLst xmlns:a="http://schemas.openxmlformats.org/drawingml/2006/main">
              <a:ext uri="{FF2B5EF4-FFF2-40B4-BE49-F238E27FC236}">
                <a16:creationId xmlns:a16="http://schemas.microsoft.com/office/drawing/2014/main" id="{34DB5285-B9B0-4150-AB24-BCA5BB4AB3FC}"/>
              </a:ext>
            </a:extLst>
          </p:cNvPr>
          <p:cNvSpPr>
            <a:spLocks xmlns:a="http://schemas.openxmlformats.org/drawingml/2006/main" noGrp="1"/>
          </p:cNvSpPr>
          <p:nvPr/>
        </p:nvSpPr>
        <p:spPr>
          <a:xfrm xmlns:a="http://schemas.openxmlformats.org/drawingml/2006/main">
            <a:off x="6381750" y="3257550"/>
            <a:ext cx="1123950" cy="419100"/>
          </a:xfrm>
          <a:prstGeom xmlns:a="http://schemas.openxmlformats.org/drawingml/2006/main" prst="rect">
            <a:avLst/>
          </a:prstGeom>
          <a:solidFill xmlns:a="http://schemas.openxmlformats.org/drawingml/2006/main">
            <a:srgbClr val="0B1020"/>
          </a:solidFill>
          <a:ln xmlns:a="http://schemas.openxmlformats.org/drawingml/2006/main" w="9525">
            <a:solidFill>
              <a:srgbClr val="3B82F6"/>
            </a:solidFill>
            <a:prstDash val="solid"/>
          </a:ln>
        </p:spPr>
      </p:sp>
      <p:sp>
        <p:nvSpPr>
          <p:cNvPr id="25" name="">
            <a:extLst xmlns:a="http://schemas.openxmlformats.org/drawingml/2006/main">
              <a:ext uri="{FF2B5EF4-FFF2-40B4-BE49-F238E27FC236}">
                <a16:creationId xmlns:a16="http://schemas.microsoft.com/office/drawing/2014/main" id="{A499B196-A30A-4232-B83B-FB0941DA6C98}"/>
              </a:ext>
            </a:extLst>
          </p:cNvPr>
          <p:cNvSpPr>
            <a:spLocks xmlns:a="http://schemas.openxmlformats.org/drawingml/2006/main" noGrp="1"/>
          </p:cNvSpPr>
          <p:nvPr/>
        </p:nvSpPr>
        <p:spPr>
          <a:xfrm xmlns:a="http://schemas.openxmlformats.org/drawingml/2006/main">
            <a:off x="6381750" y="3867150"/>
            <a:ext cx="1123950" cy="419100"/>
          </a:xfrm>
          <a:prstGeom xmlns:a="http://schemas.openxmlformats.org/drawingml/2006/main" prst="rect">
            <a:avLst/>
          </a:prstGeom>
          <a:solidFill xmlns:a="http://schemas.openxmlformats.org/drawingml/2006/main">
            <a:srgbClr val="0B1020"/>
          </a:solidFill>
          <a:ln xmlns:a="http://schemas.openxmlformats.org/drawingml/2006/main" w="9525">
            <a:solidFill>
              <a:srgbClr val="22C55E"/>
            </a:solidFill>
            <a:prstDash val="solid"/>
          </a:ln>
        </p:spPr>
      </p:sp>
      <p:sp>
        <p:nvSpPr>
          <p:cNvPr id="26" name="">
            <a:extLst xmlns:a="http://schemas.openxmlformats.org/drawingml/2006/main">
              <a:ext uri="{FF2B5EF4-FFF2-40B4-BE49-F238E27FC236}">
                <a16:creationId xmlns:a16="http://schemas.microsoft.com/office/drawing/2014/main" id="{E21B699D-A806-49A0-9D03-1DA38A6FF494}"/>
              </a:ext>
            </a:extLst>
          </p:cNvPr>
          <p:cNvSpPr>
            <a:spLocks xmlns:a="http://schemas.openxmlformats.org/drawingml/2006/main" noGrp="1"/>
          </p:cNvSpPr>
          <p:nvPr/>
        </p:nvSpPr>
        <p:spPr>
          <a:xfrm xmlns:a="http://schemas.openxmlformats.org/drawingml/2006/main">
            <a:off x="6553200" y="3390900"/>
            <a:ext cx="7810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3B82F6"/>
                </a:solidFill>
                <a:latin typeface="PingFang SC"/>
                <a:ea typeface="PingFang SC"/>
                <a:cs typeface="PingFang SC"/>
              </a:defRPr>
            </a:pPr>
            <a:r>
              <a:rPr sz="825" b="1">
                <a:solidFill>
                  <a:srgbClr val="3B82F6"/>
                </a:solidFill>
                <a:latin typeface="PingFang SC"/>
                <a:ea typeface="PingFang SC"/>
                <a:cs typeface="PingFang SC"/>
              </a:rPr>
              <a:t>5555 action</a:t>
            </a:r>
          </a:p>
        </p:txBody>
      </p:sp>
      <p:sp>
        <p:nvSpPr>
          <p:cNvPr id="27" name="">
            <a:extLst xmlns:a="http://schemas.openxmlformats.org/drawingml/2006/main">
              <a:ext uri="{FF2B5EF4-FFF2-40B4-BE49-F238E27FC236}">
                <a16:creationId xmlns:a16="http://schemas.microsoft.com/office/drawing/2014/main" id="{4D6F78B8-BB04-4741-A383-BCE895268240}"/>
              </a:ext>
            </a:extLst>
          </p:cNvPr>
          <p:cNvSpPr>
            <a:spLocks xmlns:a="http://schemas.openxmlformats.org/drawingml/2006/main" noGrp="1"/>
          </p:cNvSpPr>
          <p:nvPr/>
        </p:nvSpPr>
        <p:spPr>
          <a:xfrm xmlns:a="http://schemas.openxmlformats.org/drawingml/2006/main">
            <a:off x="6477000" y="4000500"/>
            <a:ext cx="952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2C55E"/>
                </a:solidFill>
                <a:latin typeface="PingFang SC"/>
                <a:ea typeface="PingFang SC"/>
                <a:cs typeface="PingFang SC"/>
              </a:defRPr>
            </a:pPr>
            <a:r>
              <a:rPr sz="788" b="1">
                <a:solidFill>
                  <a:srgbClr val="22C55E"/>
                </a:solidFill>
                <a:latin typeface="PingFang SC"/>
                <a:ea typeface="PingFang SC"/>
                <a:cs typeface="PingFang SC"/>
              </a:rPr>
              <a:t>5556 observation</a:t>
            </a:r>
          </a:p>
        </p:txBody>
      </p:sp>
      <p:sp>
        <p:nvSpPr>
          <p:cNvPr id="28" name="">
            <a:extLst xmlns:a="http://schemas.openxmlformats.org/drawingml/2006/main">
              <a:ext uri="{FF2B5EF4-FFF2-40B4-BE49-F238E27FC236}">
                <a16:creationId xmlns:a16="http://schemas.microsoft.com/office/drawing/2014/main" id="{2DD3EC4A-1F6A-4405-890A-25019FAA61AE}"/>
              </a:ext>
            </a:extLst>
          </p:cNvPr>
          <p:cNvSpPr>
            <a:spLocks xmlns:a="http://schemas.openxmlformats.org/drawingml/2006/main" noGrp="1"/>
          </p:cNvSpPr>
          <p:nvPr/>
        </p:nvSpPr>
        <p:spPr>
          <a:xfrm xmlns:a="http://schemas.openxmlformats.org/drawingml/2006/main">
            <a:off x="8343900" y="21145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AFC"/>
                </a:solidFill>
                <a:latin typeface="PingFang SC"/>
                <a:ea typeface="PingFang SC"/>
                <a:cs typeface="PingFang SC"/>
              </a:defRPr>
            </a:pPr>
            <a:r>
              <a:rPr sz="1350" b="1">
                <a:solidFill>
                  <a:srgbClr val="F7FAFC"/>
                </a:solidFill>
                <a:latin typeface="PingFang SC"/>
                <a:ea typeface="PingFang SC"/>
                <a:cs typeface="PingFang SC"/>
              </a:rPr>
              <a:t>树莓派机器人服务端</a:t>
            </a:r>
          </a:p>
        </p:txBody>
      </p:sp>
      <p:sp>
        <p:nvSpPr>
          <p:cNvPr id="29" name="">
            <a:extLst xmlns:a="http://schemas.openxmlformats.org/drawingml/2006/main">
              <a:ext uri="{FF2B5EF4-FFF2-40B4-BE49-F238E27FC236}">
                <a16:creationId xmlns:a16="http://schemas.microsoft.com/office/drawing/2014/main" id="{6CBAF0C8-690F-4203-817F-7114F6C06646}"/>
              </a:ext>
            </a:extLst>
          </p:cNvPr>
          <p:cNvSpPr>
            <a:spLocks xmlns:a="http://schemas.openxmlformats.org/drawingml/2006/main" noGrp="1"/>
          </p:cNvSpPr>
          <p:nvPr/>
        </p:nvSpPr>
        <p:spPr>
          <a:xfrm xmlns:a="http://schemas.openxmlformats.org/drawingml/2006/main">
            <a:off x="8382000" y="2571750"/>
            <a:ext cx="2266950" cy="419100"/>
          </a:xfrm>
          <a:prstGeom xmlns:a="http://schemas.openxmlformats.org/drawingml/2006/main" prst="rect">
            <a:avLst/>
          </a:prstGeom>
          <a:solidFill xmlns:a="http://schemas.openxmlformats.org/drawingml/2006/main">
            <a:srgbClr val="0B2A1E"/>
          </a:solidFill>
          <a:ln xmlns:a="http://schemas.openxmlformats.org/drawingml/2006/main" w="9525">
            <a:solidFill>
              <a:srgbClr val="22C55E"/>
            </a:solidFill>
            <a:prstDash val="solid"/>
          </a:ln>
        </p:spPr>
      </p:sp>
      <p:sp>
        <p:nvSpPr>
          <p:cNvPr id="30" name="">
            <a:extLst xmlns:a="http://schemas.openxmlformats.org/drawingml/2006/main">
              <a:ext uri="{FF2B5EF4-FFF2-40B4-BE49-F238E27FC236}">
                <a16:creationId xmlns:a16="http://schemas.microsoft.com/office/drawing/2014/main" id="{FE4B0C81-9C1A-4CF6-8839-6DC3F319307F}"/>
              </a:ext>
            </a:extLst>
          </p:cNvPr>
          <p:cNvSpPr>
            <a:spLocks xmlns:a="http://schemas.openxmlformats.org/drawingml/2006/main" noGrp="1"/>
          </p:cNvSpPr>
          <p:nvPr/>
        </p:nvSpPr>
        <p:spPr>
          <a:xfrm xmlns:a="http://schemas.openxmlformats.org/drawingml/2006/main">
            <a:off x="8382000" y="3105150"/>
            <a:ext cx="2266950" cy="419100"/>
          </a:xfrm>
          <a:prstGeom xmlns:a="http://schemas.openxmlformats.org/drawingml/2006/main" prst="rect">
            <a:avLst/>
          </a:prstGeom>
          <a:solidFill xmlns:a="http://schemas.openxmlformats.org/drawingml/2006/main">
            <a:srgbClr val="0B2A1E"/>
          </a:solidFill>
          <a:ln xmlns:a="http://schemas.openxmlformats.org/drawingml/2006/main" w="9525">
            <a:solidFill>
              <a:srgbClr val="22C55E"/>
            </a:solidFill>
            <a:prstDash val="solid"/>
          </a:ln>
        </p:spPr>
      </p:sp>
      <p:sp>
        <p:nvSpPr>
          <p:cNvPr id="31" name="">
            <a:extLst xmlns:a="http://schemas.openxmlformats.org/drawingml/2006/main">
              <a:ext uri="{FF2B5EF4-FFF2-40B4-BE49-F238E27FC236}">
                <a16:creationId xmlns:a16="http://schemas.microsoft.com/office/drawing/2014/main" id="{5E0148C6-8DF4-4756-A5D6-72D422683494}"/>
              </a:ext>
            </a:extLst>
          </p:cNvPr>
          <p:cNvSpPr>
            <a:spLocks xmlns:a="http://schemas.openxmlformats.org/drawingml/2006/main" noGrp="1"/>
          </p:cNvSpPr>
          <p:nvPr/>
        </p:nvSpPr>
        <p:spPr>
          <a:xfrm xmlns:a="http://schemas.openxmlformats.org/drawingml/2006/main">
            <a:off x="8382000" y="3638550"/>
            <a:ext cx="2266950" cy="419100"/>
          </a:xfrm>
          <a:prstGeom xmlns:a="http://schemas.openxmlformats.org/drawingml/2006/main" prst="rect">
            <a:avLst/>
          </a:prstGeom>
          <a:solidFill xmlns:a="http://schemas.openxmlformats.org/drawingml/2006/main">
            <a:srgbClr val="0B2A1E"/>
          </a:solidFill>
          <a:ln xmlns:a="http://schemas.openxmlformats.org/drawingml/2006/main" w="9525">
            <a:solidFill>
              <a:srgbClr val="22C55E"/>
            </a:solidFill>
            <a:prstDash val="solid"/>
          </a:ln>
        </p:spPr>
      </p:sp>
      <p:sp>
        <p:nvSpPr>
          <p:cNvPr id="32" name="">
            <a:extLst xmlns:a="http://schemas.openxmlformats.org/drawingml/2006/main">
              <a:ext uri="{FF2B5EF4-FFF2-40B4-BE49-F238E27FC236}">
                <a16:creationId xmlns:a16="http://schemas.microsoft.com/office/drawing/2014/main" id="{C090EA8B-A07A-4727-AAB6-EB85B6A160AB}"/>
              </a:ext>
            </a:extLst>
          </p:cNvPr>
          <p:cNvSpPr>
            <a:spLocks xmlns:a="http://schemas.openxmlformats.org/drawingml/2006/main" noGrp="1"/>
          </p:cNvSpPr>
          <p:nvPr/>
        </p:nvSpPr>
        <p:spPr>
          <a:xfrm xmlns:a="http://schemas.openxmlformats.org/drawingml/2006/main">
            <a:off x="8382000" y="4171950"/>
            <a:ext cx="2266950" cy="419100"/>
          </a:xfrm>
          <a:prstGeom xmlns:a="http://schemas.openxmlformats.org/drawingml/2006/main" prst="rect">
            <a:avLst/>
          </a:prstGeom>
          <a:solidFill xmlns:a="http://schemas.openxmlformats.org/drawingml/2006/main">
            <a:srgbClr val="0B2A1E"/>
          </a:solidFill>
          <a:ln xmlns:a="http://schemas.openxmlformats.org/drawingml/2006/main" w="9525">
            <a:solidFill>
              <a:srgbClr val="22C55E"/>
            </a:solidFill>
            <a:prstDash val="solid"/>
          </a:ln>
        </p:spPr>
      </p:sp>
      <p:sp>
        <p:nvSpPr>
          <p:cNvPr id="33" name="">
            <a:extLst xmlns:a="http://schemas.openxmlformats.org/drawingml/2006/main">
              <a:ext uri="{FF2B5EF4-FFF2-40B4-BE49-F238E27FC236}">
                <a16:creationId xmlns:a16="http://schemas.microsoft.com/office/drawing/2014/main" id="{08A5DAC2-5078-42AF-9D98-290A01B52F55}"/>
              </a:ext>
            </a:extLst>
          </p:cNvPr>
          <p:cNvSpPr>
            <a:spLocks xmlns:a="http://schemas.openxmlformats.org/drawingml/2006/main" noGrp="1"/>
          </p:cNvSpPr>
          <p:nvPr/>
        </p:nvSpPr>
        <p:spPr>
          <a:xfrm xmlns:a="http://schemas.openxmlformats.org/drawingml/2006/main">
            <a:off x="8572500" y="27051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舵机总线：双臂 / 头部</a:t>
            </a:r>
          </a:p>
        </p:txBody>
      </p:sp>
      <p:sp>
        <p:nvSpPr>
          <p:cNvPr id="34" name="">
            <a:extLst xmlns:a="http://schemas.openxmlformats.org/drawingml/2006/main">
              <a:ext uri="{FF2B5EF4-FFF2-40B4-BE49-F238E27FC236}">
                <a16:creationId xmlns:a16="http://schemas.microsoft.com/office/drawing/2014/main" id="{4427C3EC-FD50-4D88-B3A0-BA77901671DB}"/>
              </a:ext>
            </a:extLst>
          </p:cNvPr>
          <p:cNvSpPr>
            <a:spLocks xmlns:a="http://schemas.openxmlformats.org/drawingml/2006/main" noGrp="1"/>
          </p:cNvSpPr>
          <p:nvPr/>
        </p:nvSpPr>
        <p:spPr>
          <a:xfrm xmlns:a="http://schemas.openxmlformats.org/drawingml/2006/main">
            <a:off x="8572500" y="32385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三路摄像头：现场图像</a:t>
            </a:r>
          </a:p>
        </p:txBody>
      </p:sp>
      <p:sp>
        <p:nvSpPr>
          <p:cNvPr id="35" name="">
            <a:extLst xmlns:a="http://schemas.openxmlformats.org/drawingml/2006/main">
              <a:ext uri="{FF2B5EF4-FFF2-40B4-BE49-F238E27FC236}">
                <a16:creationId xmlns:a16="http://schemas.microsoft.com/office/drawing/2014/main" id="{728F5E07-0FB3-43C8-B413-F02AE5F7AA35}"/>
              </a:ext>
            </a:extLst>
          </p:cNvPr>
          <p:cNvSpPr>
            <a:spLocks xmlns:a="http://schemas.openxmlformats.org/drawingml/2006/main" noGrp="1"/>
          </p:cNvSpPr>
          <p:nvPr/>
        </p:nvSpPr>
        <p:spPr>
          <a:xfrm xmlns:a="http://schemas.openxmlformats.org/drawingml/2006/main">
            <a:off x="8572500" y="37719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底盘：移动与转向</a:t>
            </a:r>
          </a:p>
        </p:txBody>
      </p:sp>
      <p:sp>
        <p:nvSpPr>
          <p:cNvPr id="36" name="">
            <a:extLst xmlns:a="http://schemas.openxmlformats.org/drawingml/2006/main">
              <a:ext uri="{FF2B5EF4-FFF2-40B4-BE49-F238E27FC236}">
                <a16:creationId xmlns:a16="http://schemas.microsoft.com/office/drawing/2014/main" id="{FC3E3916-88DB-4F49-808E-D8B0B1F288F2}"/>
              </a:ext>
            </a:extLst>
          </p:cNvPr>
          <p:cNvSpPr>
            <a:spLocks xmlns:a="http://schemas.openxmlformats.org/drawingml/2006/main" noGrp="1"/>
          </p:cNvSpPr>
          <p:nvPr/>
        </p:nvSpPr>
        <p:spPr>
          <a:xfrm xmlns:a="http://schemas.openxmlformats.org/drawingml/2006/main">
            <a:off x="8572500" y="4305300"/>
            <a:ext cx="1885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7FAFC"/>
                </a:solidFill>
                <a:latin typeface="PingFang SC"/>
                <a:ea typeface="PingFang SC"/>
                <a:cs typeface="PingFang SC"/>
              </a:defRPr>
            </a:pPr>
            <a:r>
              <a:rPr sz="938" b="1">
                <a:solidFill>
                  <a:srgbClr val="F7FAFC"/>
                </a:solidFill>
                <a:latin typeface="PingFang SC"/>
                <a:ea typeface="PingFang SC"/>
                <a:cs typeface="PingFang SC"/>
              </a:rPr>
              <a:t>安全停止：硬件侧兜底</a:t>
            </a:r>
          </a:p>
        </p:txBody>
      </p:sp>
      <p:sp>
        <p:nvSpPr>
          <p:cNvPr id="37" name="">
            <a:extLst xmlns:a="http://schemas.openxmlformats.org/drawingml/2006/main">
              <a:ext uri="{FF2B5EF4-FFF2-40B4-BE49-F238E27FC236}">
                <a16:creationId xmlns:a16="http://schemas.microsoft.com/office/drawing/2014/main" id="{1D2D6A8E-063B-4BD8-B6CF-871C10AA9021}"/>
              </a:ext>
            </a:extLst>
          </p:cNvPr>
          <p:cNvSpPr>
            <a:spLocks xmlns:a="http://schemas.openxmlformats.org/drawingml/2006/main" noGrp="1"/>
          </p:cNvSpPr>
          <p:nvPr/>
        </p:nvSpPr>
        <p:spPr>
          <a:xfrm xmlns:a="http://schemas.openxmlformats.org/drawingml/2006/main">
            <a:off x="8629650" y="487680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C55E"/>
                </a:solidFill>
                <a:latin typeface="PingFang SC"/>
                <a:ea typeface="PingFang SC"/>
                <a:cs typeface="PingFang SC"/>
              </a:defRPr>
            </a:pPr>
            <a:r>
              <a:rPr sz="900" b="1">
                <a:solidFill>
                  <a:srgbClr val="22C55E"/>
                </a:solidFill>
                <a:latin typeface="PingFang SC"/>
                <a:ea typeface="PingFang SC"/>
                <a:cs typeface="PingFang SC"/>
              </a:rPr>
              <a:t>真实 XLeRobot 执行</a:t>
            </a:r>
          </a:p>
        </p:txBody>
      </p:sp>
      <p:sp>
        <p:nvSpPr>
          <p:cNvPr id="38" name="">
            <a:extLst xmlns:a="http://schemas.openxmlformats.org/drawingml/2006/main">
              <a:ext uri="{FF2B5EF4-FFF2-40B4-BE49-F238E27FC236}">
                <a16:creationId xmlns:a16="http://schemas.microsoft.com/office/drawing/2014/main" id="{245C6059-7D61-4BF1-88A5-AFB460AFA8B6}"/>
              </a:ext>
            </a:extLst>
          </p:cNvPr>
          <p:cNvSpPr>
            <a:spLocks xmlns:a="http://schemas.openxmlformats.org/drawingml/2006/main" noGrp="1"/>
          </p:cNvSpPr>
          <p:nvPr/>
        </p:nvSpPr>
        <p:spPr>
          <a:xfrm xmlns:a="http://schemas.openxmlformats.org/drawingml/2006/main">
            <a:off x="2476500" y="3657600"/>
            <a:ext cx="381000" cy="381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AEB1EB5-69A8-44C9-8999-577C7257D67E}"/>
              </a:ext>
            </a:extLst>
          </p:cNvPr>
          <p:cNvSpPr>
            <a:spLocks xmlns:a="http://schemas.openxmlformats.org/drawingml/2006/main" noGrp="1"/>
          </p:cNvSpPr>
          <p:nvPr/>
        </p:nvSpPr>
        <p:spPr>
          <a:xfrm xmlns:a="http://schemas.openxmlformats.org/drawingml/2006/main">
            <a:off x="2819400" y="3619500"/>
            <a:ext cx="762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5BF1D449-7B71-460F-B4AC-78C67FA0257E}"/>
              </a:ext>
            </a:extLst>
          </p:cNvPr>
          <p:cNvSpPr>
            <a:spLocks xmlns:a="http://schemas.openxmlformats.org/drawingml/2006/main" noGrp="1"/>
          </p:cNvSpPr>
          <p:nvPr/>
        </p:nvSpPr>
        <p:spPr>
          <a:xfrm xmlns:a="http://schemas.openxmlformats.org/drawingml/2006/main">
            <a:off x="5810250" y="3467100"/>
            <a:ext cx="381000" cy="381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8185E1CE-2F7D-4D03-A934-6579D2848C56}"/>
              </a:ext>
            </a:extLst>
          </p:cNvPr>
          <p:cNvSpPr>
            <a:spLocks xmlns:a="http://schemas.openxmlformats.org/drawingml/2006/main" noGrp="1"/>
          </p:cNvSpPr>
          <p:nvPr/>
        </p:nvSpPr>
        <p:spPr>
          <a:xfrm xmlns:a="http://schemas.openxmlformats.org/drawingml/2006/main">
            <a:off x="6153150" y="3429000"/>
            <a:ext cx="7620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4D9DE66-F547-4D0F-B765-1BE13CAF5AA6}"/>
              </a:ext>
            </a:extLst>
          </p:cNvPr>
          <p:cNvSpPr>
            <a:spLocks xmlns:a="http://schemas.openxmlformats.org/drawingml/2006/main" noGrp="1"/>
          </p:cNvSpPr>
          <p:nvPr/>
        </p:nvSpPr>
        <p:spPr>
          <a:xfrm xmlns:a="http://schemas.openxmlformats.org/drawingml/2006/main">
            <a:off x="5810250" y="4076700"/>
            <a:ext cx="381000" cy="19050"/>
          </a:xfrm>
          <a:prstGeom xmlns:a="http://schemas.openxmlformats.org/drawingml/2006/main" prst="rect">
            <a:avLst/>
          </a:prstGeom>
          <a:solidFill xmlns:a="http://schemas.openxmlformats.org/drawingml/2006/main">
            <a:srgbClr val="64748B"/>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011E95AC-D91E-4851-AE3B-D7C597B0B820}"/>
              </a:ext>
            </a:extLst>
          </p:cNvPr>
          <p:cNvSpPr>
            <a:spLocks xmlns:a="http://schemas.openxmlformats.org/drawingml/2006/main" noGrp="1"/>
          </p:cNvSpPr>
          <p:nvPr/>
        </p:nvSpPr>
        <p:spPr>
          <a:xfrm xmlns:a="http://schemas.openxmlformats.org/drawingml/2006/main">
            <a:off x="5772150" y="4038600"/>
            <a:ext cx="76200" cy="76200"/>
          </a:xfrm>
          <a:prstGeom xmlns:a="http://schemas.openxmlformats.org/drawingml/2006/main" prst="rect">
            <a:avLst/>
          </a:prstGeom>
          <a:solidFill xmlns:a="http://schemas.openxmlformats.org/drawingml/2006/main">
            <a:srgbClr val="64748B"/>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E4C8A34E-0872-46C4-9B07-ACE220640E1A}"/>
              </a:ext>
            </a:extLst>
          </p:cNvPr>
          <p:cNvSpPr>
            <a:spLocks xmlns:a="http://schemas.openxmlformats.org/drawingml/2006/main" noGrp="1"/>
          </p:cNvSpPr>
          <p:nvPr/>
        </p:nvSpPr>
        <p:spPr>
          <a:xfrm xmlns:a="http://schemas.openxmlformats.org/drawingml/2006/main">
            <a:off x="7715250" y="3657600"/>
            <a:ext cx="381000" cy="381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EE79B527-8211-461A-B5EE-01E90D0F7A59}"/>
              </a:ext>
            </a:extLst>
          </p:cNvPr>
          <p:cNvSpPr>
            <a:spLocks xmlns:a="http://schemas.openxmlformats.org/drawingml/2006/main" noGrp="1"/>
          </p:cNvSpPr>
          <p:nvPr/>
        </p:nvSpPr>
        <p:spPr>
          <a:xfrm xmlns:a="http://schemas.openxmlformats.org/drawingml/2006/main">
            <a:off x="8058150" y="3619500"/>
            <a:ext cx="7620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C30D7686-41E8-4A4F-9561-D136B740E69C}"/>
              </a:ext>
            </a:extLst>
          </p:cNvPr>
          <p:cNvSpPr>
            <a:spLocks xmlns:a="http://schemas.openxmlformats.org/drawingml/2006/main" noGrp="1"/>
          </p:cNvSpPr>
          <p:nvPr/>
        </p:nvSpPr>
        <p:spPr>
          <a:xfrm xmlns:a="http://schemas.openxmlformats.org/drawingml/2006/main">
            <a:off x="5962650" y="2133600"/>
            <a:ext cx="9525" cy="3028950"/>
          </a:xfrm>
          <a:prstGeom xmlns:a="http://schemas.openxmlformats.org/drawingml/2006/main" prst="rect">
            <a:avLst/>
          </a:prstGeom>
          <a:solidFill xmlns:a="http://schemas.openxmlformats.org/drawingml/2006/main">
            <a:srgbClr val="22324A"/>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4F416A93-8526-4130-B13D-06DDDB0DB209}"/>
              </a:ext>
            </a:extLst>
          </p:cNvPr>
          <p:cNvSpPr>
            <a:spLocks xmlns:a="http://schemas.openxmlformats.org/drawingml/2006/main" noGrp="1"/>
          </p:cNvSpPr>
          <p:nvPr/>
        </p:nvSpPr>
        <p:spPr>
          <a:xfrm xmlns:a="http://schemas.openxmlformats.org/drawingml/2006/main">
            <a:off x="7905750" y="2133600"/>
            <a:ext cx="9525" cy="3028950"/>
          </a:xfrm>
          <a:prstGeom xmlns:a="http://schemas.openxmlformats.org/drawingml/2006/main" prst="rect">
            <a:avLst/>
          </a:prstGeom>
          <a:solidFill xmlns:a="http://schemas.openxmlformats.org/drawingml/2006/main">
            <a:srgbClr val="22324A"/>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904A3A5F-D2C3-4A03-8571-A04584A276DD}"/>
              </a:ext>
            </a:extLst>
          </p:cNvPr>
          <p:cNvSpPr>
            <a:spLocks xmlns:a="http://schemas.openxmlformats.org/drawingml/2006/main" noGrp="1"/>
          </p:cNvSpPr>
          <p:nvPr/>
        </p:nvSpPr>
        <p:spPr>
          <a:xfrm xmlns:a="http://schemas.openxmlformats.org/drawingml/2006/main">
            <a:off x="1123950" y="5695950"/>
            <a:ext cx="9953625" cy="400050"/>
          </a:xfrm>
          <a:prstGeom xmlns:a="http://schemas.openxmlformats.org/drawingml/2006/main" prst="rect">
            <a:avLst/>
          </a:prstGeom>
          <a:solidFill xmlns:a="http://schemas.openxmlformats.org/drawingml/2006/main">
            <a:srgbClr val="111A2D"/>
          </a:solidFill>
          <a:ln xmlns:a="http://schemas.openxmlformats.org/drawingml/2006/main" w="9525">
            <a:solidFill>
              <a:srgbClr val="253246"/>
            </a:solidFill>
            <a:prstDash val="solid"/>
          </a:ln>
        </p:spPr>
      </p:sp>
      <p:sp>
        <p:nvSpPr>
          <p:cNvPr id="49" name="">
            <a:extLst xmlns:a="http://schemas.openxmlformats.org/drawingml/2006/main">
              <a:ext uri="{FF2B5EF4-FFF2-40B4-BE49-F238E27FC236}">
                <a16:creationId xmlns:a16="http://schemas.microsoft.com/office/drawing/2014/main" id="{532A3C86-6466-4FF6-ACA2-B27B424DF55E}"/>
              </a:ext>
            </a:extLst>
          </p:cNvPr>
          <p:cNvSpPr>
            <a:spLocks xmlns:a="http://schemas.openxmlformats.org/drawingml/2006/main" noGrp="1"/>
          </p:cNvSpPr>
          <p:nvPr/>
        </p:nvSpPr>
        <p:spPr>
          <a:xfrm xmlns:a="http://schemas.openxmlformats.org/drawingml/2006/main">
            <a:off x="1390650" y="5829300"/>
            <a:ext cx="8191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2D3EE"/>
                </a:solidFill>
                <a:latin typeface="PingFang SC"/>
                <a:ea typeface="PingFang SC"/>
                <a:cs typeface="PingFang SC"/>
              </a:defRPr>
            </a:pPr>
            <a:r>
              <a:rPr sz="825" b="1">
                <a:solidFill>
                  <a:srgbClr val="22D3EE"/>
                </a:solidFill>
                <a:latin typeface="PingFang SC"/>
                <a:ea typeface="PingFang SC"/>
                <a:cs typeface="PingFang SC"/>
              </a:rPr>
              <a:t>架构结论</a:t>
            </a:r>
          </a:p>
        </p:txBody>
      </p:sp>
      <p:sp>
        <p:nvSpPr>
          <p:cNvPr id="50" name="">
            <a:extLst xmlns:a="http://schemas.openxmlformats.org/drawingml/2006/main">
              <a:ext uri="{FF2B5EF4-FFF2-40B4-BE49-F238E27FC236}">
                <a16:creationId xmlns:a16="http://schemas.microsoft.com/office/drawing/2014/main" id="{8D6F086B-950A-43FB-8C63-141AF2289787}"/>
              </a:ext>
            </a:extLst>
          </p:cNvPr>
          <p:cNvSpPr>
            <a:spLocks xmlns:a="http://schemas.openxmlformats.org/drawingml/2006/main" noGrp="1"/>
          </p:cNvSpPr>
          <p:nvPr/>
        </p:nvSpPr>
        <p:spPr>
          <a:xfrm xmlns:a="http://schemas.openxmlformats.org/drawingml/2006/main">
            <a:off x="2419350" y="5781675"/>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AFC"/>
                </a:solidFill>
                <a:latin typeface="PingFang SC"/>
                <a:ea typeface="PingFang SC"/>
                <a:cs typeface="PingFang SC"/>
              </a:defRPr>
            </a:pPr>
            <a:r>
              <a:rPr sz="1200" b="1">
                <a:solidFill>
                  <a:srgbClr val="F7FAFC"/>
                </a:solidFill>
                <a:latin typeface="PingFang SC"/>
                <a:ea typeface="PingFang SC"/>
                <a:cs typeface="PingFang SC"/>
              </a:rPr>
              <a:t>高算力智能计算和低成本硬件执行解耦，既能接入 GPU 能力，也能保持机器人端稳定。</a:t>
            </a:r>
          </a:p>
        </p:txBody>
      </p:sp>
      <p:sp>
        <p:nvSpPr>
          <p:cNvPr id="51" name="">
            <a:extLst xmlns:a="http://schemas.openxmlformats.org/drawingml/2006/main">
              <a:ext uri="{FF2B5EF4-FFF2-40B4-BE49-F238E27FC236}">
                <a16:creationId xmlns:a16="http://schemas.microsoft.com/office/drawing/2014/main" id="{B835484F-7416-4E96-8114-90F796A0AD3F}"/>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9D656DF8-C08F-4F71-8566-BFDF6CAF1A20}"/>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53" name="">
            <a:extLst xmlns:a="http://schemas.openxmlformats.org/drawingml/2006/main">
              <a:ext uri="{FF2B5EF4-FFF2-40B4-BE49-F238E27FC236}">
                <a16:creationId xmlns:a16="http://schemas.microsoft.com/office/drawing/2014/main" id="{CECD100C-023C-4BF4-A25D-17B46324CB95}"/>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04</a:t>
            </a:r>
          </a:p>
        </p:txBody>
      </p:sp>
    </p:spTree>
    <p:extLst>
      <p:ext uri="{BB962C8B-B14F-4D97-AF65-F5344CB8AC3E}">
        <p14:creationId xmlns:p14="http://schemas.microsoft.com/office/powerpoint/2010/main" val="10070476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2822F3-43F3-43BA-879D-795A57ACF1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A62593-31E1-4216-9DA5-17AA20755ADC}"/>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F196336-3915-4CC2-9511-835F1F7E9368}"/>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05</a:t>
            </a:r>
          </a:p>
        </p:txBody>
      </p:sp>
      <p:sp>
        <p:nvSpPr>
          <p:cNvPr id="4" name="">
            <a:extLst xmlns:a="http://schemas.openxmlformats.org/drawingml/2006/main">
              <a:ext uri="{FF2B5EF4-FFF2-40B4-BE49-F238E27FC236}">
                <a16:creationId xmlns:a16="http://schemas.microsoft.com/office/drawing/2014/main" id="{113036E4-7782-4CF2-B330-038AC157F55C}"/>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CAPABILITY PROOF</a:t>
            </a:r>
          </a:p>
        </p:txBody>
      </p:sp>
      <p:sp>
        <p:nvSpPr>
          <p:cNvPr id="5" name="">
            <a:extLst xmlns:a="http://schemas.openxmlformats.org/drawingml/2006/main">
              <a:ext uri="{FF2B5EF4-FFF2-40B4-BE49-F238E27FC236}">
                <a16:creationId xmlns:a16="http://schemas.microsoft.com/office/drawing/2014/main" id="{8A9C8014-0E22-454A-A6EB-69300CFAC753}"/>
              </a:ext>
            </a:extLst>
          </p:cNvPr>
          <p:cNvSpPr>
            <a:spLocks xmlns:a="http://schemas.openxmlformats.org/drawingml/2006/main" noGrp="1"/>
          </p:cNvSpPr>
          <p:nvPr/>
        </p:nvSpPr>
        <p:spPr>
          <a:xfrm xmlns:a="http://schemas.openxmlformats.org/drawingml/2006/main">
            <a:off x="552450" y="781050"/>
            <a:ext cx="857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0F172A"/>
                </a:solidFill>
                <a:latin typeface="PingFang SC"/>
                <a:ea typeface="PingFang SC"/>
                <a:cs typeface="PingFang SC"/>
              </a:defRPr>
            </a:pPr>
            <a:r>
              <a:rPr sz="2475" b="1">
                <a:solidFill>
                  <a:srgbClr val="0F172A"/>
                </a:solidFill>
                <a:latin typeface="PingFang SC"/>
                <a:ea typeface="PingFang SC"/>
                <a:cs typeface="PingFang SC"/>
              </a:rPr>
              <a:t>已实现功能并行展示：30 秒内证明系统真的跑通</a:t>
            </a:r>
          </a:p>
        </p:txBody>
      </p:sp>
      <p:sp>
        <p:nvSpPr>
          <p:cNvPr id="6" name="">
            <a:extLst xmlns:a="http://schemas.openxmlformats.org/drawingml/2006/main">
              <a:ext uri="{FF2B5EF4-FFF2-40B4-BE49-F238E27FC236}">
                <a16:creationId xmlns:a16="http://schemas.microsoft.com/office/drawing/2014/main" id="{69F43D9A-B3F7-4CF0-AA21-2916848BB6DA}"/>
              </a:ext>
            </a:extLst>
          </p:cNvPr>
          <p:cNvSpPr>
            <a:spLocks xmlns:a="http://schemas.openxmlformats.org/drawingml/2006/main" noGrp="1"/>
          </p:cNvSpPr>
          <p:nvPr/>
        </p:nvSpPr>
        <p:spPr>
          <a:xfrm xmlns:a="http://schemas.openxmlformats.org/drawingml/2006/main">
            <a:off x="590550" y="1447800"/>
            <a:ext cx="819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语音、视觉、动作、Web 与数据采集同时呈现，让评委快速看到系统完成度。</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3d9b64b9f624454"/>
          <a:srcRect xmlns:a="http://schemas.openxmlformats.org/drawingml/2006/main" l="0" t="11143" r="0" b="11143"/>
          <a:stretch xmlns:a="http://schemas.openxmlformats.org/drawingml/2006/main">
            <a:fillRect l="0" t="0" r="0" b="0"/>
          </a:stretch>
        </p:blipFill>
        <p:spPr>
          <a:xfrm xmlns:a="http://schemas.openxmlformats.org/drawingml/2006/main">
            <a:off x="666750" y="2076450"/>
            <a:ext cx="3333750" cy="1943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7FDB1E-88D7-4BF8-8E2F-DC233B381921}"/>
              </a:ext>
            </a:extLst>
          </p:cNvPr>
          <p:cNvSpPr>
            <a:spLocks xmlns:a="http://schemas.openxmlformats.org/drawingml/2006/main" noGrp="1"/>
          </p:cNvSpPr>
          <p:nvPr/>
        </p:nvSpPr>
        <p:spPr>
          <a:xfrm xmlns:a="http://schemas.openxmlformats.org/drawingml/2006/main">
            <a:off x="666750" y="2076450"/>
            <a:ext cx="3333750" cy="194310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22D3EE"/>
            </a:solidFill>
            <a:prstDash val="solid"/>
          </a:ln>
        </p:spPr>
      </p:sp>
      <p:sp>
        <p:nvSpPr>
          <p:cNvPr id="9" name="">
            <a:extLst xmlns:a="http://schemas.openxmlformats.org/drawingml/2006/main">
              <a:ext uri="{FF2B5EF4-FFF2-40B4-BE49-F238E27FC236}">
                <a16:creationId xmlns:a16="http://schemas.microsoft.com/office/drawing/2014/main" id="{B80A12C6-4922-4348-837A-7C463E4DB853}"/>
              </a:ext>
            </a:extLst>
          </p:cNvPr>
          <p:cNvSpPr>
            <a:spLocks xmlns:a="http://schemas.openxmlformats.org/drawingml/2006/main" noGrp="1"/>
          </p:cNvSpPr>
          <p:nvPr/>
        </p:nvSpPr>
        <p:spPr>
          <a:xfrm xmlns:a="http://schemas.openxmlformats.org/drawingml/2006/main">
            <a:off x="666750" y="2076450"/>
            <a:ext cx="3333750" cy="304800"/>
          </a:xfrm>
          <a:prstGeom xmlns:a="http://schemas.openxmlformats.org/drawingml/2006/main" prst="rect">
            <a:avLst/>
          </a:prstGeom>
          <a:solidFill xmlns:a="http://schemas.openxmlformats.org/drawingml/2006/main">
            <a:srgbClr val="07182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669E7B3-608C-44CB-A1BE-3DC7458809AC}"/>
              </a:ext>
            </a:extLst>
          </p:cNvPr>
          <p:cNvSpPr>
            <a:spLocks xmlns:a="http://schemas.openxmlformats.org/drawingml/2006/main" noGrp="1"/>
          </p:cNvSpPr>
          <p:nvPr/>
        </p:nvSpPr>
        <p:spPr>
          <a:xfrm xmlns:a="http://schemas.openxmlformats.org/drawingml/2006/main">
            <a:off x="800100" y="21526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语音控制</a:t>
            </a:r>
          </a:p>
        </p:txBody>
      </p:sp>
      <p:sp>
        <p:nvSpPr>
          <p:cNvPr id="11" name="">
            <a:extLst xmlns:a="http://schemas.openxmlformats.org/drawingml/2006/main">
              <a:ext uri="{FF2B5EF4-FFF2-40B4-BE49-F238E27FC236}">
                <a16:creationId xmlns:a16="http://schemas.microsoft.com/office/drawing/2014/main" id="{85FD7E82-57CE-4B43-B5D9-DE7874FD176F}"/>
              </a:ext>
            </a:extLst>
          </p:cNvPr>
          <p:cNvSpPr>
            <a:spLocks xmlns:a="http://schemas.openxmlformats.org/drawingml/2006/main" noGrp="1"/>
          </p:cNvSpPr>
          <p:nvPr/>
        </p:nvSpPr>
        <p:spPr>
          <a:xfrm xmlns:a="http://schemas.openxmlformats.org/drawingml/2006/main">
            <a:off x="2143125" y="2857500"/>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ACF3D55-3833-45E2-B227-05FD398E371D}"/>
              </a:ext>
            </a:extLst>
          </p:cNvPr>
          <p:cNvSpPr>
            <a:spLocks xmlns:a="http://schemas.openxmlformats.org/drawingml/2006/main" noGrp="1"/>
          </p:cNvSpPr>
          <p:nvPr/>
        </p:nvSpPr>
        <p:spPr>
          <a:xfrm xmlns:a="http://schemas.openxmlformats.org/drawingml/2006/main">
            <a:off x="2257425" y="29432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bc5795889b42dc"/>
          <a:srcRect xmlns:a="http://schemas.openxmlformats.org/drawingml/2006/main" l="0" t="11143" r="0" b="11143"/>
          <a:stretch xmlns:a="http://schemas.openxmlformats.org/drawingml/2006/main">
            <a:fillRect l="0" t="0" r="0" b="0"/>
          </a:stretch>
        </p:blipFill>
        <p:spPr>
          <a:xfrm xmlns:a="http://schemas.openxmlformats.org/drawingml/2006/main">
            <a:off x="4210050" y="2076450"/>
            <a:ext cx="3333750" cy="19431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85C167D-B934-4226-A804-98CB6938ADC0}"/>
              </a:ext>
            </a:extLst>
          </p:cNvPr>
          <p:cNvSpPr>
            <a:spLocks xmlns:a="http://schemas.openxmlformats.org/drawingml/2006/main" noGrp="1"/>
          </p:cNvSpPr>
          <p:nvPr/>
        </p:nvSpPr>
        <p:spPr>
          <a:xfrm xmlns:a="http://schemas.openxmlformats.org/drawingml/2006/main">
            <a:off x="4210050" y="2076450"/>
            <a:ext cx="3333750" cy="194310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22D3EE"/>
            </a:solidFill>
            <a:prstDash val="solid"/>
          </a:ln>
        </p:spPr>
      </p:sp>
      <p:sp>
        <p:nvSpPr>
          <p:cNvPr id="15" name="">
            <a:extLst xmlns:a="http://schemas.openxmlformats.org/drawingml/2006/main">
              <a:ext uri="{FF2B5EF4-FFF2-40B4-BE49-F238E27FC236}">
                <a16:creationId xmlns:a16="http://schemas.microsoft.com/office/drawing/2014/main" id="{29FBA9F1-1737-4BF8-A812-86436C420AC4}"/>
              </a:ext>
            </a:extLst>
          </p:cNvPr>
          <p:cNvSpPr>
            <a:spLocks xmlns:a="http://schemas.openxmlformats.org/drawingml/2006/main" noGrp="1"/>
          </p:cNvSpPr>
          <p:nvPr/>
        </p:nvSpPr>
        <p:spPr>
          <a:xfrm xmlns:a="http://schemas.openxmlformats.org/drawingml/2006/main">
            <a:off x="4210050" y="2076450"/>
            <a:ext cx="3333750" cy="304800"/>
          </a:xfrm>
          <a:prstGeom xmlns:a="http://schemas.openxmlformats.org/drawingml/2006/main" prst="rect">
            <a:avLst/>
          </a:prstGeom>
          <a:solidFill xmlns:a="http://schemas.openxmlformats.org/drawingml/2006/main">
            <a:srgbClr val="07182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59999C4-150B-41E7-887F-DBF021511991}"/>
              </a:ext>
            </a:extLst>
          </p:cNvPr>
          <p:cNvSpPr>
            <a:spLocks xmlns:a="http://schemas.openxmlformats.org/drawingml/2006/main" noGrp="1"/>
          </p:cNvSpPr>
          <p:nvPr/>
        </p:nvSpPr>
        <p:spPr>
          <a:xfrm xmlns:a="http://schemas.openxmlformats.org/drawingml/2006/main">
            <a:off x="4343400" y="21526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头部转动</a:t>
            </a:r>
          </a:p>
        </p:txBody>
      </p:sp>
      <p:sp>
        <p:nvSpPr>
          <p:cNvPr id="17" name="">
            <a:extLst xmlns:a="http://schemas.openxmlformats.org/drawingml/2006/main">
              <a:ext uri="{FF2B5EF4-FFF2-40B4-BE49-F238E27FC236}">
                <a16:creationId xmlns:a16="http://schemas.microsoft.com/office/drawing/2014/main" id="{B1B6FD63-115C-409E-B2D9-95AC52C713C8}"/>
              </a:ext>
            </a:extLst>
          </p:cNvPr>
          <p:cNvSpPr>
            <a:spLocks xmlns:a="http://schemas.openxmlformats.org/drawingml/2006/main" noGrp="1"/>
          </p:cNvSpPr>
          <p:nvPr/>
        </p:nvSpPr>
        <p:spPr>
          <a:xfrm xmlns:a="http://schemas.openxmlformats.org/drawingml/2006/main">
            <a:off x="5686425" y="2857500"/>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6BC6F92-BF4D-434C-81B1-1D6716B34A99}"/>
              </a:ext>
            </a:extLst>
          </p:cNvPr>
          <p:cNvSpPr>
            <a:spLocks xmlns:a="http://schemas.openxmlformats.org/drawingml/2006/main" noGrp="1"/>
          </p:cNvSpPr>
          <p:nvPr/>
        </p:nvSpPr>
        <p:spPr>
          <a:xfrm xmlns:a="http://schemas.openxmlformats.org/drawingml/2006/main">
            <a:off x="5800725" y="29432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ac1801f9d9a4d5a"/>
          <a:srcRect xmlns:a="http://schemas.openxmlformats.org/drawingml/2006/main" l="0" t="11143" r="0" b="11143"/>
          <a:stretch xmlns:a="http://schemas.openxmlformats.org/drawingml/2006/main">
            <a:fillRect l="0" t="0" r="0" b="0"/>
          </a:stretch>
        </p:blipFill>
        <p:spPr>
          <a:xfrm xmlns:a="http://schemas.openxmlformats.org/drawingml/2006/main">
            <a:off x="7753350" y="2076450"/>
            <a:ext cx="3333750" cy="19431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35F2C7B-83F5-4723-96D8-163E0A127753}"/>
              </a:ext>
            </a:extLst>
          </p:cNvPr>
          <p:cNvSpPr>
            <a:spLocks xmlns:a="http://schemas.openxmlformats.org/drawingml/2006/main" noGrp="1"/>
          </p:cNvSpPr>
          <p:nvPr/>
        </p:nvSpPr>
        <p:spPr>
          <a:xfrm xmlns:a="http://schemas.openxmlformats.org/drawingml/2006/main">
            <a:off x="7753350" y="2076450"/>
            <a:ext cx="3333750" cy="194310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22D3EE"/>
            </a:solidFill>
            <a:prstDash val="solid"/>
          </a:ln>
        </p:spPr>
      </p:sp>
      <p:sp>
        <p:nvSpPr>
          <p:cNvPr id="21" name="">
            <a:extLst xmlns:a="http://schemas.openxmlformats.org/drawingml/2006/main">
              <a:ext uri="{FF2B5EF4-FFF2-40B4-BE49-F238E27FC236}">
                <a16:creationId xmlns:a16="http://schemas.microsoft.com/office/drawing/2014/main" id="{BF071E56-1F96-483C-9FCD-E11EA74F520C}"/>
              </a:ext>
            </a:extLst>
          </p:cNvPr>
          <p:cNvSpPr>
            <a:spLocks xmlns:a="http://schemas.openxmlformats.org/drawingml/2006/main" noGrp="1"/>
          </p:cNvSpPr>
          <p:nvPr/>
        </p:nvSpPr>
        <p:spPr>
          <a:xfrm xmlns:a="http://schemas.openxmlformats.org/drawingml/2006/main">
            <a:off x="7753350" y="2076450"/>
            <a:ext cx="3333750" cy="304800"/>
          </a:xfrm>
          <a:prstGeom xmlns:a="http://schemas.openxmlformats.org/drawingml/2006/main" prst="rect">
            <a:avLst/>
          </a:prstGeom>
          <a:solidFill xmlns:a="http://schemas.openxmlformats.org/drawingml/2006/main">
            <a:srgbClr val="071827"/>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417A9F8-2B26-4890-B07E-02CC7703BDD9}"/>
              </a:ext>
            </a:extLst>
          </p:cNvPr>
          <p:cNvSpPr>
            <a:spLocks xmlns:a="http://schemas.openxmlformats.org/drawingml/2006/main" noGrp="1"/>
          </p:cNvSpPr>
          <p:nvPr/>
        </p:nvSpPr>
        <p:spPr>
          <a:xfrm xmlns:a="http://schemas.openxmlformats.org/drawingml/2006/main">
            <a:off x="7886700" y="21526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摄像头预览</a:t>
            </a:r>
          </a:p>
        </p:txBody>
      </p:sp>
      <p:sp>
        <p:nvSpPr>
          <p:cNvPr id="23" name="">
            <a:extLst xmlns:a="http://schemas.openxmlformats.org/drawingml/2006/main">
              <a:ext uri="{FF2B5EF4-FFF2-40B4-BE49-F238E27FC236}">
                <a16:creationId xmlns:a16="http://schemas.microsoft.com/office/drawing/2014/main" id="{888BE657-6FC9-4B17-B553-4374C621F351}"/>
              </a:ext>
            </a:extLst>
          </p:cNvPr>
          <p:cNvSpPr>
            <a:spLocks xmlns:a="http://schemas.openxmlformats.org/drawingml/2006/main" noGrp="1"/>
          </p:cNvSpPr>
          <p:nvPr/>
        </p:nvSpPr>
        <p:spPr>
          <a:xfrm xmlns:a="http://schemas.openxmlformats.org/drawingml/2006/main">
            <a:off x="9229725" y="2857500"/>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3A566E9-CE88-4C9C-B343-98818DB6B831}"/>
              </a:ext>
            </a:extLst>
          </p:cNvPr>
          <p:cNvSpPr>
            <a:spLocks xmlns:a="http://schemas.openxmlformats.org/drawingml/2006/main" noGrp="1"/>
          </p:cNvSpPr>
          <p:nvPr/>
        </p:nvSpPr>
        <p:spPr>
          <a:xfrm xmlns:a="http://schemas.openxmlformats.org/drawingml/2006/main">
            <a:off x="9344025" y="29432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e2d7f7ca78e46b8"/>
          <a:srcRect xmlns:a="http://schemas.openxmlformats.org/drawingml/2006/main" l="0" t="19905" r="0" b="19905"/>
          <a:stretch xmlns:a="http://schemas.openxmlformats.org/drawingml/2006/main">
            <a:fillRect l="0" t="0" r="0" b="0"/>
          </a:stretch>
        </p:blipFill>
        <p:spPr>
          <a:xfrm xmlns:a="http://schemas.openxmlformats.org/drawingml/2006/main">
            <a:off x="666750" y="4267200"/>
            <a:ext cx="3333750" cy="15049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E03BFDAE-27B9-45DD-9E90-54EABA2F3AF9}"/>
              </a:ext>
            </a:extLst>
          </p:cNvPr>
          <p:cNvSpPr>
            <a:spLocks xmlns:a="http://schemas.openxmlformats.org/drawingml/2006/main" noGrp="1"/>
          </p:cNvSpPr>
          <p:nvPr/>
        </p:nvSpPr>
        <p:spPr>
          <a:xfrm xmlns:a="http://schemas.openxmlformats.org/drawingml/2006/main">
            <a:off x="666750" y="4267200"/>
            <a:ext cx="3333750" cy="1504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0D3103F4-BFA5-40E0-BDC2-3B0E3BB68F3D}"/>
              </a:ext>
            </a:extLst>
          </p:cNvPr>
          <p:cNvSpPr>
            <a:spLocks xmlns:a="http://schemas.openxmlformats.org/drawingml/2006/main" noGrp="1"/>
          </p:cNvSpPr>
          <p:nvPr/>
        </p:nvSpPr>
        <p:spPr>
          <a:xfrm xmlns:a="http://schemas.openxmlformats.org/drawingml/2006/main">
            <a:off x="666750" y="4267200"/>
            <a:ext cx="3333750" cy="304800"/>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FE63BDC-38D2-441B-972C-37AF11FE1BD8}"/>
              </a:ext>
            </a:extLst>
          </p:cNvPr>
          <p:cNvSpPr>
            <a:spLocks xmlns:a="http://schemas.openxmlformats.org/drawingml/2006/main" noGrp="1"/>
          </p:cNvSpPr>
          <p:nvPr/>
        </p:nvSpPr>
        <p:spPr>
          <a:xfrm xmlns:a="http://schemas.openxmlformats.org/drawingml/2006/main">
            <a:off x="800100" y="43434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动作回放</a:t>
            </a:r>
          </a:p>
        </p:txBody>
      </p:sp>
      <p:sp>
        <p:nvSpPr>
          <p:cNvPr id="29" name="">
            <a:extLst xmlns:a="http://schemas.openxmlformats.org/drawingml/2006/main">
              <a:ext uri="{FF2B5EF4-FFF2-40B4-BE49-F238E27FC236}">
                <a16:creationId xmlns:a16="http://schemas.microsoft.com/office/drawing/2014/main" id="{7BAE5F44-BD01-49F3-B44A-CDCCD54416C8}"/>
              </a:ext>
            </a:extLst>
          </p:cNvPr>
          <p:cNvSpPr>
            <a:spLocks xmlns:a="http://schemas.openxmlformats.org/drawingml/2006/main" noGrp="1"/>
          </p:cNvSpPr>
          <p:nvPr/>
        </p:nvSpPr>
        <p:spPr>
          <a:xfrm xmlns:a="http://schemas.openxmlformats.org/drawingml/2006/main">
            <a:off x="2143125" y="4829175"/>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2C7EC61-7315-4C5C-AC5C-354C45430BC5}"/>
              </a:ext>
            </a:extLst>
          </p:cNvPr>
          <p:cNvSpPr>
            <a:spLocks xmlns:a="http://schemas.openxmlformats.org/drawingml/2006/main" noGrp="1"/>
          </p:cNvSpPr>
          <p:nvPr/>
        </p:nvSpPr>
        <p:spPr>
          <a:xfrm xmlns:a="http://schemas.openxmlformats.org/drawingml/2006/main">
            <a:off x="2257425" y="49149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8a044e2f57242b3"/>
          <a:srcRect xmlns:a="http://schemas.openxmlformats.org/drawingml/2006/main" l="0" t="19905" r="0" b="19905"/>
          <a:stretch xmlns:a="http://schemas.openxmlformats.org/drawingml/2006/main">
            <a:fillRect l="0" t="0" r="0" b="0"/>
          </a:stretch>
        </p:blipFill>
        <p:spPr>
          <a:xfrm xmlns:a="http://schemas.openxmlformats.org/drawingml/2006/main">
            <a:off x="4210050" y="4267200"/>
            <a:ext cx="3333750" cy="15049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5DF7CA48-8BAB-49FF-82AE-D8676FE600DC}"/>
              </a:ext>
            </a:extLst>
          </p:cNvPr>
          <p:cNvSpPr>
            <a:spLocks xmlns:a="http://schemas.openxmlformats.org/drawingml/2006/main" noGrp="1"/>
          </p:cNvSpPr>
          <p:nvPr/>
        </p:nvSpPr>
        <p:spPr>
          <a:xfrm xmlns:a="http://schemas.openxmlformats.org/drawingml/2006/main">
            <a:off x="4210050" y="4267200"/>
            <a:ext cx="3333750" cy="1504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94A3B8"/>
            </a:solidFill>
            <a:prstDash val="solid"/>
          </a:ln>
        </p:spPr>
      </p:sp>
      <p:sp>
        <p:nvSpPr>
          <p:cNvPr id="33" name="">
            <a:extLst xmlns:a="http://schemas.openxmlformats.org/drawingml/2006/main">
              <a:ext uri="{FF2B5EF4-FFF2-40B4-BE49-F238E27FC236}">
                <a16:creationId xmlns:a16="http://schemas.microsoft.com/office/drawing/2014/main" id="{C33C1330-5C07-4739-9AF8-6D080FF45AFC}"/>
              </a:ext>
            </a:extLst>
          </p:cNvPr>
          <p:cNvSpPr>
            <a:spLocks xmlns:a="http://schemas.openxmlformats.org/drawingml/2006/main" noGrp="1"/>
          </p:cNvSpPr>
          <p:nvPr/>
        </p:nvSpPr>
        <p:spPr>
          <a:xfrm xmlns:a="http://schemas.openxmlformats.org/drawingml/2006/main">
            <a:off x="4210050" y="4267200"/>
            <a:ext cx="3333750" cy="304800"/>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9E987746-46DA-4F97-BE8A-6B16D90409F2}"/>
              </a:ext>
            </a:extLst>
          </p:cNvPr>
          <p:cNvSpPr>
            <a:spLocks xmlns:a="http://schemas.openxmlformats.org/drawingml/2006/main" noGrp="1"/>
          </p:cNvSpPr>
          <p:nvPr/>
        </p:nvSpPr>
        <p:spPr>
          <a:xfrm xmlns:a="http://schemas.openxmlformats.org/drawingml/2006/main">
            <a:off x="4343400" y="43434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Web 控制</a:t>
            </a:r>
          </a:p>
        </p:txBody>
      </p:sp>
      <p:sp>
        <p:nvSpPr>
          <p:cNvPr id="35" name="">
            <a:extLst xmlns:a="http://schemas.openxmlformats.org/drawingml/2006/main">
              <a:ext uri="{FF2B5EF4-FFF2-40B4-BE49-F238E27FC236}">
                <a16:creationId xmlns:a16="http://schemas.microsoft.com/office/drawing/2014/main" id="{7677984E-1C0E-43EA-9242-E7498FFA8224}"/>
              </a:ext>
            </a:extLst>
          </p:cNvPr>
          <p:cNvSpPr>
            <a:spLocks xmlns:a="http://schemas.openxmlformats.org/drawingml/2006/main" noGrp="1"/>
          </p:cNvSpPr>
          <p:nvPr/>
        </p:nvSpPr>
        <p:spPr>
          <a:xfrm xmlns:a="http://schemas.openxmlformats.org/drawingml/2006/main">
            <a:off x="5686425" y="4829175"/>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C1464DAE-5E43-4377-BA45-4310E61F3337}"/>
              </a:ext>
            </a:extLst>
          </p:cNvPr>
          <p:cNvSpPr>
            <a:spLocks xmlns:a="http://schemas.openxmlformats.org/drawingml/2006/main" noGrp="1"/>
          </p:cNvSpPr>
          <p:nvPr/>
        </p:nvSpPr>
        <p:spPr>
          <a:xfrm xmlns:a="http://schemas.openxmlformats.org/drawingml/2006/main">
            <a:off x="5800725" y="49149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0251ee0d97e4c97"/>
          <a:srcRect xmlns:a="http://schemas.openxmlformats.org/drawingml/2006/main" l="0" t="19905" r="0" b="19905"/>
          <a:stretch xmlns:a="http://schemas.openxmlformats.org/drawingml/2006/main">
            <a:fillRect l="0" t="0" r="0" b="0"/>
          </a:stretch>
        </p:blipFill>
        <p:spPr>
          <a:xfrm xmlns:a="http://schemas.openxmlformats.org/drawingml/2006/main">
            <a:off x="7753350" y="4267200"/>
            <a:ext cx="3333750" cy="15049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040A5DF7-2F13-4D3E-A8B6-DB55B4820120}"/>
              </a:ext>
            </a:extLst>
          </p:cNvPr>
          <p:cNvSpPr>
            <a:spLocks xmlns:a="http://schemas.openxmlformats.org/drawingml/2006/main" noGrp="1"/>
          </p:cNvSpPr>
          <p:nvPr/>
        </p:nvSpPr>
        <p:spPr>
          <a:xfrm xmlns:a="http://schemas.openxmlformats.org/drawingml/2006/main">
            <a:off x="7753350" y="4267200"/>
            <a:ext cx="3333750" cy="1504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94A3B8"/>
            </a:solidFill>
            <a:prstDash val="solid"/>
          </a:ln>
        </p:spPr>
      </p:sp>
      <p:sp>
        <p:nvSpPr>
          <p:cNvPr id="39" name="">
            <a:extLst xmlns:a="http://schemas.openxmlformats.org/drawingml/2006/main">
              <a:ext uri="{FF2B5EF4-FFF2-40B4-BE49-F238E27FC236}">
                <a16:creationId xmlns:a16="http://schemas.microsoft.com/office/drawing/2014/main" id="{0E59C686-0141-4E1D-A5C0-87AE3767791E}"/>
              </a:ext>
            </a:extLst>
          </p:cNvPr>
          <p:cNvSpPr>
            <a:spLocks xmlns:a="http://schemas.openxmlformats.org/drawingml/2006/main" noGrp="1"/>
          </p:cNvSpPr>
          <p:nvPr/>
        </p:nvSpPr>
        <p:spPr>
          <a:xfrm xmlns:a="http://schemas.openxmlformats.org/drawingml/2006/main">
            <a:off x="7753350" y="4267200"/>
            <a:ext cx="3333750" cy="304800"/>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4230E8B0-CEA7-48A8-98C4-564FC73EEFA1}"/>
              </a:ext>
            </a:extLst>
          </p:cNvPr>
          <p:cNvSpPr>
            <a:spLocks xmlns:a="http://schemas.openxmlformats.org/drawingml/2006/main" noGrp="1"/>
          </p:cNvSpPr>
          <p:nvPr/>
        </p:nvSpPr>
        <p:spPr>
          <a:xfrm xmlns:a="http://schemas.openxmlformats.org/drawingml/2006/main">
            <a:off x="7886700" y="43434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数据采集</a:t>
            </a:r>
          </a:p>
        </p:txBody>
      </p:sp>
      <p:sp>
        <p:nvSpPr>
          <p:cNvPr id="41" name="">
            <a:extLst xmlns:a="http://schemas.openxmlformats.org/drawingml/2006/main">
              <a:ext uri="{FF2B5EF4-FFF2-40B4-BE49-F238E27FC236}">
                <a16:creationId xmlns:a16="http://schemas.microsoft.com/office/drawing/2014/main" id="{F1B1DD07-A522-499C-8AC1-AAE75C8457B5}"/>
              </a:ext>
            </a:extLst>
          </p:cNvPr>
          <p:cNvSpPr>
            <a:spLocks xmlns:a="http://schemas.openxmlformats.org/drawingml/2006/main" noGrp="1"/>
          </p:cNvSpPr>
          <p:nvPr/>
        </p:nvSpPr>
        <p:spPr>
          <a:xfrm xmlns:a="http://schemas.openxmlformats.org/drawingml/2006/main">
            <a:off x="9229725" y="4829175"/>
            <a:ext cx="381000" cy="381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C2A0D2D8-D3D6-4B3C-9805-DBA3E3AFD2E0}"/>
              </a:ext>
            </a:extLst>
          </p:cNvPr>
          <p:cNvSpPr>
            <a:spLocks xmlns:a="http://schemas.openxmlformats.org/drawingml/2006/main" noGrp="1"/>
          </p:cNvSpPr>
          <p:nvPr/>
        </p:nvSpPr>
        <p:spPr>
          <a:xfrm xmlns:a="http://schemas.openxmlformats.org/drawingml/2006/main">
            <a:off x="9344025" y="49149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2D3EE"/>
                </a:solidFill>
                <a:latin typeface="PingFang SC"/>
                <a:ea typeface="PingFang SC"/>
                <a:cs typeface="PingFang SC"/>
              </a:defRPr>
            </a:pPr>
            <a:r>
              <a:rPr sz="1350" b="1">
                <a:solidFill>
                  <a:srgbClr val="22D3EE"/>
                </a:solidFill>
                <a:latin typeface="PingFang SC"/>
                <a:ea typeface="PingFang SC"/>
                <a:cs typeface="PingFang SC"/>
              </a:rPr>
              <a:t>▶</a:t>
            </a:r>
          </a:p>
        </p:txBody>
      </p:sp>
      <p:sp>
        <p:nvSpPr>
          <p:cNvPr id="43" name="">
            <a:extLst xmlns:a="http://schemas.openxmlformats.org/drawingml/2006/main">
              <a:ext uri="{FF2B5EF4-FFF2-40B4-BE49-F238E27FC236}">
                <a16:creationId xmlns:a16="http://schemas.microsoft.com/office/drawing/2014/main" id="{DCFD30F8-E37B-46F4-95A0-262BC0F1D0C2}"/>
              </a:ext>
            </a:extLst>
          </p:cNvPr>
          <p:cNvSpPr>
            <a:spLocks xmlns:a="http://schemas.openxmlformats.org/drawingml/2006/main" noGrp="1"/>
          </p:cNvSpPr>
          <p:nvPr/>
        </p:nvSpPr>
        <p:spPr>
          <a:xfrm xmlns:a="http://schemas.openxmlformats.org/drawingml/2006/main">
            <a:off x="9572625" y="914400"/>
            <a:ext cx="1619250" cy="514350"/>
          </a:xfrm>
          <a:prstGeom xmlns:a="http://schemas.openxmlformats.org/drawingml/2006/main" prst="rect">
            <a:avLst/>
          </a:prstGeom>
          <a:solidFill xmlns:a="http://schemas.openxmlformats.org/drawingml/2006/main">
            <a:srgbClr val="FFF7ED"/>
          </a:solidFill>
          <a:ln xmlns:a="http://schemas.openxmlformats.org/drawingml/2006/main" w="9525">
            <a:solidFill>
              <a:srgbClr val="FDBA74"/>
            </a:solidFill>
            <a:prstDash val="solid"/>
          </a:ln>
        </p:spPr>
      </p:sp>
      <p:sp>
        <p:nvSpPr>
          <p:cNvPr id="44" name="">
            <a:extLst xmlns:a="http://schemas.openxmlformats.org/drawingml/2006/main">
              <a:ext uri="{FF2B5EF4-FFF2-40B4-BE49-F238E27FC236}">
                <a16:creationId xmlns:a16="http://schemas.microsoft.com/office/drawing/2014/main" id="{A199A4AB-E33C-4115-98F3-52030529F4CF}"/>
              </a:ext>
            </a:extLst>
          </p:cNvPr>
          <p:cNvSpPr>
            <a:spLocks xmlns:a="http://schemas.openxmlformats.org/drawingml/2006/main" noGrp="1"/>
          </p:cNvSpPr>
          <p:nvPr/>
        </p:nvSpPr>
        <p:spPr>
          <a:xfrm xmlns:a="http://schemas.openxmlformats.org/drawingml/2006/main">
            <a:off x="9734550" y="102870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2410C"/>
                </a:solidFill>
                <a:latin typeface="PingFang SC"/>
                <a:ea typeface="PingFang SC"/>
                <a:cs typeface="PingFang SC"/>
              </a:defRPr>
            </a:pPr>
            <a:r>
              <a:rPr sz="750" b="1">
                <a:solidFill>
                  <a:srgbClr val="C2410C"/>
                </a:solidFill>
                <a:latin typeface="PingFang SC"/>
                <a:ea typeface="PingFang SC"/>
                <a:cs typeface="PingFang SC"/>
              </a:rPr>
              <a:t>现场证据</a:t>
            </a:r>
          </a:p>
        </p:txBody>
      </p:sp>
      <p:sp>
        <p:nvSpPr>
          <p:cNvPr id="45" name="">
            <a:extLst xmlns:a="http://schemas.openxmlformats.org/drawingml/2006/main">
              <a:ext uri="{FF2B5EF4-FFF2-40B4-BE49-F238E27FC236}">
                <a16:creationId xmlns:a16="http://schemas.microsoft.com/office/drawing/2014/main" id="{D2290698-959F-4251-9CAB-6C4594C01828}"/>
              </a:ext>
            </a:extLst>
          </p:cNvPr>
          <p:cNvSpPr>
            <a:spLocks xmlns:a="http://schemas.openxmlformats.org/drawingml/2006/main" noGrp="1"/>
          </p:cNvSpPr>
          <p:nvPr/>
        </p:nvSpPr>
        <p:spPr>
          <a:xfrm xmlns:a="http://schemas.openxmlformats.org/drawingml/2006/main">
            <a:off x="9734550" y="1200150"/>
            <a:ext cx="1276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172A"/>
                </a:solidFill>
                <a:latin typeface="PingFang SC"/>
                <a:ea typeface="PingFang SC"/>
                <a:cs typeface="PingFang SC"/>
              </a:defRPr>
            </a:pPr>
            <a:r>
              <a:rPr sz="900" b="1">
                <a:solidFill>
                  <a:srgbClr val="0F172A"/>
                </a:solidFill>
                <a:latin typeface="PingFang SC"/>
                <a:ea typeface="PingFang SC"/>
                <a:cs typeface="PingFang SC"/>
              </a:rPr>
              <a:t>多功能并行展示</a:t>
            </a:r>
          </a:p>
        </p:txBody>
      </p:sp>
      <p:sp>
        <p:nvSpPr>
          <p:cNvPr id="46" name="">
            <a:extLst xmlns:a="http://schemas.openxmlformats.org/drawingml/2006/main">
              <a:ext uri="{FF2B5EF4-FFF2-40B4-BE49-F238E27FC236}">
                <a16:creationId xmlns:a16="http://schemas.microsoft.com/office/drawing/2014/main" id="{F5B34961-7C68-4995-B5D5-4EA8566D325A}"/>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CB57041B-B4BD-45DF-9BF6-8528B78700E6}"/>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48" name="">
            <a:extLst xmlns:a="http://schemas.openxmlformats.org/drawingml/2006/main">
              <a:ext uri="{FF2B5EF4-FFF2-40B4-BE49-F238E27FC236}">
                <a16:creationId xmlns:a16="http://schemas.microsoft.com/office/drawing/2014/main" id="{58D481B1-4650-4DE1-8C41-415FA982616F}"/>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05</a:t>
            </a:r>
          </a:p>
        </p:txBody>
      </p:sp>
    </p:spTree>
    <p:extLst>
      <p:ext uri="{BB962C8B-B14F-4D97-AF65-F5344CB8AC3E}">
        <p14:creationId xmlns:p14="http://schemas.microsoft.com/office/powerpoint/2010/main" val="13178502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CFD8F0-B647-43C2-8B33-215D68331A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F92A85A-A011-4CEC-81BA-58672E7DA7A8}"/>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17D0597-F840-4586-985A-13E9A0F8ACBC}"/>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06</a:t>
            </a:r>
          </a:p>
        </p:txBody>
      </p:sp>
      <p:sp>
        <p:nvSpPr>
          <p:cNvPr id="4" name="">
            <a:extLst xmlns:a="http://schemas.openxmlformats.org/drawingml/2006/main">
              <a:ext uri="{FF2B5EF4-FFF2-40B4-BE49-F238E27FC236}">
                <a16:creationId xmlns:a16="http://schemas.microsoft.com/office/drawing/2014/main" id="{63A84402-22A2-4BCB-B2AC-BC14ED7A5392}"/>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CORE INNOVATION</a:t>
            </a:r>
          </a:p>
        </p:txBody>
      </p:sp>
      <p:sp>
        <p:nvSpPr>
          <p:cNvPr id="5" name="">
            <a:extLst xmlns:a="http://schemas.openxmlformats.org/drawingml/2006/main">
              <a:ext uri="{FF2B5EF4-FFF2-40B4-BE49-F238E27FC236}">
                <a16:creationId xmlns:a16="http://schemas.microsoft.com/office/drawing/2014/main" id="{8AE2B561-0CAB-4816-85CA-5F81526D33B7}"/>
              </a:ext>
            </a:extLst>
          </p:cNvPr>
          <p:cNvSpPr>
            <a:spLocks xmlns:a="http://schemas.openxmlformats.org/drawingml/2006/main" noGrp="1"/>
          </p:cNvSpPr>
          <p:nvPr/>
        </p:nvSpPr>
        <p:spPr>
          <a:xfrm xmlns:a="http://schemas.openxmlformats.org/drawingml/2006/main">
            <a:off x="552450" y="781050"/>
            <a:ext cx="9048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不重写官方生态，而是把官方能力接到真实硬件</a:t>
            </a:r>
          </a:p>
        </p:txBody>
      </p:sp>
      <p:sp>
        <p:nvSpPr>
          <p:cNvPr id="6" name="">
            <a:extLst xmlns:a="http://schemas.openxmlformats.org/drawingml/2006/main">
              <a:ext uri="{FF2B5EF4-FFF2-40B4-BE49-F238E27FC236}">
                <a16:creationId xmlns:a16="http://schemas.microsoft.com/office/drawing/2014/main" id="{EA2488AC-AAB6-4723-B5C3-4A201A33BBC8}"/>
              </a:ext>
            </a:extLst>
          </p:cNvPr>
          <p:cNvSpPr>
            <a:spLocks xmlns:a="http://schemas.openxmlformats.org/drawingml/2006/main" noGrp="1"/>
          </p:cNvSpPr>
          <p:nvPr/>
        </p:nvSpPr>
        <p:spPr>
          <a:xfrm xmlns:a="http://schemas.openxmlformats.org/drawingml/2006/main">
            <a:off x="590550" y="1447800"/>
            <a:ext cx="857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创新点不说成“发明算法”，而是说清楚真实硬件落地、远程适配和生态兼容。</a:t>
            </a:r>
          </a:p>
        </p:txBody>
      </p:sp>
      <p:sp>
        <p:nvSpPr>
          <p:cNvPr id="7" name="">
            <a:extLst xmlns:a="http://schemas.openxmlformats.org/drawingml/2006/main">
              <a:ext uri="{FF2B5EF4-FFF2-40B4-BE49-F238E27FC236}">
                <a16:creationId xmlns:a16="http://schemas.microsoft.com/office/drawing/2014/main" id="{9260386E-2C13-43EF-A223-74F857C7A632}"/>
              </a:ext>
            </a:extLst>
          </p:cNvPr>
          <p:cNvSpPr>
            <a:spLocks xmlns:a="http://schemas.openxmlformats.org/drawingml/2006/main" noGrp="1"/>
          </p:cNvSpPr>
          <p:nvPr/>
        </p:nvSpPr>
        <p:spPr>
          <a:xfrm xmlns:a="http://schemas.openxmlformats.org/drawingml/2006/main">
            <a:off x="714375" y="2333625"/>
            <a:ext cx="2238375" cy="1219200"/>
          </a:xfrm>
          <a:prstGeom xmlns:a="http://schemas.openxmlformats.org/drawingml/2006/main" prst="rect">
            <a:avLst/>
          </a:prstGeom>
          <a:solidFill xmlns:a="http://schemas.openxmlformats.org/drawingml/2006/main">
            <a:srgbClr val="121B2E"/>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F2CF19FB-AC7E-4D66-B6D1-A4FFA70EB0E2}"/>
              </a:ext>
            </a:extLst>
          </p:cNvPr>
          <p:cNvSpPr>
            <a:spLocks xmlns:a="http://schemas.openxmlformats.org/drawingml/2006/main" noGrp="1"/>
          </p:cNvSpPr>
          <p:nvPr/>
        </p:nvSpPr>
        <p:spPr>
          <a:xfrm xmlns:a="http://schemas.openxmlformats.org/drawingml/2006/main">
            <a:off x="714375" y="2333625"/>
            <a:ext cx="47625" cy="12192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D72EC3A-054B-4FC5-9CDF-B1DDDFCF3963}"/>
              </a:ext>
            </a:extLst>
          </p:cNvPr>
          <p:cNvSpPr>
            <a:spLocks xmlns:a="http://schemas.openxmlformats.org/drawingml/2006/main" noGrp="1"/>
          </p:cNvSpPr>
          <p:nvPr/>
        </p:nvSpPr>
        <p:spPr>
          <a:xfrm xmlns:a="http://schemas.openxmlformats.org/drawingml/2006/main">
            <a:off x="885825" y="2466975"/>
            <a:ext cx="19526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RoboCrew 官方工具</a:t>
            </a:r>
          </a:p>
        </p:txBody>
      </p:sp>
      <p:sp>
        <p:nvSpPr>
          <p:cNvPr id="10" name="">
            <a:extLst xmlns:a="http://schemas.openxmlformats.org/drawingml/2006/main">
              <a:ext uri="{FF2B5EF4-FFF2-40B4-BE49-F238E27FC236}">
                <a16:creationId xmlns:a16="http://schemas.microsoft.com/office/drawing/2014/main" id="{838CA974-C8D0-457E-80F9-FBC070E80DA8}"/>
              </a:ext>
            </a:extLst>
          </p:cNvPr>
          <p:cNvSpPr>
            <a:spLocks xmlns:a="http://schemas.openxmlformats.org/drawingml/2006/main" noGrp="1"/>
          </p:cNvSpPr>
          <p:nvPr/>
        </p:nvSpPr>
        <p:spPr>
          <a:xfrm xmlns:a="http://schemas.openxmlformats.org/drawingml/2006/main">
            <a:off x="885825" y="2781300"/>
            <a:ext cx="19526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移动 / 环顾 / 模式切换</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VLA 工具入口</a:t>
            </a:r>
          </a:p>
        </p:txBody>
      </p:sp>
      <p:sp>
        <p:nvSpPr>
          <p:cNvPr id="11" name="">
            <a:extLst xmlns:a="http://schemas.openxmlformats.org/drawingml/2006/main">
              <a:ext uri="{FF2B5EF4-FFF2-40B4-BE49-F238E27FC236}">
                <a16:creationId xmlns:a16="http://schemas.microsoft.com/office/drawing/2014/main" id="{040CDEE9-1539-4EBC-A5F4-00248F6AF4A0}"/>
              </a:ext>
            </a:extLst>
          </p:cNvPr>
          <p:cNvSpPr>
            <a:spLocks xmlns:a="http://schemas.openxmlformats.org/drawingml/2006/main" noGrp="1"/>
          </p:cNvSpPr>
          <p:nvPr/>
        </p:nvSpPr>
        <p:spPr>
          <a:xfrm xmlns:a="http://schemas.openxmlformats.org/drawingml/2006/main">
            <a:off x="3743325" y="2000250"/>
            <a:ext cx="2476500" cy="1885950"/>
          </a:xfrm>
          <a:prstGeom xmlns:a="http://schemas.openxmlformats.org/drawingml/2006/main" prst="rect">
            <a:avLst/>
          </a:prstGeom>
          <a:solidFill xmlns:a="http://schemas.openxmlformats.org/drawingml/2006/main">
            <a:srgbClr val="121B2E"/>
          </a:solidFill>
          <a:ln xmlns:a="http://schemas.openxmlformats.org/drawingml/2006/main" w="19050">
            <a:solidFill>
              <a:srgbClr val="3B82F6"/>
            </a:solidFill>
            <a:prstDash val="solid"/>
          </a:ln>
        </p:spPr>
      </p:sp>
      <p:sp>
        <p:nvSpPr>
          <p:cNvPr id="12" name="">
            <a:extLst xmlns:a="http://schemas.openxmlformats.org/drawingml/2006/main">
              <a:ext uri="{FF2B5EF4-FFF2-40B4-BE49-F238E27FC236}">
                <a16:creationId xmlns:a16="http://schemas.microsoft.com/office/drawing/2014/main" id="{518FA96C-E1D1-4F70-8D7F-3DA1EBDBF009}"/>
              </a:ext>
            </a:extLst>
          </p:cNvPr>
          <p:cNvSpPr>
            <a:spLocks xmlns:a="http://schemas.openxmlformats.org/drawingml/2006/main" noGrp="1"/>
          </p:cNvSpPr>
          <p:nvPr/>
        </p:nvSpPr>
        <p:spPr>
          <a:xfrm xmlns:a="http://schemas.openxmlformats.org/drawingml/2006/main">
            <a:off x="3743325" y="2000250"/>
            <a:ext cx="47625" cy="188595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780E4BF-5E8E-4A61-A616-862121A12074}"/>
              </a:ext>
            </a:extLst>
          </p:cNvPr>
          <p:cNvSpPr>
            <a:spLocks xmlns:a="http://schemas.openxmlformats.org/drawingml/2006/main" noGrp="1"/>
          </p:cNvSpPr>
          <p:nvPr/>
        </p:nvSpPr>
        <p:spPr>
          <a:xfrm xmlns:a="http://schemas.openxmlformats.org/drawingml/2006/main">
            <a:off x="3914775" y="213360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远程适配层</a:t>
            </a:r>
          </a:p>
        </p:txBody>
      </p:sp>
      <p:sp>
        <p:nvSpPr>
          <p:cNvPr id="14" name="">
            <a:extLst xmlns:a="http://schemas.openxmlformats.org/drawingml/2006/main">
              <a:ext uri="{FF2B5EF4-FFF2-40B4-BE49-F238E27FC236}">
                <a16:creationId xmlns:a16="http://schemas.microsoft.com/office/drawing/2014/main" id="{40423550-91C3-4046-ACD0-E2DA41214B04}"/>
              </a:ext>
            </a:extLst>
          </p:cNvPr>
          <p:cNvSpPr>
            <a:spLocks xmlns:a="http://schemas.openxmlformats.org/drawingml/2006/main" noGrp="1"/>
          </p:cNvSpPr>
          <p:nvPr/>
        </p:nvSpPr>
        <p:spPr>
          <a:xfrm xmlns:a="http://schemas.openxmlformats.org/drawingml/2006/main">
            <a:off x="3914775" y="2447925"/>
            <a:ext cx="219075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ClientServoControler</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ClientRobotCamera</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保持官方接口风格</a:t>
            </a:r>
          </a:p>
        </p:txBody>
      </p:sp>
      <p:sp>
        <p:nvSpPr>
          <p:cNvPr id="15" name="">
            <a:extLst xmlns:a="http://schemas.openxmlformats.org/drawingml/2006/main">
              <a:ext uri="{FF2B5EF4-FFF2-40B4-BE49-F238E27FC236}">
                <a16:creationId xmlns:a16="http://schemas.microsoft.com/office/drawing/2014/main" id="{1D2BF066-743E-4F21-A708-2DB8EFF0532C}"/>
              </a:ext>
            </a:extLst>
          </p:cNvPr>
          <p:cNvSpPr>
            <a:spLocks xmlns:a="http://schemas.openxmlformats.org/drawingml/2006/main" noGrp="1"/>
          </p:cNvSpPr>
          <p:nvPr/>
        </p:nvSpPr>
        <p:spPr>
          <a:xfrm xmlns:a="http://schemas.openxmlformats.org/drawingml/2006/main">
            <a:off x="7000875" y="2333625"/>
            <a:ext cx="1952625" cy="1219200"/>
          </a:xfrm>
          <a:prstGeom xmlns:a="http://schemas.openxmlformats.org/drawingml/2006/main" prst="rect">
            <a:avLst/>
          </a:prstGeom>
          <a:solidFill xmlns:a="http://schemas.openxmlformats.org/drawingml/2006/main">
            <a:srgbClr val="121B2E"/>
          </a:solidFill>
          <a:ln xmlns:a="http://schemas.openxmlformats.org/drawingml/2006/main" w="9525">
            <a:solidFill>
              <a:srgbClr val="F59E0B"/>
            </a:solidFill>
            <a:prstDash val="solid"/>
          </a:ln>
        </p:spPr>
      </p:sp>
      <p:sp>
        <p:nvSpPr>
          <p:cNvPr id="16" name="">
            <a:extLst xmlns:a="http://schemas.openxmlformats.org/drawingml/2006/main">
              <a:ext uri="{FF2B5EF4-FFF2-40B4-BE49-F238E27FC236}">
                <a16:creationId xmlns:a16="http://schemas.microsoft.com/office/drawing/2014/main" id="{FCB2C81B-280B-40CC-B66A-D4A095C531F9}"/>
              </a:ext>
            </a:extLst>
          </p:cNvPr>
          <p:cNvSpPr>
            <a:spLocks xmlns:a="http://schemas.openxmlformats.org/drawingml/2006/main" noGrp="1"/>
          </p:cNvSpPr>
          <p:nvPr/>
        </p:nvSpPr>
        <p:spPr>
          <a:xfrm xmlns:a="http://schemas.openxmlformats.org/drawingml/2006/main">
            <a:off x="7000875" y="2333625"/>
            <a:ext cx="47625" cy="1219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DD93D0E-E608-4895-8C2D-13FA3AF26D0B}"/>
              </a:ext>
            </a:extLst>
          </p:cNvPr>
          <p:cNvSpPr>
            <a:spLocks xmlns:a="http://schemas.openxmlformats.org/drawingml/2006/main" noGrp="1"/>
          </p:cNvSpPr>
          <p:nvPr/>
        </p:nvSpPr>
        <p:spPr>
          <a:xfrm xmlns:a="http://schemas.openxmlformats.org/drawingml/2006/main">
            <a:off x="7172325" y="2466975"/>
            <a:ext cx="16668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XLerobotClient</a:t>
            </a:r>
          </a:p>
        </p:txBody>
      </p:sp>
      <p:sp>
        <p:nvSpPr>
          <p:cNvPr id="18" name="">
            <a:extLst xmlns:a="http://schemas.openxmlformats.org/drawingml/2006/main">
              <a:ext uri="{FF2B5EF4-FFF2-40B4-BE49-F238E27FC236}">
                <a16:creationId xmlns:a16="http://schemas.microsoft.com/office/drawing/2014/main" id="{4B651653-5E40-4856-A146-970FC1D0BC46}"/>
              </a:ext>
            </a:extLst>
          </p:cNvPr>
          <p:cNvSpPr>
            <a:spLocks xmlns:a="http://schemas.openxmlformats.org/drawingml/2006/main" noGrp="1"/>
          </p:cNvSpPr>
          <p:nvPr/>
        </p:nvSpPr>
        <p:spPr>
          <a:xfrm xmlns:a="http://schemas.openxmlformats.org/drawingml/2006/main">
            <a:off x="7172325" y="2781300"/>
            <a:ext cx="16668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动作下发</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观测读取</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图像解码</a:t>
            </a:r>
          </a:p>
        </p:txBody>
      </p:sp>
      <p:sp>
        <p:nvSpPr>
          <p:cNvPr id="19" name="">
            <a:extLst xmlns:a="http://schemas.openxmlformats.org/drawingml/2006/main">
              <a:ext uri="{FF2B5EF4-FFF2-40B4-BE49-F238E27FC236}">
                <a16:creationId xmlns:a16="http://schemas.microsoft.com/office/drawing/2014/main" id="{BC4B534E-D7D3-4AE7-8136-1239DB922C2E}"/>
              </a:ext>
            </a:extLst>
          </p:cNvPr>
          <p:cNvSpPr>
            <a:spLocks xmlns:a="http://schemas.openxmlformats.org/drawingml/2006/main" noGrp="1"/>
          </p:cNvSpPr>
          <p:nvPr/>
        </p:nvSpPr>
        <p:spPr>
          <a:xfrm xmlns:a="http://schemas.openxmlformats.org/drawingml/2006/main">
            <a:off x="9696450" y="2000250"/>
            <a:ext cx="2000250" cy="1885950"/>
          </a:xfrm>
          <a:prstGeom xmlns:a="http://schemas.openxmlformats.org/drawingml/2006/main" prst="rect">
            <a:avLst/>
          </a:prstGeom>
          <a:solidFill xmlns:a="http://schemas.openxmlformats.org/drawingml/2006/main">
            <a:srgbClr val="121B2E"/>
          </a:solidFill>
          <a:ln xmlns:a="http://schemas.openxmlformats.org/drawingml/2006/main" w="19050">
            <a:solidFill>
              <a:srgbClr val="22C55E"/>
            </a:solidFill>
            <a:prstDash val="solid"/>
          </a:ln>
        </p:spPr>
      </p:sp>
      <p:sp>
        <p:nvSpPr>
          <p:cNvPr id="20" name="">
            <a:extLst xmlns:a="http://schemas.openxmlformats.org/drawingml/2006/main">
              <a:ext uri="{FF2B5EF4-FFF2-40B4-BE49-F238E27FC236}">
                <a16:creationId xmlns:a16="http://schemas.microsoft.com/office/drawing/2014/main" id="{74737C61-130D-40D5-805C-3AE63D7E9B4E}"/>
              </a:ext>
            </a:extLst>
          </p:cNvPr>
          <p:cNvSpPr>
            <a:spLocks xmlns:a="http://schemas.openxmlformats.org/drawingml/2006/main" noGrp="1"/>
          </p:cNvSpPr>
          <p:nvPr/>
        </p:nvSpPr>
        <p:spPr>
          <a:xfrm xmlns:a="http://schemas.openxmlformats.org/drawingml/2006/main">
            <a:off x="9696450" y="2000250"/>
            <a:ext cx="47625" cy="18859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55EB926-B479-4744-A0D1-C8AA524C19FB}"/>
              </a:ext>
            </a:extLst>
          </p:cNvPr>
          <p:cNvSpPr>
            <a:spLocks xmlns:a="http://schemas.openxmlformats.org/drawingml/2006/main" noGrp="1"/>
          </p:cNvSpPr>
          <p:nvPr/>
        </p:nvSpPr>
        <p:spPr>
          <a:xfrm xmlns:a="http://schemas.openxmlformats.org/drawingml/2006/main">
            <a:off x="9867900" y="21336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7FAFC"/>
                </a:solidFill>
                <a:latin typeface="PingFang SC"/>
                <a:ea typeface="PingFang SC"/>
                <a:cs typeface="PingFang SC"/>
              </a:defRPr>
            </a:pPr>
            <a:r>
              <a:rPr sz="1275" b="1">
                <a:solidFill>
                  <a:srgbClr val="F7FAFC"/>
                </a:solidFill>
                <a:latin typeface="PingFang SC"/>
                <a:ea typeface="PingFang SC"/>
                <a:cs typeface="PingFang SC"/>
              </a:rPr>
              <a:t>机器人服务端</a:t>
            </a:r>
          </a:p>
        </p:txBody>
      </p:sp>
      <p:sp>
        <p:nvSpPr>
          <p:cNvPr id="22" name="">
            <a:extLst xmlns:a="http://schemas.openxmlformats.org/drawingml/2006/main">
              <a:ext uri="{FF2B5EF4-FFF2-40B4-BE49-F238E27FC236}">
                <a16:creationId xmlns:a16="http://schemas.microsoft.com/office/drawing/2014/main" id="{C7DC1A04-5E0E-49D8-AC01-4497C2571122}"/>
              </a:ext>
            </a:extLst>
          </p:cNvPr>
          <p:cNvSpPr>
            <a:spLocks xmlns:a="http://schemas.openxmlformats.org/drawingml/2006/main" noGrp="1"/>
          </p:cNvSpPr>
          <p:nvPr/>
        </p:nvSpPr>
        <p:spPr>
          <a:xfrm xmlns:a="http://schemas.openxmlformats.org/drawingml/2006/main">
            <a:off x="9867900" y="2447925"/>
            <a:ext cx="1714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树莓派执行硬件控制</a:t>
            </a:r>
          </a:p>
          <a:p xmlns:a="http://schemas.openxmlformats.org/drawingml/2006/main">
            <a:pPr algn="l">
              <a:defRPr sz="863" b="0">
                <a:solidFill>
                  <a:srgbClr val="94A3B8"/>
                </a:solidFill>
                <a:latin typeface="PingFang SC"/>
                <a:ea typeface="PingFang SC"/>
                <a:cs typeface="PingFang SC"/>
              </a:defRPr>
            </a:pPr>
            <a:r>
              <a:rPr sz="863" b="0">
                <a:solidFill>
                  <a:srgbClr val="94A3B8"/>
                </a:solidFill>
                <a:latin typeface="PingFang SC"/>
                <a:ea typeface="PingFang SC"/>
                <a:cs typeface="PingFang SC"/>
              </a:rPr>
              <a:t>真实 XLeRobot 运动</a:t>
            </a:r>
          </a:p>
        </p:txBody>
      </p:sp>
      <p:sp>
        <p:nvSpPr>
          <p:cNvPr id="23" name="">
            <a:extLst xmlns:a="http://schemas.openxmlformats.org/drawingml/2006/main">
              <a:ext uri="{FF2B5EF4-FFF2-40B4-BE49-F238E27FC236}">
                <a16:creationId xmlns:a16="http://schemas.microsoft.com/office/drawing/2014/main" id="{50D78A4A-35B7-4215-9755-E7D4CCDE65B7}"/>
              </a:ext>
            </a:extLst>
          </p:cNvPr>
          <p:cNvSpPr>
            <a:spLocks xmlns:a="http://schemas.openxmlformats.org/drawingml/2006/main" noGrp="1"/>
          </p:cNvSpPr>
          <p:nvPr/>
        </p:nvSpPr>
        <p:spPr>
          <a:xfrm xmlns:a="http://schemas.openxmlformats.org/drawingml/2006/main">
            <a:off x="2952750" y="2943225"/>
            <a:ext cx="790575" cy="381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9C19AEE-C88D-4F19-A8BE-602718FAC3D5}"/>
              </a:ext>
            </a:extLst>
          </p:cNvPr>
          <p:cNvSpPr>
            <a:spLocks xmlns:a="http://schemas.openxmlformats.org/drawingml/2006/main" noGrp="1"/>
          </p:cNvSpPr>
          <p:nvPr/>
        </p:nvSpPr>
        <p:spPr>
          <a:xfrm xmlns:a="http://schemas.openxmlformats.org/drawingml/2006/main">
            <a:off x="3705225" y="2905125"/>
            <a:ext cx="762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8045EA6-1AF6-4892-A878-67CEDB09363E}"/>
              </a:ext>
            </a:extLst>
          </p:cNvPr>
          <p:cNvSpPr>
            <a:spLocks xmlns:a="http://schemas.openxmlformats.org/drawingml/2006/main" noGrp="1"/>
          </p:cNvSpPr>
          <p:nvPr/>
        </p:nvSpPr>
        <p:spPr>
          <a:xfrm xmlns:a="http://schemas.openxmlformats.org/drawingml/2006/main">
            <a:off x="6219825" y="2943225"/>
            <a:ext cx="781050" cy="381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6884185-C00F-4104-B39E-F3752D09E9C7}"/>
              </a:ext>
            </a:extLst>
          </p:cNvPr>
          <p:cNvSpPr>
            <a:spLocks xmlns:a="http://schemas.openxmlformats.org/drawingml/2006/main" noGrp="1"/>
          </p:cNvSpPr>
          <p:nvPr/>
        </p:nvSpPr>
        <p:spPr>
          <a:xfrm xmlns:a="http://schemas.openxmlformats.org/drawingml/2006/main">
            <a:off x="6962775" y="2905125"/>
            <a:ext cx="7620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0976812-F274-4A3A-BBF1-B63775F2CEF7}"/>
              </a:ext>
            </a:extLst>
          </p:cNvPr>
          <p:cNvSpPr>
            <a:spLocks xmlns:a="http://schemas.openxmlformats.org/drawingml/2006/main" noGrp="1"/>
          </p:cNvSpPr>
          <p:nvPr/>
        </p:nvSpPr>
        <p:spPr>
          <a:xfrm xmlns:a="http://schemas.openxmlformats.org/drawingml/2006/main">
            <a:off x="8953500" y="2943225"/>
            <a:ext cx="742950" cy="381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53A33C3-0E19-481A-A6F5-497977780B43}"/>
              </a:ext>
            </a:extLst>
          </p:cNvPr>
          <p:cNvSpPr>
            <a:spLocks xmlns:a="http://schemas.openxmlformats.org/drawingml/2006/main" noGrp="1"/>
          </p:cNvSpPr>
          <p:nvPr/>
        </p:nvSpPr>
        <p:spPr>
          <a:xfrm xmlns:a="http://schemas.openxmlformats.org/drawingml/2006/main">
            <a:off x="9658350" y="2905125"/>
            <a:ext cx="7620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251D474-176F-4FA9-970A-C6E2E65DD871}"/>
              </a:ext>
            </a:extLst>
          </p:cNvPr>
          <p:cNvSpPr>
            <a:spLocks xmlns:a="http://schemas.openxmlformats.org/drawingml/2006/main" noGrp="1"/>
          </p:cNvSpPr>
          <p:nvPr/>
        </p:nvSpPr>
        <p:spPr>
          <a:xfrm xmlns:a="http://schemas.openxmlformats.org/drawingml/2006/main">
            <a:off x="3886200" y="4048125"/>
            <a:ext cx="1219200" cy="228600"/>
          </a:xfrm>
          <a:prstGeom xmlns:a="http://schemas.openxmlformats.org/drawingml/2006/main" prst="rect">
            <a:avLst/>
          </a:prstGeom>
          <a:solidFill xmlns:a="http://schemas.openxmlformats.org/drawingml/2006/main">
            <a:srgbClr val="0F2633"/>
          </a:solidFill>
          <a:ln xmlns:a="http://schemas.openxmlformats.org/drawingml/2006/main" w="9525">
            <a:solidFill>
              <a:srgbClr val="3B82F6"/>
            </a:solidFill>
            <a:prstDash val="solid"/>
          </a:ln>
        </p:spPr>
      </p:sp>
      <p:sp>
        <p:nvSpPr>
          <p:cNvPr id="30" name="">
            <a:extLst xmlns:a="http://schemas.openxmlformats.org/drawingml/2006/main">
              <a:ext uri="{FF2B5EF4-FFF2-40B4-BE49-F238E27FC236}">
                <a16:creationId xmlns:a16="http://schemas.microsoft.com/office/drawing/2014/main" id="{857BA916-566F-4B68-A894-CBE96B236B38}"/>
              </a:ext>
            </a:extLst>
          </p:cNvPr>
          <p:cNvSpPr>
            <a:spLocks xmlns:a="http://schemas.openxmlformats.org/drawingml/2006/main" noGrp="1"/>
          </p:cNvSpPr>
          <p:nvPr/>
        </p:nvSpPr>
        <p:spPr>
          <a:xfrm xmlns:a="http://schemas.openxmlformats.org/drawingml/2006/main">
            <a:off x="3962400" y="4095750"/>
            <a:ext cx="10668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3B82F6"/>
                </a:solidFill>
                <a:latin typeface="PingFang SC"/>
                <a:ea typeface="PingFang SC"/>
                <a:cs typeface="PingFang SC"/>
              </a:defRPr>
            </a:pPr>
            <a:r>
              <a:rPr sz="713" b="1">
                <a:solidFill>
                  <a:srgbClr val="3B82F6"/>
                </a:solidFill>
                <a:latin typeface="PingFang SC"/>
                <a:ea typeface="PingFang SC"/>
                <a:cs typeface="PingFang SC"/>
              </a:rPr>
              <a:t>对外像官方硬件</a:t>
            </a:r>
          </a:p>
        </p:txBody>
      </p:sp>
      <p:sp>
        <p:nvSpPr>
          <p:cNvPr id="31" name="">
            <a:extLst xmlns:a="http://schemas.openxmlformats.org/drawingml/2006/main">
              <a:ext uri="{FF2B5EF4-FFF2-40B4-BE49-F238E27FC236}">
                <a16:creationId xmlns:a16="http://schemas.microsoft.com/office/drawing/2014/main" id="{346658B4-A23E-46A5-8064-D1557E4167F7}"/>
              </a:ext>
            </a:extLst>
          </p:cNvPr>
          <p:cNvSpPr>
            <a:spLocks xmlns:a="http://schemas.openxmlformats.org/drawingml/2006/main" noGrp="1"/>
          </p:cNvSpPr>
          <p:nvPr/>
        </p:nvSpPr>
        <p:spPr>
          <a:xfrm xmlns:a="http://schemas.openxmlformats.org/drawingml/2006/main">
            <a:off x="5181600" y="4048125"/>
            <a:ext cx="914400" cy="228600"/>
          </a:xfrm>
          <a:prstGeom xmlns:a="http://schemas.openxmlformats.org/drawingml/2006/main" prst="rect">
            <a:avLst/>
          </a:prstGeom>
          <a:solidFill xmlns:a="http://schemas.openxmlformats.org/drawingml/2006/main">
            <a:srgbClr val="0F2633"/>
          </a:solidFill>
          <a:ln xmlns:a="http://schemas.openxmlformats.org/drawingml/2006/main" w="9525">
            <a:solidFill>
              <a:srgbClr val="F59E0B"/>
            </a:solidFill>
            <a:prstDash val="solid"/>
          </a:ln>
        </p:spPr>
      </p:sp>
      <p:sp>
        <p:nvSpPr>
          <p:cNvPr id="32" name="">
            <a:extLst xmlns:a="http://schemas.openxmlformats.org/drawingml/2006/main">
              <a:ext uri="{FF2B5EF4-FFF2-40B4-BE49-F238E27FC236}">
                <a16:creationId xmlns:a16="http://schemas.microsoft.com/office/drawing/2014/main" id="{04764A2A-5E04-4452-BBE2-C4802A96818E}"/>
              </a:ext>
            </a:extLst>
          </p:cNvPr>
          <p:cNvSpPr>
            <a:spLocks xmlns:a="http://schemas.openxmlformats.org/drawingml/2006/main" noGrp="1"/>
          </p:cNvSpPr>
          <p:nvPr/>
        </p:nvSpPr>
        <p:spPr>
          <a:xfrm xmlns:a="http://schemas.openxmlformats.org/drawingml/2006/main">
            <a:off x="5257800" y="40957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59E0B"/>
                </a:solidFill>
                <a:latin typeface="PingFang SC"/>
                <a:ea typeface="PingFang SC"/>
                <a:cs typeface="PingFang SC"/>
              </a:defRPr>
            </a:pPr>
            <a:r>
              <a:rPr sz="713" b="1">
                <a:solidFill>
                  <a:srgbClr val="F59E0B"/>
                </a:solidFill>
                <a:latin typeface="PingFang SC"/>
                <a:ea typeface="PingFang SC"/>
                <a:cs typeface="PingFang SC"/>
              </a:rPr>
              <a:t>对内走网络</a:t>
            </a:r>
          </a:p>
        </p:txBody>
      </p:sp>
      <p:sp>
        <p:nvSpPr>
          <p:cNvPr id="33" name="">
            <a:extLst xmlns:a="http://schemas.openxmlformats.org/drawingml/2006/main">
              <a:ext uri="{FF2B5EF4-FFF2-40B4-BE49-F238E27FC236}">
                <a16:creationId xmlns:a16="http://schemas.microsoft.com/office/drawing/2014/main" id="{2F2230E7-4F53-43C9-8534-F38CF23D831B}"/>
              </a:ext>
            </a:extLst>
          </p:cNvPr>
          <p:cNvSpPr>
            <a:spLocks xmlns:a="http://schemas.openxmlformats.org/drawingml/2006/main" noGrp="1"/>
          </p:cNvSpPr>
          <p:nvPr/>
        </p:nvSpPr>
        <p:spPr>
          <a:xfrm xmlns:a="http://schemas.openxmlformats.org/drawingml/2006/main">
            <a:off x="838200" y="4762500"/>
            <a:ext cx="10363200" cy="742950"/>
          </a:xfrm>
          <a:prstGeom xmlns:a="http://schemas.openxmlformats.org/drawingml/2006/main" prst="rect">
            <a:avLst/>
          </a:prstGeom>
          <a:solidFill xmlns:a="http://schemas.openxmlformats.org/drawingml/2006/main">
            <a:srgbClr val="111A2D"/>
          </a:solidFill>
          <a:ln xmlns:a="http://schemas.openxmlformats.org/drawingml/2006/main" w="9525">
            <a:solidFill>
              <a:srgbClr val="253246"/>
            </a:solidFill>
            <a:prstDash val="solid"/>
          </a:ln>
        </p:spPr>
      </p:sp>
      <p:sp>
        <p:nvSpPr>
          <p:cNvPr id="34" name="">
            <a:extLst xmlns:a="http://schemas.openxmlformats.org/drawingml/2006/main">
              <a:ext uri="{FF2B5EF4-FFF2-40B4-BE49-F238E27FC236}">
                <a16:creationId xmlns:a16="http://schemas.microsoft.com/office/drawing/2014/main" id="{58E37923-CECD-4541-A35E-E3AC6E79FABC}"/>
              </a:ext>
            </a:extLst>
          </p:cNvPr>
          <p:cNvSpPr>
            <a:spLocks xmlns:a="http://schemas.openxmlformats.org/drawingml/2006/main" noGrp="1"/>
          </p:cNvSpPr>
          <p:nvPr/>
        </p:nvSpPr>
        <p:spPr>
          <a:xfrm xmlns:a="http://schemas.openxmlformats.org/drawingml/2006/main">
            <a:off x="1104900" y="49720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适配机制</a:t>
            </a:r>
          </a:p>
        </p:txBody>
      </p:sp>
      <p:sp>
        <p:nvSpPr>
          <p:cNvPr id="35" name="">
            <a:extLst xmlns:a="http://schemas.openxmlformats.org/drawingml/2006/main">
              <a:ext uri="{FF2B5EF4-FFF2-40B4-BE49-F238E27FC236}">
                <a16:creationId xmlns:a16="http://schemas.microsoft.com/office/drawing/2014/main" id="{6B163ED0-11C1-4362-947E-A62B8BC401B7}"/>
              </a:ext>
            </a:extLst>
          </p:cNvPr>
          <p:cNvSpPr>
            <a:spLocks xmlns:a="http://schemas.openxmlformats.org/drawingml/2006/main" noGrp="1"/>
          </p:cNvSpPr>
          <p:nvPr/>
        </p:nvSpPr>
        <p:spPr>
          <a:xfrm xmlns:a="http://schemas.openxmlformats.org/drawingml/2006/main">
            <a:off x="2724150" y="4857750"/>
            <a:ext cx="752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AFC"/>
                </a:solidFill>
                <a:latin typeface="PingFang SC"/>
                <a:ea typeface="PingFang SC"/>
                <a:cs typeface="PingFang SC"/>
              </a:defRPr>
            </a:pPr>
            <a:r>
              <a:rPr sz="1425" b="1">
                <a:solidFill>
                  <a:srgbClr val="F7FAFC"/>
                </a:solidFill>
                <a:latin typeface="PingFang SC"/>
                <a:ea typeface="PingFang SC"/>
                <a:cs typeface="PingFang SC"/>
              </a:rPr>
              <a:t>官方接口保持不变，真实动作通过网络下发到树莓派机器人服务端。</a:t>
            </a:r>
          </a:p>
        </p:txBody>
      </p:sp>
      <p:sp>
        <p:nvSpPr>
          <p:cNvPr id="36" name="">
            <a:extLst xmlns:a="http://schemas.openxmlformats.org/drawingml/2006/main">
              <a:ext uri="{FF2B5EF4-FFF2-40B4-BE49-F238E27FC236}">
                <a16:creationId xmlns:a16="http://schemas.microsoft.com/office/drawing/2014/main" id="{74B97A87-72F9-4BE7-9CED-D654FAE26FA0}"/>
              </a:ext>
            </a:extLst>
          </p:cNvPr>
          <p:cNvSpPr>
            <a:spLocks xmlns:a="http://schemas.openxmlformats.org/drawingml/2006/main" noGrp="1"/>
          </p:cNvSpPr>
          <p:nvPr/>
        </p:nvSpPr>
        <p:spPr>
          <a:xfrm xmlns:a="http://schemas.openxmlformats.org/drawingml/2006/main">
            <a:off x="2724150" y="52197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94A3B8"/>
                </a:solidFill>
                <a:latin typeface="PingFang SC"/>
                <a:ea typeface="PingFang SC"/>
                <a:cs typeface="PingFang SC"/>
              </a:defRPr>
            </a:pPr>
            <a:r>
              <a:rPr sz="788" b="0">
                <a:solidFill>
                  <a:srgbClr val="94A3B8"/>
                </a:solidFill>
                <a:latin typeface="PingFang SC"/>
                <a:ea typeface="PingFang SC"/>
                <a:cs typeface="PingFang SC"/>
              </a:rPr>
              <a:t>好处：不破坏官方生态，后续随 RoboCrew / XLeRobot 升级更容易迁移。</a:t>
            </a:r>
          </a:p>
        </p:txBody>
      </p:sp>
      <p:sp>
        <p:nvSpPr>
          <p:cNvPr id="37" name="">
            <a:extLst xmlns:a="http://schemas.openxmlformats.org/drawingml/2006/main">
              <a:ext uri="{FF2B5EF4-FFF2-40B4-BE49-F238E27FC236}">
                <a16:creationId xmlns:a16="http://schemas.microsoft.com/office/drawing/2014/main" id="{19450A47-2D9D-4EB8-8755-8E1B1BB11F6E}"/>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611C588D-B9E2-4FA6-B0DD-3EBFACC7353C}"/>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39" name="">
            <a:extLst xmlns:a="http://schemas.openxmlformats.org/drawingml/2006/main">
              <a:ext uri="{FF2B5EF4-FFF2-40B4-BE49-F238E27FC236}">
                <a16:creationId xmlns:a16="http://schemas.microsoft.com/office/drawing/2014/main" id="{454989CD-91C5-4AB5-BC9E-A3A2F6B9D1B3}"/>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06</a:t>
            </a:r>
          </a:p>
        </p:txBody>
      </p:sp>
    </p:spTree>
    <p:extLst>
      <p:ext uri="{BB962C8B-B14F-4D97-AF65-F5344CB8AC3E}">
        <p14:creationId xmlns:p14="http://schemas.microsoft.com/office/powerpoint/2010/main" val="19220478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40B3D0-D485-433C-85BC-678CEA2A41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A9BD0D6-5F05-4CF3-BF9A-9AB1E4848266}"/>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567CF4F-E32F-4D8D-B6C7-16B43CC2A105}"/>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07</a:t>
            </a:r>
          </a:p>
        </p:txBody>
      </p:sp>
      <p:sp>
        <p:nvSpPr>
          <p:cNvPr id="4" name="">
            <a:extLst xmlns:a="http://schemas.openxmlformats.org/drawingml/2006/main">
              <a:ext uri="{FF2B5EF4-FFF2-40B4-BE49-F238E27FC236}">
                <a16:creationId xmlns:a16="http://schemas.microsoft.com/office/drawing/2014/main" id="{C83D6558-E72B-485B-B97A-BD3B1D9D329D}"/>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LEARNING EVIDENCE</a:t>
            </a:r>
          </a:p>
        </p:txBody>
      </p:sp>
      <p:sp>
        <p:nvSpPr>
          <p:cNvPr id="5" name="">
            <a:extLst xmlns:a="http://schemas.openxmlformats.org/drawingml/2006/main">
              <a:ext uri="{FF2B5EF4-FFF2-40B4-BE49-F238E27FC236}">
                <a16:creationId xmlns:a16="http://schemas.microsoft.com/office/drawing/2014/main" id="{9BA32901-1C03-45AA-8CC4-5663BC1777D8}"/>
              </a:ext>
            </a:extLst>
          </p:cNvPr>
          <p:cNvSpPr>
            <a:spLocks xmlns:a="http://schemas.openxmlformats.org/drawingml/2006/main" noGrp="1"/>
          </p:cNvSpPr>
          <p:nvPr/>
        </p:nvSpPr>
        <p:spPr>
          <a:xfrm xmlns:a="http://schemas.openxmlformats.org/drawingml/2006/main">
            <a:off x="552450" y="781050"/>
            <a:ext cx="8763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0F172A"/>
                </a:solidFill>
                <a:latin typeface="PingFang SC"/>
                <a:ea typeface="PingFang SC"/>
                <a:cs typeface="PingFang SC"/>
              </a:defRPr>
            </a:pPr>
            <a:r>
              <a:rPr sz="2475" b="1">
                <a:solidFill>
                  <a:srgbClr val="0F172A"/>
                </a:solidFill>
                <a:latin typeface="PingFang SC"/>
                <a:ea typeface="PingFang SC"/>
                <a:cs typeface="PingFang SC"/>
              </a:rPr>
              <a:t>从可控动作到可学习策略，已经打通数据训练链路</a:t>
            </a:r>
          </a:p>
        </p:txBody>
      </p:sp>
      <p:sp>
        <p:nvSpPr>
          <p:cNvPr id="6" name="">
            <a:extLst xmlns:a="http://schemas.openxmlformats.org/drawingml/2006/main">
              <a:ext uri="{FF2B5EF4-FFF2-40B4-BE49-F238E27FC236}">
                <a16:creationId xmlns:a16="http://schemas.microsoft.com/office/drawing/2014/main" id="{49406FAB-FDE7-4438-9A70-98DEFFE11624}"/>
              </a:ext>
            </a:extLst>
          </p:cNvPr>
          <p:cNvSpPr>
            <a:spLocks xmlns:a="http://schemas.openxmlformats.org/drawingml/2006/main" noGrp="1"/>
          </p:cNvSpPr>
          <p:nvPr/>
        </p:nvSpPr>
        <p:spPr>
          <a:xfrm xmlns:a="http://schemas.openxmlformats.org/drawingml/2006/main">
            <a:off x="590550" y="14478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原型系统的意义不止是动起来，而是能采集数据、训练策略、试跑失败后继续补数据。</a:t>
            </a:r>
          </a:p>
        </p:txBody>
      </p:sp>
      <p:sp>
        <p:nvSpPr>
          <p:cNvPr id="7" name="">
            <a:extLst xmlns:a="http://schemas.openxmlformats.org/drawingml/2006/main">
              <a:ext uri="{FF2B5EF4-FFF2-40B4-BE49-F238E27FC236}">
                <a16:creationId xmlns:a16="http://schemas.microsoft.com/office/drawing/2014/main" id="{CA9D53BE-123A-45CE-BE6D-F7AD693EFBA2}"/>
              </a:ext>
            </a:extLst>
          </p:cNvPr>
          <p:cNvSpPr>
            <a:spLocks xmlns:a="http://schemas.openxmlformats.org/drawingml/2006/main" noGrp="1"/>
          </p:cNvSpPr>
          <p:nvPr/>
        </p:nvSpPr>
        <p:spPr>
          <a:xfrm xmlns:a="http://schemas.openxmlformats.org/drawingml/2006/main">
            <a:off x="742950" y="2247900"/>
            <a:ext cx="11239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22D3EE"/>
            </a:solidFill>
            <a:prstDash val="solid"/>
          </a:ln>
        </p:spPr>
      </p:sp>
      <p:sp>
        <p:nvSpPr>
          <p:cNvPr id="8" name="">
            <a:extLst xmlns:a="http://schemas.openxmlformats.org/drawingml/2006/main">
              <a:ext uri="{FF2B5EF4-FFF2-40B4-BE49-F238E27FC236}">
                <a16:creationId xmlns:a16="http://schemas.microsoft.com/office/drawing/2014/main" id="{70FE0E31-0BCD-406F-89AD-4DBD410B1B47}"/>
              </a:ext>
            </a:extLst>
          </p:cNvPr>
          <p:cNvSpPr>
            <a:spLocks xmlns:a="http://schemas.openxmlformats.org/drawingml/2006/main" noGrp="1"/>
          </p:cNvSpPr>
          <p:nvPr/>
        </p:nvSpPr>
        <p:spPr>
          <a:xfrm xmlns:a="http://schemas.openxmlformats.org/drawingml/2006/main">
            <a:off x="1066800" y="2381250"/>
            <a:ext cx="47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22D3EE"/>
                </a:solidFill>
                <a:latin typeface="PingFang SC"/>
                <a:ea typeface="PingFang SC"/>
                <a:cs typeface="PingFang SC"/>
              </a:defRPr>
            </a:pPr>
            <a:r>
              <a:rPr sz="2400" b="1">
                <a:solidFill>
                  <a:srgbClr val="22D3EE"/>
                </a:solidFill>
                <a:latin typeface="PingFang SC"/>
                <a:ea typeface="PingFang SC"/>
                <a:cs typeface="PingFang SC"/>
              </a:rPr>
              <a:t>听</a:t>
            </a:r>
          </a:p>
        </p:txBody>
      </p:sp>
      <p:sp>
        <p:nvSpPr>
          <p:cNvPr id="9" name="">
            <a:extLst xmlns:a="http://schemas.openxmlformats.org/drawingml/2006/main">
              <a:ext uri="{FF2B5EF4-FFF2-40B4-BE49-F238E27FC236}">
                <a16:creationId xmlns:a16="http://schemas.microsoft.com/office/drawing/2014/main" id="{7E5AFEC4-F8A1-4851-80D8-C7626A05F553}"/>
              </a:ext>
            </a:extLst>
          </p:cNvPr>
          <p:cNvSpPr>
            <a:spLocks xmlns:a="http://schemas.openxmlformats.org/drawingml/2006/main" noGrp="1"/>
          </p:cNvSpPr>
          <p:nvPr/>
        </p:nvSpPr>
        <p:spPr>
          <a:xfrm xmlns:a="http://schemas.openxmlformats.org/drawingml/2006/main">
            <a:off x="838200" y="28194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0F172A"/>
                </a:solidFill>
                <a:latin typeface="PingFang SC"/>
                <a:ea typeface="PingFang SC"/>
                <a:cs typeface="PingFang SC"/>
              </a:defRPr>
            </a:pPr>
            <a:r>
              <a:rPr sz="825" b="1">
                <a:solidFill>
                  <a:srgbClr val="0F172A"/>
                </a:solidFill>
                <a:latin typeface="PingFang SC"/>
                <a:ea typeface="PingFang SC"/>
                <a:cs typeface="PingFang SC"/>
              </a:rPr>
              <a:t>语音/文字</a:t>
            </a:r>
          </a:p>
        </p:txBody>
      </p:sp>
      <p:sp>
        <p:nvSpPr>
          <p:cNvPr id="10" name="">
            <a:extLst xmlns:a="http://schemas.openxmlformats.org/drawingml/2006/main">
              <a:ext uri="{FF2B5EF4-FFF2-40B4-BE49-F238E27FC236}">
                <a16:creationId xmlns:a16="http://schemas.microsoft.com/office/drawing/2014/main" id="{C5226AAA-B480-4705-90D0-0C426C81C40B}"/>
              </a:ext>
            </a:extLst>
          </p:cNvPr>
          <p:cNvSpPr>
            <a:spLocks xmlns:a="http://schemas.openxmlformats.org/drawingml/2006/main" noGrp="1"/>
          </p:cNvSpPr>
          <p:nvPr/>
        </p:nvSpPr>
        <p:spPr>
          <a:xfrm xmlns:a="http://schemas.openxmlformats.org/drawingml/2006/main">
            <a:off x="1866900" y="2705100"/>
            <a:ext cx="495300" cy="28575"/>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8F3CB55-B560-4BF1-9839-D032FD013A66}"/>
              </a:ext>
            </a:extLst>
          </p:cNvPr>
          <p:cNvSpPr>
            <a:spLocks xmlns:a="http://schemas.openxmlformats.org/drawingml/2006/main" noGrp="1"/>
          </p:cNvSpPr>
          <p:nvPr/>
        </p:nvSpPr>
        <p:spPr>
          <a:xfrm xmlns:a="http://schemas.openxmlformats.org/drawingml/2006/main">
            <a:off x="2324100" y="2667000"/>
            <a:ext cx="762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C6CB72F-B304-4D06-ABDA-8E5E21A63BBE}"/>
              </a:ext>
            </a:extLst>
          </p:cNvPr>
          <p:cNvSpPr>
            <a:spLocks xmlns:a="http://schemas.openxmlformats.org/drawingml/2006/main" noGrp="1"/>
          </p:cNvSpPr>
          <p:nvPr/>
        </p:nvSpPr>
        <p:spPr>
          <a:xfrm xmlns:a="http://schemas.openxmlformats.org/drawingml/2006/main">
            <a:off x="2362200" y="2247900"/>
            <a:ext cx="11239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3B82F6"/>
            </a:solidFill>
            <a:prstDash val="solid"/>
          </a:ln>
        </p:spPr>
      </p:sp>
      <p:sp>
        <p:nvSpPr>
          <p:cNvPr id="13" name="">
            <a:extLst xmlns:a="http://schemas.openxmlformats.org/drawingml/2006/main">
              <a:ext uri="{FF2B5EF4-FFF2-40B4-BE49-F238E27FC236}">
                <a16:creationId xmlns:a16="http://schemas.microsoft.com/office/drawing/2014/main" id="{F99870FE-AB34-4B4B-9A06-E7B2439B3079}"/>
              </a:ext>
            </a:extLst>
          </p:cNvPr>
          <p:cNvSpPr>
            <a:spLocks xmlns:a="http://schemas.openxmlformats.org/drawingml/2006/main" noGrp="1"/>
          </p:cNvSpPr>
          <p:nvPr/>
        </p:nvSpPr>
        <p:spPr>
          <a:xfrm xmlns:a="http://schemas.openxmlformats.org/drawingml/2006/main">
            <a:off x="2686050" y="2381250"/>
            <a:ext cx="47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3B82F6"/>
                </a:solidFill>
                <a:latin typeface="PingFang SC"/>
                <a:ea typeface="PingFang SC"/>
                <a:cs typeface="PingFang SC"/>
              </a:defRPr>
            </a:pPr>
            <a:r>
              <a:rPr sz="2400" b="1">
                <a:solidFill>
                  <a:srgbClr val="3B82F6"/>
                </a:solidFill>
                <a:latin typeface="PingFang SC"/>
                <a:ea typeface="PingFang SC"/>
                <a:cs typeface="PingFang SC"/>
              </a:rPr>
              <a:t>看</a:t>
            </a:r>
          </a:p>
        </p:txBody>
      </p:sp>
      <p:sp>
        <p:nvSpPr>
          <p:cNvPr id="14" name="">
            <a:extLst xmlns:a="http://schemas.openxmlformats.org/drawingml/2006/main">
              <a:ext uri="{FF2B5EF4-FFF2-40B4-BE49-F238E27FC236}">
                <a16:creationId xmlns:a16="http://schemas.microsoft.com/office/drawing/2014/main" id="{194D1FCF-A287-4018-A38B-FD85E8D64534}"/>
              </a:ext>
            </a:extLst>
          </p:cNvPr>
          <p:cNvSpPr>
            <a:spLocks xmlns:a="http://schemas.openxmlformats.org/drawingml/2006/main" noGrp="1"/>
          </p:cNvSpPr>
          <p:nvPr/>
        </p:nvSpPr>
        <p:spPr>
          <a:xfrm xmlns:a="http://schemas.openxmlformats.org/drawingml/2006/main">
            <a:off x="2457450" y="28194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0F172A"/>
                </a:solidFill>
                <a:latin typeface="PingFang SC"/>
                <a:ea typeface="PingFang SC"/>
                <a:cs typeface="PingFang SC"/>
              </a:defRPr>
            </a:pPr>
            <a:r>
              <a:rPr sz="825" b="1">
                <a:solidFill>
                  <a:srgbClr val="0F172A"/>
                </a:solidFill>
                <a:latin typeface="PingFang SC"/>
                <a:ea typeface="PingFang SC"/>
                <a:cs typeface="PingFang SC"/>
              </a:rPr>
              <a:t>三路摄像头</a:t>
            </a:r>
          </a:p>
        </p:txBody>
      </p:sp>
      <p:sp>
        <p:nvSpPr>
          <p:cNvPr id="15" name="">
            <a:extLst xmlns:a="http://schemas.openxmlformats.org/drawingml/2006/main">
              <a:ext uri="{FF2B5EF4-FFF2-40B4-BE49-F238E27FC236}">
                <a16:creationId xmlns:a16="http://schemas.microsoft.com/office/drawing/2014/main" id="{FB401674-BA3F-4207-841F-C737B28C6E2C}"/>
              </a:ext>
            </a:extLst>
          </p:cNvPr>
          <p:cNvSpPr>
            <a:spLocks xmlns:a="http://schemas.openxmlformats.org/drawingml/2006/main" noGrp="1"/>
          </p:cNvSpPr>
          <p:nvPr/>
        </p:nvSpPr>
        <p:spPr>
          <a:xfrm xmlns:a="http://schemas.openxmlformats.org/drawingml/2006/main">
            <a:off x="3486150" y="2705100"/>
            <a:ext cx="495300" cy="28575"/>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2B898AF-4CC4-4342-A4C0-BC136AA3C496}"/>
              </a:ext>
            </a:extLst>
          </p:cNvPr>
          <p:cNvSpPr>
            <a:spLocks xmlns:a="http://schemas.openxmlformats.org/drawingml/2006/main" noGrp="1"/>
          </p:cNvSpPr>
          <p:nvPr/>
        </p:nvSpPr>
        <p:spPr>
          <a:xfrm xmlns:a="http://schemas.openxmlformats.org/drawingml/2006/main">
            <a:off x="3943350" y="2667000"/>
            <a:ext cx="7620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1AAA0AF-4D3C-4C4A-86E3-CE92F823DBAD}"/>
              </a:ext>
            </a:extLst>
          </p:cNvPr>
          <p:cNvSpPr>
            <a:spLocks xmlns:a="http://schemas.openxmlformats.org/drawingml/2006/main" noGrp="1"/>
          </p:cNvSpPr>
          <p:nvPr/>
        </p:nvSpPr>
        <p:spPr>
          <a:xfrm xmlns:a="http://schemas.openxmlformats.org/drawingml/2006/main">
            <a:off x="3981450" y="2247900"/>
            <a:ext cx="11239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22C55E"/>
            </a:solidFill>
            <a:prstDash val="solid"/>
          </a:ln>
        </p:spPr>
      </p:sp>
      <p:sp>
        <p:nvSpPr>
          <p:cNvPr id="18" name="">
            <a:extLst xmlns:a="http://schemas.openxmlformats.org/drawingml/2006/main">
              <a:ext uri="{FF2B5EF4-FFF2-40B4-BE49-F238E27FC236}">
                <a16:creationId xmlns:a16="http://schemas.microsoft.com/office/drawing/2014/main" id="{51CB0F6E-EB86-4DF4-A1C0-3256C4E2D14D}"/>
              </a:ext>
            </a:extLst>
          </p:cNvPr>
          <p:cNvSpPr>
            <a:spLocks xmlns:a="http://schemas.openxmlformats.org/drawingml/2006/main" noGrp="1"/>
          </p:cNvSpPr>
          <p:nvPr/>
        </p:nvSpPr>
        <p:spPr>
          <a:xfrm xmlns:a="http://schemas.openxmlformats.org/drawingml/2006/main">
            <a:off x="4305300" y="2381250"/>
            <a:ext cx="47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22C55E"/>
                </a:solidFill>
                <a:latin typeface="PingFang SC"/>
                <a:ea typeface="PingFang SC"/>
                <a:cs typeface="PingFang SC"/>
              </a:defRPr>
            </a:pPr>
            <a:r>
              <a:rPr sz="2400" b="1">
                <a:solidFill>
                  <a:srgbClr val="22C55E"/>
                </a:solidFill>
                <a:latin typeface="PingFang SC"/>
                <a:ea typeface="PingFang SC"/>
                <a:cs typeface="PingFang SC"/>
              </a:rPr>
              <a:t>动</a:t>
            </a:r>
          </a:p>
        </p:txBody>
      </p:sp>
      <p:sp>
        <p:nvSpPr>
          <p:cNvPr id="19" name="">
            <a:extLst xmlns:a="http://schemas.openxmlformats.org/drawingml/2006/main">
              <a:ext uri="{FF2B5EF4-FFF2-40B4-BE49-F238E27FC236}">
                <a16:creationId xmlns:a16="http://schemas.microsoft.com/office/drawing/2014/main" id="{0FA0F3D1-D1E2-46E1-BC1D-82B2C44F281E}"/>
              </a:ext>
            </a:extLst>
          </p:cNvPr>
          <p:cNvSpPr>
            <a:spLocks xmlns:a="http://schemas.openxmlformats.org/drawingml/2006/main" noGrp="1"/>
          </p:cNvSpPr>
          <p:nvPr/>
        </p:nvSpPr>
        <p:spPr>
          <a:xfrm xmlns:a="http://schemas.openxmlformats.org/drawingml/2006/main">
            <a:off x="4076700" y="28194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0F172A"/>
                </a:solidFill>
                <a:latin typeface="PingFang SC"/>
                <a:ea typeface="PingFang SC"/>
                <a:cs typeface="PingFang SC"/>
              </a:defRPr>
            </a:pPr>
            <a:r>
              <a:rPr sz="825" b="1">
                <a:solidFill>
                  <a:srgbClr val="0F172A"/>
                </a:solidFill>
                <a:latin typeface="PingFang SC"/>
                <a:ea typeface="PingFang SC"/>
                <a:cs typeface="PingFang SC"/>
              </a:rPr>
              <a:t>底盘/头部/手臂</a:t>
            </a:r>
          </a:p>
        </p:txBody>
      </p:sp>
      <p:sp>
        <p:nvSpPr>
          <p:cNvPr id="20" name="">
            <a:extLst xmlns:a="http://schemas.openxmlformats.org/drawingml/2006/main">
              <a:ext uri="{FF2B5EF4-FFF2-40B4-BE49-F238E27FC236}">
                <a16:creationId xmlns:a16="http://schemas.microsoft.com/office/drawing/2014/main" id="{A407E7EC-079F-4094-92D0-D3EC39EBEAFA}"/>
              </a:ext>
            </a:extLst>
          </p:cNvPr>
          <p:cNvSpPr>
            <a:spLocks xmlns:a="http://schemas.openxmlformats.org/drawingml/2006/main" noGrp="1"/>
          </p:cNvSpPr>
          <p:nvPr/>
        </p:nvSpPr>
        <p:spPr>
          <a:xfrm xmlns:a="http://schemas.openxmlformats.org/drawingml/2006/main">
            <a:off x="5105400" y="2705100"/>
            <a:ext cx="495300" cy="28575"/>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B61830E-3D7E-450F-98F1-4AEC4DB761B3}"/>
              </a:ext>
            </a:extLst>
          </p:cNvPr>
          <p:cNvSpPr>
            <a:spLocks xmlns:a="http://schemas.openxmlformats.org/drawingml/2006/main" noGrp="1"/>
          </p:cNvSpPr>
          <p:nvPr/>
        </p:nvSpPr>
        <p:spPr>
          <a:xfrm xmlns:a="http://schemas.openxmlformats.org/drawingml/2006/main">
            <a:off x="5562600" y="2667000"/>
            <a:ext cx="7620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D20AC6E-07CB-4CB0-8F3A-16E0D90D4C3F}"/>
              </a:ext>
            </a:extLst>
          </p:cNvPr>
          <p:cNvSpPr>
            <a:spLocks xmlns:a="http://schemas.openxmlformats.org/drawingml/2006/main" noGrp="1"/>
          </p:cNvSpPr>
          <p:nvPr/>
        </p:nvSpPr>
        <p:spPr>
          <a:xfrm xmlns:a="http://schemas.openxmlformats.org/drawingml/2006/main">
            <a:off x="5600700" y="2247900"/>
            <a:ext cx="11239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sp>
      <p:sp>
        <p:nvSpPr>
          <p:cNvPr id="23" name="">
            <a:extLst xmlns:a="http://schemas.openxmlformats.org/drawingml/2006/main">
              <a:ext uri="{FF2B5EF4-FFF2-40B4-BE49-F238E27FC236}">
                <a16:creationId xmlns:a16="http://schemas.microsoft.com/office/drawing/2014/main" id="{1FE4E4E3-281F-40E7-A241-EEA76BFD42B0}"/>
              </a:ext>
            </a:extLst>
          </p:cNvPr>
          <p:cNvSpPr>
            <a:spLocks xmlns:a="http://schemas.openxmlformats.org/drawingml/2006/main" noGrp="1"/>
          </p:cNvSpPr>
          <p:nvPr/>
        </p:nvSpPr>
        <p:spPr>
          <a:xfrm xmlns:a="http://schemas.openxmlformats.org/drawingml/2006/main">
            <a:off x="5924550" y="2381250"/>
            <a:ext cx="47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59E0B"/>
                </a:solidFill>
                <a:latin typeface="PingFang SC"/>
                <a:ea typeface="PingFang SC"/>
                <a:cs typeface="PingFang SC"/>
              </a:defRPr>
            </a:pPr>
            <a:r>
              <a:rPr sz="2400" b="1">
                <a:solidFill>
                  <a:srgbClr val="F59E0B"/>
                </a:solidFill>
                <a:latin typeface="PingFang SC"/>
                <a:ea typeface="PingFang SC"/>
                <a:cs typeface="PingFang SC"/>
              </a:rPr>
              <a:t>教</a:t>
            </a:r>
          </a:p>
        </p:txBody>
      </p:sp>
      <p:sp>
        <p:nvSpPr>
          <p:cNvPr id="24" name="">
            <a:extLst xmlns:a="http://schemas.openxmlformats.org/drawingml/2006/main">
              <a:ext uri="{FF2B5EF4-FFF2-40B4-BE49-F238E27FC236}">
                <a16:creationId xmlns:a16="http://schemas.microsoft.com/office/drawing/2014/main" id="{7D38F538-6EF3-4483-A79B-A2DF535D21A5}"/>
              </a:ext>
            </a:extLst>
          </p:cNvPr>
          <p:cNvSpPr>
            <a:spLocks xmlns:a="http://schemas.openxmlformats.org/drawingml/2006/main" noGrp="1"/>
          </p:cNvSpPr>
          <p:nvPr/>
        </p:nvSpPr>
        <p:spPr>
          <a:xfrm xmlns:a="http://schemas.openxmlformats.org/drawingml/2006/main">
            <a:off x="5695950" y="28194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0F172A"/>
                </a:solidFill>
                <a:latin typeface="PingFang SC"/>
                <a:ea typeface="PingFang SC"/>
                <a:cs typeface="PingFang SC"/>
              </a:defRPr>
            </a:pPr>
            <a:r>
              <a:rPr sz="825" b="1">
                <a:solidFill>
                  <a:srgbClr val="0F172A"/>
                </a:solidFill>
                <a:latin typeface="PingFang SC"/>
                <a:ea typeface="PingFang SC"/>
                <a:cs typeface="PingFang SC"/>
              </a:rPr>
              <a:t>人工示教</a:t>
            </a:r>
          </a:p>
        </p:txBody>
      </p:sp>
      <p:sp>
        <p:nvSpPr>
          <p:cNvPr id="25" name="">
            <a:extLst xmlns:a="http://schemas.openxmlformats.org/drawingml/2006/main">
              <a:ext uri="{FF2B5EF4-FFF2-40B4-BE49-F238E27FC236}">
                <a16:creationId xmlns:a16="http://schemas.microsoft.com/office/drawing/2014/main" id="{B004F78C-F2C9-42E7-8D93-B06DEFE17831}"/>
              </a:ext>
            </a:extLst>
          </p:cNvPr>
          <p:cNvSpPr>
            <a:spLocks xmlns:a="http://schemas.openxmlformats.org/drawingml/2006/main" noGrp="1"/>
          </p:cNvSpPr>
          <p:nvPr/>
        </p:nvSpPr>
        <p:spPr>
          <a:xfrm xmlns:a="http://schemas.openxmlformats.org/drawingml/2006/main">
            <a:off x="6724650" y="2705100"/>
            <a:ext cx="495300" cy="28575"/>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D36D0B6-DE35-45DA-88C6-D8D61B87CC48}"/>
              </a:ext>
            </a:extLst>
          </p:cNvPr>
          <p:cNvSpPr>
            <a:spLocks xmlns:a="http://schemas.openxmlformats.org/drawingml/2006/main" noGrp="1"/>
          </p:cNvSpPr>
          <p:nvPr/>
        </p:nvSpPr>
        <p:spPr>
          <a:xfrm xmlns:a="http://schemas.openxmlformats.org/drawingml/2006/main">
            <a:off x="7181850" y="2667000"/>
            <a:ext cx="76200" cy="76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5FC62A3-9886-436B-A9E0-744961BE0EFB}"/>
              </a:ext>
            </a:extLst>
          </p:cNvPr>
          <p:cNvSpPr>
            <a:spLocks xmlns:a="http://schemas.openxmlformats.org/drawingml/2006/main" noGrp="1"/>
          </p:cNvSpPr>
          <p:nvPr/>
        </p:nvSpPr>
        <p:spPr>
          <a:xfrm xmlns:a="http://schemas.openxmlformats.org/drawingml/2006/main">
            <a:off x="7219950" y="2247900"/>
            <a:ext cx="11239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F97316"/>
            </a:solidFill>
            <a:prstDash val="solid"/>
          </a:ln>
        </p:spPr>
      </p:sp>
      <p:sp>
        <p:nvSpPr>
          <p:cNvPr id="28" name="">
            <a:extLst xmlns:a="http://schemas.openxmlformats.org/drawingml/2006/main">
              <a:ext uri="{FF2B5EF4-FFF2-40B4-BE49-F238E27FC236}">
                <a16:creationId xmlns:a16="http://schemas.microsoft.com/office/drawing/2014/main" id="{627E52D5-FD4D-4AA2-9345-3CE9F06D5D7A}"/>
              </a:ext>
            </a:extLst>
          </p:cNvPr>
          <p:cNvSpPr>
            <a:spLocks xmlns:a="http://schemas.openxmlformats.org/drawingml/2006/main" noGrp="1"/>
          </p:cNvSpPr>
          <p:nvPr/>
        </p:nvSpPr>
        <p:spPr>
          <a:xfrm xmlns:a="http://schemas.openxmlformats.org/drawingml/2006/main">
            <a:off x="7543800" y="2381250"/>
            <a:ext cx="47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97316"/>
                </a:solidFill>
                <a:latin typeface="PingFang SC"/>
                <a:ea typeface="PingFang SC"/>
                <a:cs typeface="PingFang SC"/>
              </a:defRPr>
            </a:pPr>
            <a:r>
              <a:rPr sz="2400" b="1">
                <a:solidFill>
                  <a:srgbClr val="F97316"/>
                </a:solidFill>
                <a:latin typeface="PingFang SC"/>
                <a:ea typeface="PingFang SC"/>
                <a:cs typeface="PingFang SC"/>
              </a:rPr>
              <a:t>学</a:t>
            </a:r>
          </a:p>
        </p:txBody>
      </p:sp>
      <p:sp>
        <p:nvSpPr>
          <p:cNvPr id="29" name="">
            <a:extLst xmlns:a="http://schemas.openxmlformats.org/drawingml/2006/main">
              <a:ext uri="{FF2B5EF4-FFF2-40B4-BE49-F238E27FC236}">
                <a16:creationId xmlns:a16="http://schemas.microsoft.com/office/drawing/2014/main" id="{15982D19-368A-4990-8DC8-D1A40FDAD3E6}"/>
              </a:ext>
            </a:extLst>
          </p:cNvPr>
          <p:cNvSpPr>
            <a:spLocks xmlns:a="http://schemas.openxmlformats.org/drawingml/2006/main" noGrp="1"/>
          </p:cNvSpPr>
          <p:nvPr/>
        </p:nvSpPr>
        <p:spPr>
          <a:xfrm xmlns:a="http://schemas.openxmlformats.org/drawingml/2006/main">
            <a:off x="7315200" y="28194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0F172A"/>
                </a:solidFill>
                <a:latin typeface="PingFang SC"/>
                <a:ea typeface="PingFang SC"/>
                <a:cs typeface="PingFang SC"/>
              </a:defRPr>
            </a:pPr>
            <a:r>
              <a:rPr sz="825" b="1">
                <a:solidFill>
                  <a:srgbClr val="0F172A"/>
                </a:solidFill>
                <a:latin typeface="PingFang SC"/>
                <a:ea typeface="PingFang SC"/>
                <a:cs typeface="PingFang SC"/>
              </a:rPr>
              <a:t>LeRobot + ACT</a:t>
            </a:r>
          </a:p>
        </p:txBody>
      </p:sp>
      <p:sp>
        <p:nvSpPr>
          <p:cNvPr id="30" name="">
            <a:extLst xmlns:a="http://schemas.openxmlformats.org/drawingml/2006/main">
              <a:ext uri="{FF2B5EF4-FFF2-40B4-BE49-F238E27FC236}">
                <a16:creationId xmlns:a16="http://schemas.microsoft.com/office/drawing/2014/main" id="{81D152DF-26C4-47D4-815C-D86646470E2C}"/>
              </a:ext>
            </a:extLst>
          </p:cNvPr>
          <p:cNvSpPr>
            <a:spLocks xmlns:a="http://schemas.openxmlformats.org/drawingml/2006/main" noGrp="1"/>
          </p:cNvSpPr>
          <p:nvPr/>
        </p:nvSpPr>
        <p:spPr>
          <a:xfrm xmlns:a="http://schemas.openxmlformats.org/drawingml/2006/main">
            <a:off x="9010650" y="2095500"/>
            <a:ext cx="1143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D3EE"/>
                </a:solidFill>
                <a:latin typeface="Georgia"/>
                <a:ea typeface="Georgia"/>
                <a:cs typeface="Georgia"/>
              </a:defRPr>
            </a:pPr>
            <a:r>
              <a:rPr sz="2700" b="1">
                <a:solidFill>
                  <a:srgbClr val="22D3EE"/>
                </a:solidFill>
                <a:latin typeface="Georgia"/>
                <a:ea typeface="Georgia"/>
                <a:cs typeface="Georgia"/>
              </a:rPr>
              <a:t>17</a:t>
            </a:r>
          </a:p>
        </p:txBody>
      </p:sp>
      <p:sp>
        <p:nvSpPr>
          <p:cNvPr id="31" name="">
            <a:extLst xmlns:a="http://schemas.openxmlformats.org/drawingml/2006/main">
              <a:ext uri="{FF2B5EF4-FFF2-40B4-BE49-F238E27FC236}">
                <a16:creationId xmlns:a16="http://schemas.microsoft.com/office/drawing/2014/main" id="{5F44C7B0-6018-4405-A31B-32EAECAC6D2B}"/>
              </a:ext>
            </a:extLst>
          </p:cNvPr>
          <p:cNvSpPr>
            <a:spLocks xmlns:a="http://schemas.openxmlformats.org/drawingml/2006/main" noGrp="1"/>
          </p:cNvSpPr>
          <p:nvPr/>
        </p:nvSpPr>
        <p:spPr>
          <a:xfrm xmlns:a="http://schemas.openxmlformats.org/drawingml/2006/main">
            <a:off x="9010650" y="25717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episodes</a:t>
            </a:r>
          </a:p>
        </p:txBody>
      </p:sp>
      <p:sp>
        <p:nvSpPr>
          <p:cNvPr id="32" name="">
            <a:extLst xmlns:a="http://schemas.openxmlformats.org/drawingml/2006/main">
              <a:ext uri="{FF2B5EF4-FFF2-40B4-BE49-F238E27FC236}">
                <a16:creationId xmlns:a16="http://schemas.microsoft.com/office/drawing/2014/main" id="{1F15C188-7A75-44FF-A361-05585ADD5454}"/>
              </a:ext>
            </a:extLst>
          </p:cNvPr>
          <p:cNvSpPr>
            <a:spLocks xmlns:a="http://schemas.openxmlformats.org/drawingml/2006/main" noGrp="1"/>
          </p:cNvSpPr>
          <p:nvPr/>
        </p:nvSpPr>
        <p:spPr>
          <a:xfrm xmlns:a="http://schemas.openxmlformats.org/drawingml/2006/main">
            <a:off x="9010650" y="2800350"/>
            <a:ext cx="114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合并示教轨迹</a:t>
            </a:r>
          </a:p>
        </p:txBody>
      </p:sp>
      <p:sp>
        <p:nvSpPr>
          <p:cNvPr id="33" name="">
            <a:extLst xmlns:a="http://schemas.openxmlformats.org/drawingml/2006/main">
              <a:ext uri="{FF2B5EF4-FFF2-40B4-BE49-F238E27FC236}">
                <a16:creationId xmlns:a16="http://schemas.microsoft.com/office/drawing/2014/main" id="{2AA8AE2C-ADC7-4C3E-B5F0-525E677FF702}"/>
              </a:ext>
            </a:extLst>
          </p:cNvPr>
          <p:cNvSpPr>
            <a:spLocks xmlns:a="http://schemas.openxmlformats.org/drawingml/2006/main" noGrp="1"/>
          </p:cNvSpPr>
          <p:nvPr/>
        </p:nvSpPr>
        <p:spPr>
          <a:xfrm xmlns:a="http://schemas.openxmlformats.org/drawingml/2006/main">
            <a:off x="10287000" y="2095500"/>
            <a:ext cx="142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59E0B"/>
                </a:solidFill>
                <a:latin typeface="Georgia"/>
                <a:ea typeface="Georgia"/>
                <a:cs typeface="Georgia"/>
              </a:defRPr>
            </a:pPr>
            <a:r>
              <a:rPr sz="2700" b="1">
                <a:solidFill>
                  <a:srgbClr val="F59E0B"/>
                </a:solidFill>
                <a:latin typeface="Georgia"/>
                <a:ea typeface="Georgia"/>
                <a:cs typeface="Georgia"/>
              </a:rPr>
              <a:t>6800</a:t>
            </a:r>
          </a:p>
        </p:txBody>
      </p:sp>
      <p:sp>
        <p:nvSpPr>
          <p:cNvPr id="34" name="">
            <a:extLst xmlns:a="http://schemas.openxmlformats.org/drawingml/2006/main">
              <a:ext uri="{FF2B5EF4-FFF2-40B4-BE49-F238E27FC236}">
                <a16:creationId xmlns:a16="http://schemas.microsoft.com/office/drawing/2014/main" id="{8D5E19CA-3E77-499D-900C-358694DEC80B}"/>
              </a:ext>
            </a:extLst>
          </p:cNvPr>
          <p:cNvSpPr>
            <a:spLocks xmlns:a="http://schemas.openxmlformats.org/drawingml/2006/main" noGrp="1"/>
          </p:cNvSpPr>
          <p:nvPr/>
        </p:nvSpPr>
        <p:spPr>
          <a:xfrm xmlns:a="http://schemas.openxmlformats.org/drawingml/2006/main">
            <a:off x="10287000" y="25717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frames</a:t>
            </a:r>
          </a:p>
        </p:txBody>
      </p:sp>
      <p:sp>
        <p:nvSpPr>
          <p:cNvPr id="35" name="">
            <a:extLst xmlns:a="http://schemas.openxmlformats.org/drawingml/2006/main">
              <a:ext uri="{FF2B5EF4-FFF2-40B4-BE49-F238E27FC236}">
                <a16:creationId xmlns:a16="http://schemas.microsoft.com/office/drawing/2014/main" id="{903E9563-82BB-4157-BB86-25B0A97FB916}"/>
              </a:ext>
            </a:extLst>
          </p:cNvPr>
          <p:cNvSpPr>
            <a:spLocks xmlns:a="http://schemas.openxmlformats.org/drawingml/2006/main" noGrp="1"/>
          </p:cNvSpPr>
          <p:nvPr/>
        </p:nvSpPr>
        <p:spPr>
          <a:xfrm xmlns:a="http://schemas.openxmlformats.org/drawingml/2006/main">
            <a:off x="10287000" y="2800350"/>
            <a:ext cx="1428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20 FPS 采集</a:t>
            </a:r>
          </a:p>
        </p:txBody>
      </p:sp>
      <p:sp>
        <p:nvSpPr>
          <p:cNvPr id="36" name="">
            <a:extLst xmlns:a="http://schemas.openxmlformats.org/drawingml/2006/main">
              <a:ext uri="{FF2B5EF4-FFF2-40B4-BE49-F238E27FC236}">
                <a16:creationId xmlns:a16="http://schemas.microsoft.com/office/drawing/2014/main" id="{B551B23A-84A7-4648-A17D-59021B8EE475}"/>
              </a:ext>
            </a:extLst>
          </p:cNvPr>
          <p:cNvSpPr>
            <a:spLocks xmlns:a="http://schemas.openxmlformats.org/drawingml/2006/main" noGrp="1"/>
          </p:cNvSpPr>
          <p:nvPr/>
        </p:nvSpPr>
        <p:spPr>
          <a:xfrm xmlns:a="http://schemas.openxmlformats.org/drawingml/2006/main">
            <a:off x="9010650" y="3257550"/>
            <a:ext cx="1143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2C55E"/>
                </a:solidFill>
                <a:latin typeface="Georgia"/>
                <a:ea typeface="Georgia"/>
                <a:cs typeface="Georgia"/>
              </a:defRPr>
            </a:pPr>
            <a:r>
              <a:rPr sz="2700" b="1">
                <a:solidFill>
                  <a:srgbClr val="22C55E"/>
                </a:solidFill>
                <a:latin typeface="Georgia"/>
                <a:ea typeface="Georgia"/>
                <a:cs typeface="Georgia"/>
              </a:rPr>
              <a:t>3</a:t>
            </a:r>
          </a:p>
        </p:txBody>
      </p:sp>
      <p:sp>
        <p:nvSpPr>
          <p:cNvPr id="37" name="">
            <a:extLst xmlns:a="http://schemas.openxmlformats.org/drawingml/2006/main">
              <a:ext uri="{FF2B5EF4-FFF2-40B4-BE49-F238E27FC236}">
                <a16:creationId xmlns:a16="http://schemas.microsoft.com/office/drawing/2014/main" id="{46439643-4518-42AF-8886-1810FA94EC6F}"/>
              </a:ext>
            </a:extLst>
          </p:cNvPr>
          <p:cNvSpPr>
            <a:spLocks xmlns:a="http://schemas.openxmlformats.org/drawingml/2006/main" noGrp="1"/>
          </p:cNvSpPr>
          <p:nvPr/>
        </p:nvSpPr>
        <p:spPr>
          <a:xfrm xmlns:a="http://schemas.openxmlformats.org/drawingml/2006/main">
            <a:off x="9010650" y="37338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cameras</a:t>
            </a:r>
          </a:p>
        </p:txBody>
      </p:sp>
      <p:sp>
        <p:nvSpPr>
          <p:cNvPr id="38" name="">
            <a:extLst xmlns:a="http://schemas.openxmlformats.org/drawingml/2006/main">
              <a:ext uri="{FF2B5EF4-FFF2-40B4-BE49-F238E27FC236}">
                <a16:creationId xmlns:a16="http://schemas.microsoft.com/office/drawing/2014/main" id="{79719F63-39F2-4A7E-97A9-F5376F169718}"/>
              </a:ext>
            </a:extLst>
          </p:cNvPr>
          <p:cNvSpPr>
            <a:spLocks xmlns:a="http://schemas.openxmlformats.org/drawingml/2006/main" noGrp="1"/>
          </p:cNvSpPr>
          <p:nvPr/>
        </p:nvSpPr>
        <p:spPr>
          <a:xfrm xmlns:a="http://schemas.openxmlformats.org/drawingml/2006/main">
            <a:off x="9010650" y="3962400"/>
            <a:ext cx="114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头部/左臂/右臂</a:t>
            </a:r>
          </a:p>
        </p:txBody>
      </p:sp>
      <p:sp>
        <p:nvSpPr>
          <p:cNvPr id="39" name="">
            <a:extLst xmlns:a="http://schemas.openxmlformats.org/drawingml/2006/main">
              <a:ext uri="{FF2B5EF4-FFF2-40B4-BE49-F238E27FC236}">
                <a16:creationId xmlns:a16="http://schemas.microsoft.com/office/drawing/2014/main" id="{E2F82863-6A33-434D-93DD-DCD25C72262E}"/>
              </a:ext>
            </a:extLst>
          </p:cNvPr>
          <p:cNvSpPr>
            <a:spLocks xmlns:a="http://schemas.openxmlformats.org/drawingml/2006/main" noGrp="1"/>
          </p:cNvSpPr>
          <p:nvPr/>
        </p:nvSpPr>
        <p:spPr>
          <a:xfrm xmlns:a="http://schemas.openxmlformats.org/drawingml/2006/main">
            <a:off x="10287000" y="3257550"/>
            <a:ext cx="142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97316"/>
                </a:solidFill>
                <a:latin typeface="Georgia"/>
                <a:ea typeface="Georgia"/>
                <a:cs typeface="Georgia"/>
              </a:defRPr>
            </a:pPr>
            <a:r>
              <a:rPr sz="2700" b="1">
                <a:solidFill>
                  <a:srgbClr val="F97316"/>
                </a:solidFill>
                <a:latin typeface="Georgia"/>
                <a:ea typeface="Georgia"/>
                <a:cs typeface="Georgia"/>
              </a:rPr>
              <a:t>ACT</a:t>
            </a:r>
          </a:p>
        </p:txBody>
      </p:sp>
      <p:sp>
        <p:nvSpPr>
          <p:cNvPr id="40" name="">
            <a:extLst xmlns:a="http://schemas.openxmlformats.org/drawingml/2006/main">
              <a:ext uri="{FF2B5EF4-FFF2-40B4-BE49-F238E27FC236}">
                <a16:creationId xmlns:a16="http://schemas.microsoft.com/office/drawing/2014/main" id="{EC13B7E8-8B14-46C0-A99B-1D3F1A6C15C7}"/>
              </a:ext>
            </a:extLst>
          </p:cNvPr>
          <p:cNvSpPr>
            <a:spLocks xmlns:a="http://schemas.openxmlformats.org/drawingml/2006/main" noGrp="1"/>
          </p:cNvSpPr>
          <p:nvPr/>
        </p:nvSpPr>
        <p:spPr>
          <a:xfrm xmlns:a="http://schemas.openxmlformats.org/drawingml/2006/main">
            <a:off x="10287000" y="37338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7FAFC"/>
                </a:solidFill>
                <a:latin typeface="PingFang SC"/>
                <a:ea typeface="PingFang SC"/>
                <a:cs typeface="PingFang SC"/>
              </a:defRPr>
            </a:pPr>
            <a:r>
              <a:rPr sz="900" b="1">
                <a:solidFill>
                  <a:srgbClr val="F7FAFC"/>
                </a:solidFill>
                <a:latin typeface="PingFang SC"/>
                <a:ea typeface="PingFang SC"/>
                <a:cs typeface="PingFang SC"/>
              </a:rPr>
              <a:t>checkpoint</a:t>
            </a:r>
          </a:p>
        </p:txBody>
      </p:sp>
      <p:sp>
        <p:nvSpPr>
          <p:cNvPr id="41" name="">
            <a:extLst xmlns:a="http://schemas.openxmlformats.org/drawingml/2006/main">
              <a:ext uri="{FF2B5EF4-FFF2-40B4-BE49-F238E27FC236}">
                <a16:creationId xmlns:a16="http://schemas.microsoft.com/office/drawing/2014/main" id="{4D67BACA-13BE-4C8D-B8FE-0B46122E126D}"/>
              </a:ext>
            </a:extLst>
          </p:cNvPr>
          <p:cNvSpPr>
            <a:spLocks xmlns:a="http://schemas.openxmlformats.org/drawingml/2006/main" noGrp="1"/>
          </p:cNvSpPr>
          <p:nvPr/>
        </p:nvSpPr>
        <p:spPr>
          <a:xfrm xmlns:a="http://schemas.openxmlformats.org/drawingml/2006/main">
            <a:off x="10287000" y="3962400"/>
            <a:ext cx="1428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94A3B8"/>
                </a:solidFill>
                <a:latin typeface="PingFang SC"/>
                <a:ea typeface="PingFang SC"/>
                <a:cs typeface="PingFang SC"/>
              </a:defRPr>
            </a:pPr>
            <a:r>
              <a:rPr sz="713" b="0">
                <a:solidFill>
                  <a:srgbClr val="94A3B8"/>
                </a:solidFill>
                <a:latin typeface="PingFang SC"/>
                <a:ea typeface="PingFang SC"/>
                <a:cs typeface="PingFang SC"/>
              </a:rPr>
              <a:t>200 step 链路验证</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8f50ffa76064d6e"/>
          <a:srcRect xmlns:a="http://schemas.openxmlformats.org/drawingml/2006/main" l="255" t="0" r="255" b="0"/>
          <a:stretch xmlns:a="http://schemas.openxmlformats.org/drawingml/2006/main">
            <a:fillRect l="0" t="0" r="0" b="0"/>
          </a:stretch>
        </p:blipFill>
        <p:spPr>
          <a:xfrm xmlns:a="http://schemas.openxmlformats.org/drawingml/2006/main">
            <a:off x="819150" y="4000500"/>
            <a:ext cx="2476500" cy="18669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884e2fd86e44541"/>
          <a:srcRect xmlns:a="http://schemas.openxmlformats.org/drawingml/2006/main" l="255" t="0" r="255" b="0"/>
          <a:stretch xmlns:a="http://schemas.openxmlformats.org/drawingml/2006/main">
            <a:fillRect l="0" t="0" r="0" b="0"/>
          </a:stretch>
        </p:blipFill>
        <p:spPr>
          <a:xfrm xmlns:a="http://schemas.openxmlformats.org/drawingml/2006/main">
            <a:off x="3638550" y="4000500"/>
            <a:ext cx="2476500" cy="18669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dec0df7c29014bd0"/>
          <a:srcRect xmlns:a="http://schemas.openxmlformats.org/drawingml/2006/main" l="255" t="0" r="255" b="0"/>
          <a:stretch xmlns:a="http://schemas.openxmlformats.org/drawingml/2006/main">
            <a:fillRect l="0" t="0" r="0" b="0"/>
          </a:stretch>
        </p:blipFill>
        <p:spPr>
          <a:xfrm xmlns:a="http://schemas.openxmlformats.org/drawingml/2006/main">
            <a:off x="6457950" y="4000500"/>
            <a:ext cx="2476500" cy="18669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45BEF9BF-92CA-4E44-AD8D-F7C8D78DF2A0}"/>
              </a:ext>
            </a:extLst>
          </p:cNvPr>
          <p:cNvSpPr>
            <a:spLocks xmlns:a="http://schemas.openxmlformats.org/drawingml/2006/main" noGrp="1"/>
          </p:cNvSpPr>
          <p:nvPr/>
        </p:nvSpPr>
        <p:spPr>
          <a:xfrm xmlns:a="http://schemas.openxmlformats.org/drawingml/2006/main">
            <a:off x="9144000" y="4762500"/>
            <a:ext cx="2095500" cy="933450"/>
          </a:xfrm>
          <a:prstGeom xmlns:a="http://schemas.openxmlformats.org/drawingml/2006/main" prst="rect">
            <a:avLst/>
          </a:prstGeom>
          <a:solidFill xmlns:a="http://schemas.openxmlformats.org/drawingml/2006/main">
            <a:srgbClr val="EEF6FF"/>
          </a:solidFill>
          <a:ln xmlns:a="http://schemas.openxmlformats.org/drawingml/2006/main" w="9525">
            <a:solidFill>
              <a:srgbClr val="BCD7FF"/>
            </a:solidFill>
            <a:prstDash val="solid"/>
          </a:ln>
        </p:spPr>
      </p:sp>
      <p:sp>
        <p:nvSpPr>
          <p:cNvPr id="46" name="">
            <a:extLst xmlns:a="http://schemas.openxmlformats.org/drawingml/2006/main">
              <a:ext uri="{FF2B5EF4-FFF2-40B4-BE49-F238E27FC236}">
                <a16:creationId xmlns:a16="http://schemas.microsoft.com/office/drawing/2014/main" id="{9B1480B1-8FD5-4D71-9F2B-52455BD1C5D9}"/>
              </a:ext>
            </a:extLst>
          </p:cNvPr>
          <p:cNvSpPr>
            <a:spLocks xmlns:a="http://schemas.openxmlformats.org/drawingml/2006/main" noGrp="1"/>
          </p:cNvSpPr>
          <p:nvPr/>
        </p:nvSpPr>
        <p:spPr>
          <a:xfrm xmlns:a="http://schemas.openxmlformats.org/drawingml/2006/main">
            <a:off x="9372600" y="49720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3B82F6"/>
                </a:solidFill>
                <a:latin typeface="PingFang SC"/>
                <a:ea typeface="PingFang SC"/>
                <a:cs typeface="PingFang SC"/>
              </a:defRPr>
            </a:pPr>
            <a:r>
              <a:rPr sz="825" b="1">
                <a:solidFill>
                  <a:srgbClr val="3B82F6"/>
                </a:solidFill>
                <a:latin typeface="PingFang SC"/>
                <a:ea typeface="PingFang SC"/>
                <a:cs typeface="PingFang SC"/>
              </a:rPr>
              <a:t>边界说明</a:t>
            </a:r>
          </a:p>
        </p:txBody>
      </p:sp>
      <p:sp>
        <p:nvSpPr>
          <p:cNvPr id="47" name="">
            <a:extLst xmlns:a="http://schemas.openxmlformats.org/drawingml/2006/main">
              <a:ext uri="{FF2B5EF4-FFF2-40B4-BE49-F238E27FC236}">
                <a16:creationId xmlns:a16="http://schemas.microsoft.com/office/drawing/2014/main" id="{9B28E1CA-584E-4471-98E3-BF5F2911742C}"/>
              </a:ext>
            </a:extLst>
          </p:cNvPr>
          <p:cNvSpPr>
            <a:spLocks xmlns:a="http://schemas.openxmlformats.org/drawingml/2006/main" noGrp="1"/>
          </p:cNvSpPr>
          <p:nvPr/>
        </p:nvSpPr>
        <p:spPr>
          <a:xfrm xmlns:a="http://schemas.openxmlformats.org/drawingml/2006/main">
            <a:off x="9372600" y="5219700"/>
            <a:ext cx="161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0F172A"/>
                </a:solidFill>
                <a:latin typeface="PingFang SC"/>
                <a:ea typeface="PingFang SC"/>
                <a:cs typeface="PingFang SC"/>
              </a:defRPr>
            </a:pPr>
            <a:r>
              <a:rPr sz="788" b="0">
                <a:solidFill>
                  <a:srgbClr val="0F172A"/>
                </a:solidFill>
                <a:latin typeface="PingFang SC"/>
                <a:ea typeface="PingFang SC"/>
                <a:cs typeface="PingFang SC"/>
              </a:rPr>
              <a:t>当前模型用于验证采集、训练和真机试跑链路；复杂抓取成功率后续靠高质量 episode 迭代提升。</a:t>
            </a:r>
          </a:p>
        </p:txBody>
      </p:sp>
      <p:sp>
        <p:nvSpPr>
          <p:cNvPr id="48" name="">
            <a:extLst xmlns:a="http://schemas.openxmlformats.org/drawingml/2006/main">
              <a:ext uri="{FF2B5EF4-FFF2-40B4-BE49-F238E27FC236}">
                <a16:creationId xmlns:a16="http://schemas.microsoft.com/office/drawing/2014/main" id="{3F5B142B-A191-4B53-87AA-0F2CD2FB0EE8}"/>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78BF61D0-A519-4E95-A4BA-49783D4E3AEB}"/>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50" name="">
            <a:extLst xmlns:a="http://schemas.openxmlformats.org/drawingml/2006/main">
              <a:ext uri="{FF2B5EF4-FFF2-40B4-BE49-F238E27FC236}">
                <a16:creationId xmlns:a16="http://schemas.microsoft.com/office/drawing/2014/main" id="{C4E5D39A-A99F-4E12-990A-01A96B5768A5}"/>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07</a:t>
            </a:r>
          </a:p>
        </p:txBody>
      </p:sp>
    </p:spTree>
    <p:extLst>
      <p:ext uri="{BB962C8B-B14F-4D97-AF65-F5344CB8AC3E}">
        <p14:creationId xmlns:p14="http://schemas.microsoft.com/office/powerpoint/2010/main" val="5240565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2169E4-5036-4D16-92E8-0BFC369D9F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787C34-AE7D-4CBD-86CD-87382548B0A8}"/>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E844802-06F6-4780-82CF-25B6120F1A9E}"/>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08</a:t>
            </a:r>
          </a:p>
        </p:txBody>
      </p:sp>
      <p:sp>
        <p:nvSpPr>
          <p:cNvPr id="4" name="">
            <a:extLst xmlns:a="http://schemas.openxmlformats.org/drawingml/2006/main">
              <a:ext uri="{FF2B5EF4-FFF2-40B4-BE49-F238E27FC236}">
                <a16:creationId xmlns:a16="http://schemas.microsoft.com/office/drawing/2014/main" id="{19EEAD6F-2296-4600-B189-C73B11E49F8D}"/>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APPLICATIONS &amp; FUTURE WORK</a:t>
            </a:r>
          </a:p>
        </p:txBody>
      </p:sp>
      <p:sp>
        <p:nvSpPr>
          <p:cNvPr id="5" name="">
            <a:extLst xmlns:a="http://schemas.openxmlformats.org/drawingml/2006/main">
              <a:ext uri="{FF2B5EF4-FFF2-40B4-BE49-F238E27FC236}">
                <a16:creationId xmlns:a16="http://schemas.microsoft.com/office/drawing/2014/main" id="{357E7A2E-8FE6-4001-84EF-AA682FBD9CA5}"/>
              </a:ext>
            </a:extLst>
          </p:cNvPr>
          <p:cNvSpPr>
            <a:spLocks xmlns:a="http://schemas.openxmlformats.org/drawingml/2006/main" noGrp="1"/>
          </p:cNvSpPr>
          <p:nvPr/>
        </p:nvSpPr>
        <p:spPr>
          <a:xfrm xmlns:a="http://schemas.openxmlformats.org/drawingml/2006/main">
            <a:off x="552450" y="781050"/>
            <a:ext cx="8763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0F172A"/>
                </a:solidFill>
                <a:latin typeface="PingFang SC"/>
                <a:ea typeface="PingFang SC"/>
                <a:cs typeface="PingFang SC"/>
              </a:defRPr>
            </a:pPr>
            <a:r>
              <a:rPr sz="2475" b="1">
                <a:solidFill>
                  <a:srgbClr val="0F172A"/>
                </a:solidFill>
                <a:latin typeface="PingFang SC"/>
                <a:ea typeface="PingFang SC"/>
                <a:cs typeface="PingFang SC"/>
              </a:rPr>
              <a:t>原型验证之后，路线可以扩展到更多真实作业系统</a:t>
            </a:r>
          </a:p>
        </p:txBody>
      </p:sp>
      <p:sp>
        <p:nvSpPr>
          <p:cNvPr id="6" name="">
            <a:extLst xmlns:a="http://schemas.openxmlformats.org/drawingml/2006/main">
              <a:ext uri="{FF2B5EF4-FFF2-40B4-BE49-F238E27FC236}">
                <a16:creationId xmlns:a16="http://schemas.microsoft.com/office/drawing/2014/main" id="{7EC9C529-9A11-4115-AF4C-7D0D2EE589F0}"/>
              </a:ext>
            </a:extLst>
          </p:cNvPr>
          <p:cNvSpPr>
            <a:spLocks xmlns:a="http://schemas.openxmlformats.org/drawingml/2006/main" noGrp="1"/>
          </p:cNvSpPr>
          <p:nvPr/>
        </p:nvSpPr>
        <p:spPr>
          <a:xfrm xmlns:a="http://schemas.openxmlformats.org/drawingml/2006/main">
            <a:off x="590550" y="1447800"/>
            <a:ext cx="8382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75569"/>
                </a:solidFill>
                <a:latin typeface="PingFang SC"/>
                <a:ea typeface="PingFang SC"/>
                <a:cs typeface="PingFang SC"/>
              </a:defRPr>
            </a:pPr>
            <a:r>
              <a:rPr sz="1050" b="0">
                <a:solidFill>
                  <a:srgbClr val="475569"/>
                </a:solidFill>
                <a:latin typeface="PingFang SC"/>
                <a:ea typeface="PingFang SC"/>
                <a:cs typeface="PingFang SC"/>
              </a:rPr>
              <a:t>现在是低成本原型，下一步是更多数据、更强策略和更多移动载体。</a:t>
            </a:r>
          </a:p>
        </p:txBody>
      </p:sp>
      <p:sp>
        <p:nvSpPr>
          <p:cNvPr id="7" name="">
            <a:extLst xmlns:a="http://schemas.openxmlformats.org/drawingml/2006/main">
              <a:ext uri="{FF2B5EF4-FFF2-40B4-BE49-F238E27FC236}">
                <a16:creationId xmlns:a16="http://schemas.microsoft.com/office/drawing/2014/main" id="{EBADE160-0E64-486C-A66A-7B145C4C84FF}"/>
              </a:ext>
            </a:extLst>
          </p:cNvPr>
          <p:cNvSpPr>
            <a:spLocks xmlns:a="http://schemas.openxmlformats.org/drawingml/2006/main" noGrp="1"/>
          </p:cNvSpPr>
          <p:nvPr/>
        </p:nvSpPr>
        <p:spPr>
          <a:xfrm xmlns:a="http://schemas.openxmlformats.org/drawingml/2006/main">
            <a:off x="819150" y="2286000"/>
            <a:ext cx="2571750" cy="1771650"/>
          </a:xfrm>
          <a:prstGeom xmlns:a="http://schemas.openxmlformats.org/drawingml/2006/main" prst="rect">
            <a:avLst/>
          </a:prstGeom>
          <a:solidFill xmlns:a="http://schemas.openxmlformats.org/drawingml/2006/main">
            <a:srgbClr val="FFFFFF"/>
          </a:solidFill>
          <a:ln xmlns:a="http://schemas.openxmlformats.org/drawingml/2006/main" w="19050">
            <a:solidFill>
              <a:srgbClr val="F97316"/>
            </a:solidFill>
            <a:prstDash val="solid"/>
          </a:ln>
        </p:spPr>
      </p:sp>
      <p:sp>
        <p:nvSpPr>
          <p:cNvPr id="8" name="">
            <a:extLst xmlns:a="http://schemas.openxmlformats.org/drawingml/2006/main">
              <a:ext uri="{FF2B5EF4-FFF2-40B4-BE49-F238E27FC236}">
                <a16:creationId xmlns:a16="http://schemas.microsoft.com/office/drawing/2014/main" id="{1A64A6A1-9CA9-4A2E-9217-3C5F68A9F5F1}"/>
              </a:ext>
            </a:extLst>
          </p:cNvPr>
          <p:cNvSpPr>
            <a:spLocks xmlns:a="http://schemas.openxmlformats.org/drawingml/2006/main" noGrp="1"/>
          </p:cNvSpPr>
          <p:nvPr/>
        </p:nvSpPr>
        <p:spPr>
          <a:xfrm xmlns:a="http://schemas.openxmlformats.org/drawingml/2006/main">
            <a:off x="819150" y="2286000"/>
            <a:ext cx="2571750" cy="76200"/>
          </a:xfrm>
          <a:prstGeom xmlns:a="http://schemas.openxmlformats.org/drawingml/2006/main" prst="rect">
            <a:avLst/>
          </a:prstGeom>
          <a:solidFill xmlns:a="http://schemas.openxmlformats.org/drawingml/2006/main">
            <a:srgbClr val="F9731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E73DB68-75FC-45A0-95DF-C483063F5F16}"/>
              </a:ext>
            </a:extLst>
          </p:cNvPr>
          <p:cNvSpPr>
            <a:spLocks xmlns:a="http://schemas.openxmlformats.org/drawingml/2006/main" noGrp="1"/>
          </p:cNvSpPr>
          <p:nvPr/>
        </p:nvSpPr>
        <p:spPr>
          <a:xfrm xmlns:a="http://schemas.openxmlformats.org/drawingml/2006/main">
            <a:off x="1047750" y="26098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97316"/>
                </a:solidFill>
                <a:latin typeface="PingFang SC"/>
                <a:ea typeface="PingFang SC"/>
                <a:cs typeface="PingFang SC"/>
              </a:defRPr>
            </a:pPr>
            <a:r>
              <a:rPr sz="1650" b="1">
                <a:solidFill>
                  <a:srgbClr val="F97316"/>
                </a:solidFill>
                <a:latin typeface="PingFang SC"/>
                <a:ea typeface="PingFang SC"/>
                <a:cs typeface="PingFang SC"/>
              </a:rPr>
              <a:t>高危作业</a:t>
            </a:r>
          </a:p>
        </p:txBody>
      </p:sp>
      <p:sp>
        <p:nvSpPr>
          <p:cNvPr id="10" name="">
            <a:extLst xmlns:a="http://schemas.openxmlformats.org/drawingml/2006/main">
              <a:ext uri="{FF2B5EF4-FFF2-40B4-BE49-F238E27FC236}">
                <a16:creationId xmlns:a16="http://schemas.microsoft.com/office/drawing/2014/main" id="{1B3CE811-7ED9-43EC-8147-1C74EDDEAE1A}"/>
              </a:ext>
            </a:extLst>
          </p:cNvPr>
          <p:cNvSpPr>
            <a:spLocks xmlns:a="http://schemas.openxmlformats.org/drawingml/2006/main" noGrp="1"/>
          </p:cNvSpPr>
          <p:nvPr/>
        </p:nvSpPr>
        <p:spPr>
          <a:xfrm xmlns:a="http://schemas.openxmlformats.org/drawingml/2006/main">
            <a:off x="1047750" y="3086100"/>
            <a:ext cx="2095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PingFang SC"/>
                <a:ea typeface="PingFang SC"/>
                <a:cs typeface="PingFang SC"/>
              </a:defRPr>
            </a:pPr>
            <a:r>
              <a:rPr sz="1050" b="0">
                <a:solidFill>
                  <a:srgbClr val="0F172A"/>
                </a:solidFill>
                <a:latin typeface="PingFang SC"/>
                <a:ea typeface="PingFang SC"/>
                <a:cs typeface="PingFang SC"/>
              </a:rPr>
              <a:t>面向高温、腐蚀、危险样品和未知环境的替代操作。</a:t>
            </a:r>
          </a:p>
        </p:txBody>
      </p:sp>
      <p:sp>
        <p:nvSpPr>
          <p:cNvPr id="11" name="">
            <a:extLst xmlns:a="http://schemas.openxmlformats.org/drawingml/2006/main">
              <a:ext uri="{FF2B5EF4-FFF2-40B4-BE49-F238E27FC236}">
                <a16:creationId xmlns:a16="http://schemas.microsoft.com/office/drawing/2014/main" id="{FED5F600-1132-41F3-94E9-63E9944659AE}"/>
              </a:ext>
            </a:extLst>
          </p:cNvPr>
          <p:cNvSpPr>
            <a:spLocks xmlns:a="http://schemas.openxmlformats.org/drawingml/2006/main" noGrp="1"/>
          </p:cNvSpPr>
          <p:nvPr/>
        </p:nvSpPr>
        <p:spPr>
          <a:xfrm xmlns:a="http://schemas.openxmlformats.org/drawingml/2006/main">
            <a:off x="3543300" y="2286000"/>
            <a:ext cx="2571750" cy="1771650"/>
          </a:xfrm>
          <a:prstGeom xmlns:a="http://schemas.openxmlformats.org/drawingml/2006/main" prst="rect">
            <a:avLst/>
          </a:prstGeom>
          <a:solidFill xmlns:a="http://schemas.openxmlformats.org/drawingml/2006/main">
            <a:srgbClr val="FFFFFF"/>
          </a:solidFill>
          <a:ln xmlns:a="http://schemas.openxmlformats.org/drawingml/2006/main" w="19050">
            <a:solidFill>
              <a:srgbClr val="3B82F6"/>
            </a:solidFill>
            <a:prstDash val="solid"/>
          </a:ln>
        </p:spPr>
      </p:sp>
      <p:sp>
        <p:nvSpPr>
          <p:cNvPr id="12" name="">
            <a:extLst xmlns:a="http://schemas.openxmlformats.org/drawingml/2006/main">
              <a:ext uri="{FF2B5EF4-FFF2-40B4-BE49-F238E27FC236}">
                <a16:creationId xmlns:a16="http://schemas.microsoft.com/office/drawing/2014/main" id="{81E828F4-F89F-481E-ADCC-B993C10B2050}"/>
              </a:ext>
            </a:extLst>
          </p:cNvPr>
          <p:cNvSpPr>
            <a:spLocks xmlns:a="http://schemas.openxmlformats.org/drawingml/2006/main" noGrp="1"/>
          </p:cNvSpPr>
          <p:nvPr/>
        </p:nvSpPr>
        <p:spPr>
          <a:xfrm xmlns:a="http://schemas.openxmlformats.org/drawingml/2006/main">
            <a:off x="3543300" y="2286000"/>
            <a:ext cx="2571750" cy="76200"/>
          </a:xfrm>
          <a:prstGeom xmlns:a="http://schemas.openxmlformats.org/drawingml/2006/main" prst="rect">
            <a:avLst/>
          </a:prstGeom>
          <a:solidFill xmlns:a="http://schemas.openxmlformats.org/drawingml/2006/main">
            <a:srgbClr val="3B82F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E70C492-3F6A-4583-B252-076EBD775147}"/>
              </a:ext>
            </a:extLst>
          </p:cNvPr>
          <p:cNvSpPr>
            <a:spLocks xmlns:a="http://schemas.openxmlformats.org/drawingml/2006/main" noGrp="1"/>
          </p:cNvSpPr>
          <p:nvPr/>
        </p:nvSpPr>
        <p:spPr>
          <a:xfrm xmlns:a="http://schemas.openxmlformats.org/drawingml/2006/main">
            <a:off x="3771900" y="26098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3B82F6"/>
                </a:solidFill>
                <a:latin typeface="PingFang SC"/>
                <a:ea typeface="PingFang SC"/>
                <a:cs typeface="PingFang SC"/>
              </a:defRPr>
            </a:pPr>
            <a:r>
              <a:rPr sz="1650" b="1">
                <a:solidFill>
                  <a:srgbClr val="3B82F6"/>
                </a:solidFill>
                <a:latin typeface="PingFang SC"/>
                <a:ea typeface="PingFang SC"/>
                <a:cs typeface="PingFang SC"/>
              </a:rPr>
              <a:t>日常服务</a:t>
            </a:r>
          </a:p>
        </p:txBody>
      </p:sp>
      <p:sp>
        <p:nvSpPr>
          <p:cNvPr id="14" name="">
            <a:extLst xmlns:a="http://schemas.openxmlformats.org/drawingml/2006/main">
              <a:ext uri="{FF2B5EF4-FFF2-40B4-BE49-F238E27FC236}">
                <a16:creationId xmlns:a16="http://schemas.microsoft.com/office/drawing/2014/main" id="{5EF12F1E-EE94-4BBF-A6B1-6FE206C0BA05}"/>
              </a:ext>
            </a:extLst>
          </p:cNvPr>
          <p:cNvSpPr>
            <a:spLocks xmlns:a="http://schemas.openxmlformats.org/drawingml/2006/main" noGrp="1"/>
          </p:cNvSpPr>
          <p:nvPr/>
        </p:nvSpPr>
        <p:spPr>
          <a:xfrm xmlns:a="http://schemas.openxmlformats.org/drawingml/2006/main">
            <a:off x="3771900" y="3086100"/>
            <a:ext cx="2095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PingFang SC"/>
                <a:ea typeface="PingFang SC"/>
                <a:cs typeface="PingFang SC"/>
              </a:defRPr>
            </a:pPr>
            <a:r>
              <a:rPr sz="1050" b="0">
                <a:solidFill>
                  <a:srgbClr val="0F172A"/>
                </a:solidFill>
                <a:latin typeface="PingFang SC"/>
                <a:ea typeface="PingFang SC"/>
                <a:cs typeface="PingFang SC"/>
              </a:rPr>
              <a:t>物品整理、递送、台面清理、辅助搬运等低风险场景。</a:t>
            </a:r>
          </a:p>
        </p:txBody>
      </p:sp>
      <p:sp>
        <p:nvSpPr>
          <p:cNvPr id="15" name="">
            <a:extLst xmlns:a="http://schemas.openxmlformats.org/drawingml/2006/main">
              <a:ext uri="{FF2B5EF4-FFF2-40B4-BE49-F238E27FC236}">
                <a16:creationId xmlns:a16="http://schemas.microsoft.com/office/drawing/2014/main" id="{CF6E04C5-536A-470A-8FA3-B45D39D38B84}"/>
              </a:ext>
            </a:extLst>
          </p:cNvPr>
          <p:cNvSpPr>
            <a:spLocks xmlns:a="http://schemas.openxmlformats.org/drawingml/2006/main" noGrp="1"/>
          </p:cNvSpPr>
          <p:nvPr/>
        </p:nvSpPr>
        <p:spPr>
          <a:xfrm xmlns:a="http://schemas.openxmlformats.org/drawingml/2006/main">
            <a:off x="6267450" y="2286000"/>
            <a:ext cx="2571750" cy="1771650"/>
          </a:xfrm>
          <a:prstGeom xmlns:a="http://schemas.openxmlformats.org/drawingml/2006/main" prst="rect">
            <a:avLst/>
          </a:prstGeom>
          <a:solidFill xmlns:a="http://schemas.openxmlformats.org/drawingml/2006/main">
            <a:srgbClr val="FFFFFF"/>
          </a:solidFill>
          <a:ln xmlns:a="http://schemas.openxmlformats.org/drawingml/2006/main" w="19050">
            <a:solidFill>
              <a:srgbClr val="22C55E"/>
            </a:solidFill>
            <a:prstDash val="solid"/>
          </a:ln>
        </p:spPr>
      </p:sp>
      <p:sp>
        <p:nvSpPr>
          <p:cNvPr id="16" name="">
            <a:extLst xmlns:a="http://schemas.openxmlformats.org/drawingml/2006/main">
              <a:ext uri="{FF2B5EF4-FFF2-40B4-BE49-F238E27FC236}">
                <a16:creationId xmlns:a16="http://schemas.microsoft.com/office/drawing/2014/main" id="{03C455F7-F63A-4864-804D-23732E822583}"/>
              </a:ext>
            </a:extLst>
          </p:cNvPr>
          <p:cNvSpPr>
            <a:spLocks xmlns:a="http://schemas.openxmlformats.org/drawingml/2006/main" noGrp="1"/>
          </p:cNvSpPr>
          <p:nvPr/>
        </p:nvSpPr>
        <p:spPr>
          <a:xfrm xmlns:a="http://schemas.openxmlformats.org/drawingml/2006/main">
            <a:off x="6267450" y="2286000"/>
            <a:ext cx="2571750" cy="762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C1B0B70-2983-4118-91B1-D1D0B513CE47}"/>
              </a:ext>
            </a:extLst>
          </p:cNvPr>
          <p:cNvSpPr>
            <a:spLocks xmlns:a="http://schemas.openxmlformats.org/drawingml/2006/main" noGrp="1"/>
          </p:cNvSpPr>
          <p:nvPr/>
        </p:nvSpPr>
        <p:spPr>
          <a:xfrm xmlns:a="http://schemas.openxmlformats.org/drawingml/2006/main">
            <a:off x="6496050" y="26098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C55E"/>
                </a:solidFill>
                <a:latin typeface="PingFang SC"/>
                <a:ea typeface="PingFang SC"/>
                <a:cs typeface="PingFang SC"/>
              </a:defRPr>
            </a:pPr>
            <a:r>
              <a:rPr sz="1650" b="1">
                <a:solidFill>
                  <a:srgbClr val="22C55E"/>
                </a:solidFill>
                <a:latin typeface="PingFang SC"/>
                <a:ea typeface="PingFang SC"/>
                <a:cs typeface="PingFang SC"/>
              </a:rPr>
              <a:t>移动载体结合</a:t>
            </a:r>
          </a:p>
        </p:txBody>
      </p:sp>
      <p:sp>
        <p:nvSpPr>
          <p:cNvPr id="18" name="">
            <a:extLst xmlns:a="http://schemas.openxmlformats.org/drawingml/2006/main">
              <a:ext uri="{FF2B5EF4-FFF2-40B4-BE49-F238E27FC236}">
                <a16:creationId xmlns:a16="http://schemas.microsoft.com/office/drawing/2014/main" id="{3DE9BF43-1883-4D65-B377-5111701CAB47}"/>
              </a:ext>
            </a:extLst>
          </p:cNvPr>
          <p:cNvSpPr>
            <a:spLocks xmlns:a="http://schemas.openxmlformats.org/drawingml/2006/main" noGrp="1"/>
          </p:cNvSpPr>
          <p:nvPr/>
        </p:nvSpPr>
        <p:spPr>
          <a:xfrm xmlns:a="http://schemas.openxmlformats.org/drawingml/2006/main">
            <a:off x="6496050" y="3086100"/>
            <a:ext cx="2095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PingFang SC"/>
                <a:ea typeface="PingFang SC"/>
                <a:cs typeface="PingFang SC"/>
              </a:defRPr>
            </a:pPr>
            <a:r>
              <a:rPr sz="1050" b="0">
                <a:solidFill>
                  <a:srgbClr val="0F172A"/>
                </a:solidFill>
                <a:latin typeface="PingFang SC"/>
                <a:ea typeface="PingFang SC"/>
                <a:cs typeface="PingFang SC"/>
              </a:rPr>
              <a:t>与机械狗、轮式机器人或服务机器人结合，扩展工作半径。</a:t>
            </a:r>
          </a:p>
        </p:txBody>
      </p:sp>
      <p:sp>
        <p:nvSpPr>
          <p:cNvPr id="19" name="">
            <a:extLst xmlns:a="http://schemas.openxmlformats.org/drawingml/2006/main">
              <a:ext uri="{FF2B5EF4-FFF2-40B4-BE49-F238E27FC236}">
                <a16:creationId xmlns:a16="http://schemas.microsoft.com/office/drawing/2014/main" id="{F664014D-2B8F-4602-B5E9-B9714F4BD43A}"/>
              </a:ext>
            </a:extLst>
          </p:cNvPr>
          <p:cNvSpPr>
            <a:spLocks xmlns:a="http://schemas.openxmlformats.org/drawingml/2006/main" noGrp="1"/>
          </p:cNvSpPr>
          <p:nvPr/>
        </p:nvSpPr>
        <p:spPr>
          <a:xfrm xmlns:a="http://schemas.openxmlformats.org/drawingml/2006/main">
            <a:off x="8991600" y="2286000"/>
            <a:ext cx="2571750" cy="177165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sp>
      <p:sp>
        <p:nvSpPr>
          <p:cNvPr id="20" name="">
            <a:extLst xmlns:a="http://schemas.openxmlformats.org/drawingml/2006/main">
              <a:ext uri="{FF2B5EF4-FFF2-40B4-BE49-F238E27FC236}">
                <a16:creationId xmlns:a16="http://schemas.microsoft.com/office/drawing/2014/main" id="{AB9699CC-F35E-47A7-8FF7-2CF64C376243}"/>
              </a:ext>
            </a:extLst>
          </p:cNvPr>
          <p:cNvSpPr>
            <a:spLocks xmlns:a="http://schemas.openxmlformats.org/drawingml/2006/main" noGrp="1"/>
          </p:cNvSpPr>
          <p:nvPr/>
        </p:nvSpPr>
        <p:spPr>
          <a:xfrm xmlns:a="http://schemas.openxmlformats.org/drawingml/2006/main">
            <a:off x="8991600" y="2286000"/>
            <a:ext cx="2571750" cy="76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54E5B7E-64CF-4A5D-B7B9-EF5811E57CC1}"/>
              </a:ext>
            </a:extLst>
          </p:cNvPr>
          <p:cNvSpPr>
            <a:spLocks xmlns:a="http://schemas.openxmlformats.org/drawingml/2006/main" noGrp="1"/>
          </p:cNvSpPr>
          <p:nvPr/>
        </p:nvSpPr>
        <p:spPr>
          <a:xfrm xmlns:a="http://schemas.openxmlformats.org/drawingml/2006/main">
            <a:off x="9220200" y="26098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59E0B"/>
                </a:solidFill>
                <a:latin typeface="PingFang SC"/>
                <a:ea typeface="PingFang SC"/>
                <a:cs typeface="PingFang SC"/>
              </a:defRPr>
            </a:pPr>
            <a:r>
              <a:rPr sz="1650" b="1">
                <a:solidFill>
                  <a:srgbClr val="F59E0B"/>
                </a:solidFill>
                <a:latin typeface="PingFang SC"/>
                <a:ea typeface="PingFang SC"/>
                <a:cs typeface="PingFang SC"/>
              </a:rPr>
              <a:t>策略持续迭代</a:t>
            </a:r>
          </a:p>
        </p:txBody>
      </p:sp>
      <p:sp>
        <p:nvSpPr>
          <p:cNvPr id="22" name="">
            <a:extLst xmlns:a="http://schemas.openxmlformats.org/drawingml/2006/main">
              <a:ext uri="{FF2B5EF4-FFF2-40B4-BE49-F238E27FC236}">
                <a16:creationId xmlns:a16="http://schemas.microsoft.com/office/drawing/2014/main" id="{49693493-CE3D-4266-97F1-CF36172F6693}"/>
              </a:ext>
            </a:extLst>
          </p:cNvPr>
          <p:cNvSpPr>
            <a:spLocks xmlns:a="http://schemas.openxmlformats.org/drawingml/2006/main" noGrp="1"/>
          </p:cNvSpPr>
          <p:nvPr/>
        </p:nvSpPr>
        <p:spPr>
          <a:xfrm xmlns:a="http://schemas.openxmlformats.org/drawingml/2006/main">
            <a:off x="9220200" y="3086100"/>
            <a:ext cx="2095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PingFang SC"/>
                <a:ea typeface="PingFang SC"/>
                <a:cs typeface="PingFang SC"/>
              </a:defRPr>
            </a:pPr>
            <a:r>
              <a:rPr sz="1050" b="0">
                <a:solidFill>
                  <a:srgbClr val="0F172A"/>
                </a:solidFill>
                <a:latin typeface="PingFang SC"/>
                <a:ea typeface="PingFang SC"/>
                <a:cs typeface="PingFang SC"/>
              </a:rPr>
              <a:t>增加高质量 episode，提升抓取、放置和多物体任务成功率。</a:t>
            </a:r>
          </a:p>
        </p:txBody>
      </p:sp>
      <p:sp>
        <p:nvSpPr>
          <p:cNvPr id="23" name="">
            <a:extLst xmlns:a="http://schemas.openxmlformats.org/drawingml/2006/main">
              <a:ext uri="{FF2B5EF4-FFF2-40B4-BE49-F238E27FC236}">
                <a16:creationId xmlns:a16="http://schemas.microsoft.com/office/drawing/2014/main" id="{47AD2FEA-2C02-4075-AE1A-F7CD78B8BA8B}"/>
              </a:ext>
            </a:extLst>
          </p:cNvPr>
          <p:cNvSpPr>
            <a:spLocks xmlns:a="http://schemas.openxmlformats.org/drawingml/2006/main" noGrp="1"/>
          </p:cNvSpPr>
          <p:nvPr/>
        </p:nvSpPr>
        <p:spPr>
          <a:xfrm xmlns:a="http://schemas.openxmlformats.org/drawingml/2006/main">
            <a:off x="1123950" y="4819650"/>
            <a:ext cx="9829800" cy="70485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0B3B5BA-1AB3-4AB5-9863-F0A74B0A50ED}"/>
              </a:ext>
            </a:extLst>
          </p:cNvPr>
          <p:cNvSpPr>
            <a:spLocks xmlns:a="http://schemas.openxmlformats.org/drawingml/2006/main" noGrp="1"/>
          </p:cNvSpPr>
          <p:nvPr/>
        </p:nvSpPr>
        <p:spPr>
          <a:xfrm xmlns:a="http://schemas.openxmlformats.org/drawingml/2006/main">
            <a:off x="1428750" y="5029200"/>
            <a:ext cx="1066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Future Work</a:t>
            </a:r>
          </a:p>
        </p:txBody>
      </p:sp>
      <p:sp>
        <p:nvSpPr>
          <p:cNvPr id="25" name="">
            <a:extLst xmlns:a="http://schemas.openxmlformats.org/drawingml/2006/main">
              <a:ext uri="{FF2B5EF4-FFF2-40B4-BE49-F238E27FC236}">
                <a16:creationId xmlns:a16="http://schemas.microsoft.com/office/drawing/2014/main" id="{995C09A4-849F-4B17-BC9D-DA530D22AB9F}"/>
              </a:ext>
            </a:extLst>
          </p:cNvPr>
          <p:cNvSpPr>
            <a:spLocks xmlns:a="http://schemas.openxmlformats.org/drawingml/2006/main" noGrp="1"/>
          </p:cNvSpPr>
          <p:nvPr/>
        </p:nvSpPr>
        <p:spPr>
          <a:xfrm xmlns:a="http://schemas.openxmlformats.org/drawingml/2006/main">
            <a:off x="2724150" y="4933950"/>
            <a:ext cx="695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AFC"/>
                </a:solidFill>
                <a:latin typeface="PingFang SC"/>
                <a:ea typeface="PingFang SC"/>
                <a:cs typeface="PingFang SC"/>
              </a:defRPr>
            </a:pPr>
            <a:r>
              <a:rPr sz="1500" b="1">
                <a:solidFill>
                  <a:srgbClr val="F7FAFC"/>
                </a:solidFill>
                <a:latin typeface="PingFang SC"/>
                <a:ea typeface="PingFang SC"/>
                <a:cs typeface="PingFang SC"/>
              </a:rPr>
              <a:t>从“单机原型”走向“移动平台 + 双臂操作 + 多模态智能”的真实作业系统。</a:t>
            </a:r>
          </a:p>
        </p:txBody>
      </p:sp>
      <p:sp>
        <p:nvSpPr>
          <p:cNvPr id="26" name="">
            <a:extLst xmlns:a="http://schemas.openxmlformats.org/drawingml/2006/main">
              <a:ext uri="{FF2B5EF4-FFF2-40B4-BE49-F238E27FC236}">
                <a16:creationId xmlns:a16="http://schemas.microsoft.com/office/drawing/2014/main" id="{5B7C0C01-670C-4B64-AED4-F262AEAB90B2}"/>
              </a:ext>
            </a:extLst>
          </p:cNvPr>
          <p:cNvSpPr>
            <a:spLocks xmlns:a="http://schemas.openxmlformats.org/drawingml/2006/main" noGrp="1"/>
          </p:cNvSpPr>
          <p:nvPr/>
        </p:nvSpPr>
        <p:spPr>
          <a:xfrm xmlns:a="http://schemas.openxmlformats.org/drawingml/2006/main">
            <a:off x="2724150" y="5257800"/>
            <a:ext cx="581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4A3B8"/>
                </a:solidFill>
                <a:latin typeface="PingFang SC"/>
                <a:ea typeface="PingFang SC"/>
                <a:cs typeface="PingFang SC"/>
              </a:defRPr>
            </a:pPr>
            <a:r>
              <a:rPr sz="825" b="0">
                <a:solidFill>
                  <a:srgbClr val="94A3B8"/>
                </a:solidFill>
                <a:latin typeface="PingFang SC"/>
                <a:ea typeface="PingFang SC"/>
                <a:cs typeface="PingFang SC"/>
              </a:rPr>
              <a:t>教学实训价值仍然存在，但它是复现和推广路径，不是本项目唯一意义。</a:t>
            </a:r>
          </a:p>
        </p:txBody>
      </p:sp>
      <p:sp>
        <p:nvSpPr>
          <p:cNvPr id="27" name="">
            <a:extLst xmlns:a="http://schemas.openxmlformats.org/drawingml/2006/main">
              <a:ext uri="{FF2B5EF4-FFF2-40B4-BE49-F238E27FC236}">
                <a16:creationId xmlns:a16="http://schemas.microsoft.com/office/drawing/2014/main" id="{B80754B9-60D2-4F8A-BD05-0A6EE9873A29}"/>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FFD7B2B-1EFF-4F6E-8AE7-0C5AAB3FD037}"/>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29" name="">
            <a:extLst xmlns:a="http://schemas.openxmlformats.org/drawingml/2006/main">
              <a:ext uri="{FF2B5EF4-FFF2-40B4-BE49-F238E27FC236}">
                <a16:creationId xmlns:a16="http://schemas.microsoft.com/office/drawing/2014/main" id="{0808BC0E-EF55-40C6-A23C-BB9596AEB067}"/>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08</a:t>
            </a:r>
          </a:p>
        </p:txBody>
      </p:sp>
    </p:spTree>
    <p:extLst>
      <p:ext uri="{BB962C8B-B14F-4D97-AF65-F5344CB8AC3E}">
        <p14:creationId xmlns:p14="http://schemas.microsoft.com/office/powerpoint/2010/main" val="9418192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EABEBC-FFCD-4BFC-A71F-DD29DFD6FC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64E05A0-15B6-44C2-A98A-07C0380C00F8}"/>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C2474E7-CB7E-4FED-A448-9E8638FB066B}"/>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09</a:t>
            </a:r>
          </a:p>
        </p:txBody>
      </p:sp>
      <p:sp>
        <p:nvSpPr>
          <p:cNvPr id="4" name="">
            <a:extLst xmlns:a="http://schemas.openxmlformats.org/drawingml/2006/main">
              <a:ext uri="{FF2B5EF4-FFF2-40B4-BE49-F238E27FC236}">
                <a16:creationId xmlns:a16="http://schemas.microsoft.com/office/drawing/2014/main" id="{8A2A9028-2EB5-4C37-836C-669188605BC2}"/>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CLOSING</a:t>
            </a:r>
          </a:p>
        </p:txBody>
      </p:sp>
      <p:sp>
        <p:nvSpPr>
          <p:cNvPr id="5" name="">
            <a:extLst xmlns:a="http://schemas.openxmlformats.org/drawingml/2006/main">
              <a:ext uri="{FF2B5EF4-FFF2-40B4-BE49-F238E27FC236}">
                <a16:creationId xmlns:a16="http://schemas.microsoft.com/office/drawing/2014/main" id="{508C42FC-B8A1-44E9-B342-A1016CED8BF6}"/>
              </a:ext>
            </a:extLst>
          </p:cNvPr>
          <p:cNvSpPr>
            <a:spLocks xmlns:a="http://schemas.openxmlformats.org/drawingml/2006/main" noGrp="1"/>
          </p:cNvSpPr>
          <p:nvPr/>
        </p:nvSpPr>
        <p:spPr>
          <a:xfrm xmlns:a="http://schemas.openxmlformats.org/drawingml/2006/main">
            <a:off x="552450" y="1047750"/>
            <a:ext cx="9334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AFC"/>
                </a:solidFill>
                <a:latin typeface="PingFang SC"/>
                <a:ea typeface="PingFang SC"/>
                <a:cs typeface="PingFang SC"/>
              </a:defRPr>
            </a:pPr>
            <a:r>
              <a:rPr sz="2850" b="1">
                <a:solidFill>
                  <a:srgbClr val="F7FAFC"/>
                </a:solidFill>
                <a:latin typeface="PingFang SC"/>
                <a:ea typeface="PingFang SC"/>
                <a:cs typeface="PingFang SC"/>
              </a:rPr>
              <a:t>原型虽小，但证明了一条 AI 进入真实作业场景的路线</a:t>
            </a:r>
          </a:p>
        </p:txBody>
      </p:sp>
      <p:sp>
        <p:nvSpPr>
          <p:cNvPr id="6" name="">
            <a:extLst xmlns:a="http://schemas.openxmlformats.org/drawingml/2006/main">
              <a:ext uri="{FF2B5EF4-FFF2-40B4-BE49-F238E27FC236}">
                <a16:creationId xmlns:a16="http://schemas.microsoft.com/office/drawing/2014/main" id="{E3A905D0-58B5-4F47-B70B-5520DA069F61}"/>
              </a:ext>
            </a:extLst>
          </p:cNvPr>
          <p:cNvSpPr>
            <a:spLocks xmlns:a="http://schemas.openxmlformats.org/drawingml/2006/main" noGrp="1"/>
          </p:cNvSpPr>
          <p:nvPr/>
        </p:nvSpPr>
        <p:spPr>
          <a:xfrm xmlns:a="http://schemas.openxmlformats.org/drawingml/2006/main">
            <a:off x="590550" y="2190750"/>
            <a:ext cx="8953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CBD5E1"/>
                </a:solidFill>
                <a:latin typeface="PingFang SC"/>
                <a:ea typeface="PingFang SC"/>
                <a:cs typeface="PingFang SC"/>
              </a:defRPr>
            </a:pPr>
            <a:r>
              <a:rPr sz="1275" b="0">
                <a:solidFill>
                  <a:srgbClr val="CBD5E1"/>
                </a:solidFill>
                <a:latin typeface="PingFang SC"/>
                <a:ea typeface="PingFang SC"/>
                <a:cs typeface="PingFang SC"/>
              </a:rPr>
              <a:t>听懂任务、看见环境、执行动作、人工示教、采集数据、训练策略，这些能力已经在低成本机器人上形成闭环。</a:t>
            </a:r>
          </a:p>
        </p:txBody>
      </p:sp>
      <p:sp>
        <p:nvSpPr>
          <p:cNvPr id="7" name="">
            <a:extLst xmlns:a="http://schemas.openxmlformats.org/drawingml/2006/main">
              <a:ext uri="{FF2B5EF4-FFF2-40B4-BE49-F238E27FC236}">
                <a16:creationId xmlns:a16="http://schemas.microsoft.com/office/drawing/2014/main" id="{22F5A9A4-AFCD-4E65-B1A2-767F8734EC4D}"/>
              </a:ext>
            </a:extLst>
          </p:cNvPr>
          <p:cNvSpPr>
            <a:spLocks xmlns:a="http://schemas.openxmlformats.org/drawingml/2006/main" noGrp="1"/>
          </p:cNvSpPr>
          <p:nvPr/>
        </p:nvSpPr>
        <p:spPr>
          <a:xfrm xmlns:a="http://schemas.openxmlformats.org/drawingml/2006/main">
            <a:off x="1066800" y="3314700"/>
            <a:ext cx="9867900" cy="914400"/>
          </a:xfrm>
          <a:prstGeom xmlns:a="http://schemas.openxmlformats.org/drawingml/2006/main" prst="rect">
            <a:avLst/>
          </a:prstGeom>
          <a:solidFill xmlns:a="http://schemas.openxmlformats.org/drawingml/2006/main">
            <a:srgbClr val="111A2D"/>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41F26E72-5DDA-4D84-AC73-D26A1C7C9568}"/>
              </a:ext>
            </a:extLst>
          </p:cNvPr>
          <p:cNvSpPr>
            <a:spLocks xmlns:a="http://schemas.openxmlformats.org/drawingml/2006/main" noGrp="1"/>
          </p:cNvSpPr>
          <p:nvPr/>
        </p:nvSpPr>
        <p:spPr>
          <a:xfrm xmlns:a="http://schemas.openxmlformats.org/drawingml/2006/main">
            <a:off x="1428750" y="3619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一句话总结</a:t>
            </a:r>
          </a:p>
        </p:txBody>
      </p:sp>
      <p:sp>
        <p:nvSpPr>
          <p:cNvPr id="9" name="">
            <a:extLst xmlns:a="http://schemas.openxmlformats.org/drawingml/2006/main">
              <a:ext uri="{FF2B5EF4-FFF2-40B4-BE49-F238E27FC236}">
                <a16:creationId xmlns:a16="http://schemas.microsoft.com/office/drawing/2014/main" id="{27A46301-2665-4F15-8DC4-5696FD98A633}"/>
              </a:ext>
            </a:extLst>
          </p:cNvPr>
          <p:cNvSpPr>
            <a:spLocks xmlns:a="http://schemas.openxmlformats.org/drawingml/2006/main" noGrp="1"/>
          </p:cNvSpPr>
          <p:nvPr/>
        </p:nvSpPr>
        <p:spPr>
          <a:xfrm xmlns:a="http://schemas.openxmlformats.org/drawingml/2006/main">
            <a:off x="2609850" y="3486150"/>
            <a:ext cx="723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7FAFC"/>
                </a:solidFill>
                <a:latin typeface="PingFang SC"/>
                <a:ea typeface="PingFang SC"/>
                <a:cs typeface="PingFang SC"/>
              </a:defRPr>
            </a:pPr>
            <a:r>
              <a:rPr sz="1725" b="1">
                <a:solidFill>
                  <a:srgbClr val="F7FAFC"/>
                </a:solidFill>
                <a:latin typeface="PingFang SC"/>
                <a:ea typeface="PingFang SC"/>
                <a:cs typeface="PingFang SC"/>
              </a:rPr>
              <a:t>我们不是只做一个固定动作机器人，而是验证了低成本具身智能从原型走向高危作业和日常服务的可行路径。</a:t>
            </a:r>
          </a:p>
        </p:txBody>
      </p:sp>
      <p:sp>
        <p:nvSpPr>
          <p:cNvPr id="10" name="">
            <a:extLst xmlns:a="http://schemas.openxmlformats.org/drawingml/2006/main">
              <a:ext uri="{FF2B5EF4-FFF2-40B4-BE49-F238E27FC236}">
                <a16:creationId xmlns:a16="http://schemas.microsoft.com/office/drawing/2014/main" id="{830A25FC-A40D-4A38-B0B3-415C0ACEA129}"/>
              </a:ext>
            </a:extLst>
          </p:cNvPr>
          <p:cNvSpPr>
            <a:spLocks xmlns:a="http://schemas.openxmlformats.org/drawingml/2006/main" noGrp="1"/>
          </p:cNvSpPr>
          <p:nvPr/>
        </p:nvSpPr>
        <p:spPr>
          <a:xfrm xmlns:a="http://schemas.openxmlformats.org/drawingml/2006/main">
            <a:off x="8686800" y="476250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F59E0B"/>
                </a:solidFill>
                <a:latin typeface="PingFang SC"/>
                <a:ea typeface="PingFang SC"/>
                <a:cs typeface="PingFang SC"/>
              </a:defRPr>
            </a:pPr>
            <a:r>
              <a:rPr sz="1650" b="1">
                <a:solidFill>
                  <a:srgbClr val="F59E0B"/>
                </a:solidFill>
                <a:latin typeface="PingFang SC"/>
                <a:ea typeface="PingFang SC"/>
                <a:cs typeface="PingFang SC"/>
              </a:rPr>
              <a:t>谢谢各位老师</a:t>
            </a:r>
          </a:p>
        </p:txBody>
      </p:sp>
      <p:sp>
        <p:nvSpPr>
          <p:cNvPr id="11" name="">
            <a:extLst xmlns:a="http://schemas.openxmlformats.org/drawingml/2006/main">
              <a:ext uri="{FF2B5EF4-FFF2-40B4-BE49-F238E27FC236}">
                <a16:creationId xmlns:a16="http://schemas.microsoft.com/office/drawing/2014/main" id="{05E2E8AD-CC81-4B23-9F2B-1FD009D7E9BB}"/>
              </a:ext>
            </a:extLst>
          </p:cNvPr>
          <p:cNvSpPr>
            <a:spLocks xmlns:a="http://schemas.openxmlformats.org/drawingml/2006/main" noGrp="1"/>
          </p:cNvSpPr>
          <p:nvPr/>
        </p:nvSpPr>
        <p:spPr>
          <a:xfrm xmlns:a="http://schemas.openxmlformats.org/drawingml/2006/main">
            <a:off x="8686800" y="51054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94A3B8"/>
                </a:solidFill>
                <a:latin typeface="PingFang SC"/>
                <a:ea typeface="PingFang SC"/>
                <a:cs typeface="PingFang SC"/>
              </a:defRPr>
            </a:pPr>
            <a:r>
              <a:rPr sz="1350" b="1">
                <a:solidFill>
                  <a:srgbClr val="94A3B8"/>
                </a:solidFill>
                <a:latin typeface="PingFang SC"/>
                <a:ea typeface="PingFang SC"/>
                <a:cs typeface="PingFang SC"/>
              </a:rPr>
              <a:t>Q&amp;A</a:t>
            </a:r>
          </a:p>
        </p:txBody>
      </p:sp>
      <p:sp>
        <p:nvSpPr>
          <p:cNvPr id="12" name="">
            <a:extLst xmlns:a="http://schemas.openxmlformats.org/drawingml/2006/main">
              <a:ext uri="{FF2B5EF4-FFF2-40B4-BE49-F238E27FC236}">
                <a16:creationId xmlns:a16="http://schemas.microsoft.com/office/drawing/2014/main" id="{C8DD2A5C-F283-4BE5-89E3-E796E683594A}"/>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FC24B96-52DF-4B5C-B6F4-10E74B41F15C}"/>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XLeRobot 多模态具身智能原型系统</a:t>
            </a:r>
          </a:p>
        </p:txBody>
      </p:sp>
      <p:sp>
        <p:nvSpPr>
          <p:cNvPr id="14" name="">
            <a:extLst xmlns:a="http://schemas.openxmlformats.org/drawingml/2006/main">
              <a:ext uri="{FF2B5EF4-FFF2-40B4-BE49-F238E27FC236}">
                <a16:creationId xmlns:a16="http://schemas.microsoft.com/office/drawing/2014/main" id="{F0CB2A77-82D0-4AA6-A610-062672E9C8C5}"/>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09</a:t>
            </a:r>
          </a:p>
        </p:txBody>
      </p:sp>
    </p:spTree>
    <p:extLst>
      <p:ext uri="{BB962C8B-B14F-4D97-AF65-F5344CB8AC3E}">
        <p14:creationId xmlns:p14="http://schemas.microsoft.com/office/powerpoint/2010/main" val="1231125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B935E6-8F50-427A-9FA8-92B44D3887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292D95E-F1C9-485C-9D99-D12B47AEA28B}"/>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125A248-784A-48E3-9E6A-BE41E2118A2F}"/>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10</a:t>
            </a:r>
          </a:p>
        </p:txBody>
      </p:sp>
      <p:sp>
        <p:nvSpPr>
          <p:cNvPr id="4" name="">
            <a:extLst xmlns:a="http://schemas.openxmlformats.org/drawingml/2006/main">
              <a:ext uri="{FF2B5EF4-FFF2-40B4-BE49-F238E27FC236}">
                <a16:creationId xmlns:a16="http://schemas.microsoft.com/office/drawing/2014/main" id="{F3EC16A5-7110-4C34-B1C0-470C24BD89A8}"/>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APPENDIX Q&amp;A</a:t>
            </a:r>
          </a:p>
        </p:txBody>
      </p:sp>
      <p:sp>
        <p:nvSpPr>
          <p:cNvPr id="5" name="">
            <a:extLst xmlns:a="http://schemas.openxmlformats.org/drawingml/2006/main">
              <a:ext uri="{FF2B5EF4-FFF2-40B4-BE49-F238E27FC236}">
                <a16:creationId xmlns:a16="http://schemas.microsoft.com/office/drawing/2014/main" id="{A09A6CE6-3D95-4D89-93D9-F1DD9D7F63FB}"/>
              </a:ext>
            </a:extLst>
          </p:cNvPr>
          <p:cNvSpPr>
            <a:spLocks xmlns:a="http://schemas.openxmlformats.org/drawingml/2006/main" noGrp="1"/>
          </p:cNvSpPr>
          <p:nvPr/>
        </p:nvSpPr>
        <p:spPr>
          <a:xfrm xmlns:a="http://schemas.openxmlformats.org/drawingml/2006/main">
            <a:off x="552450" y="876300"/>
            <a:ext cx="8572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Q1：这是不是只适合教学演示？</a:t>
            </a:r>
          </a:p>
        </p:txBody>
      </p:sp>
      <p:sp>
        <p:nvSpPr>
          <p:cNvPr id="6" name="">
            <a:extLst xmlns:a="http://schemas.openxmlformats.org/drawingml/2006/main">
              <a:ext uri="{FF2B5EF4-FFF2-40B4-BE49-F238E27FC236}">
                <a16:creationId xmlns:a16="http://schemas.microsoft.com/office/drawing/2014/main" id="{6FE26219-2F64-462A-9983-D3A66563EA10}"/>
              </a:ext>
            </a:extLst>
          </p:cNvPr>
          <p:cNvSpPr>
            <a:spLocks xmlns:a="http://schemas.openxmlformats.org/drawingml/2006/main" noGrp="1"/>
          </p:cNvSpPr>
          <p:nvPr/>
        </p:nvSpPr>
        <p:spPr>
          <a:xfrm xmlns:a="http://schemas.openxmlformats.org/drawingml/2006/main">
            <a:off x="952500" y="2190750"/>
            <a:ext cx="10287000" cy="2381250"/>
          </a:xfrm>
          <a:prstGeom xmlns:a="http://schemas.openxmlformats.org/drawingml/2006/main" prst="rect">
            <a:avLst/>
          </a:prstGeom>
          <a:solidFill xmlns:a="http://schemas.openxmlformats.org/drawingml/2006/main">
            <a:srgbClr val="111A2D"/>
          </a:solidFill>
          <a:ln xmlns:a="http://schemas.openxmlformats.org/drawingml/2006/main" w="9525">
            <a:solidFill>
              <a:srgbClr val="22D3EE"/>
            </a:solidFill>
            <a:prstDash val="solid"/>
          </a:ln>
        </p:spPr>
      </p:sp>
      <p:sp>
        <p:nvSpPr>
          <p:cNvPr id="7" name="">
            <a:extLst xmlns:a="http://schemas.openxmlformats.org/drawingml/2006/main">
              <a:ext uri="{FF2B5EF4-FFF2-40B4-BE49-F238E27FC236}">
                <a16:creationId xmlns:a16="http://schemas.microsoft.com/office/drawing/2014/main" id="{E8A39669-8D87-42D9-8766-7EF6F84BDC96}"/>
              </a:ext>
            </a:extLst>
          </p:cNvPr>
          <p:cNvSpPr>
            <a:spLocks xmlns:a="http://schemas.openxmlformats.org/drawingml/2006/main" noGrp="1"/>
          </p:cNvSpPr>
          <p:nvPr/>
        </p:nvSpPr>
        <p:spPr>
          <a:xfrm xmlns:a="http://schemas.openxmlformats.org/drawingml/2006/main">
            <a:off x="1257300" y="2476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建议回答</a:t>
            </a:r>
          </a:p>
        </p:txBody>
      </p:sp>
      <p:sp>
        <p:nvSpPr>
          <p:cNvPr id="8" name="">
            <a:extLst xmlns:a="http://schemas.openxmlformats.org/drawingml/2006/main">
              <a:ext uri="{FF2B5EF4-FFF2-40B4-BE49-F238E27FC236}">
                <a16:creationId xmlns:a16="http://schemas.microsoft.com/office/drawing/2014/main" id="{D876C134-0231-4B12-8C82-CE53EDDEE202}"/>
              </a:ext>
            </a:extLst>
          </p:cNvPr>
          <p:cNvSpPr>
            <a:spLocks xmlns:a="http://schemas.openxmlformats.org/drawingml/2006/main" noGrp="1"/>
          </p:cNvSpPr>
          <p:nvPr/>
        </p:nvSpPr>
        <p:spPr>
          <a:xfrm xmlns:a="http://schemas.openxmlformats.org/drawingml/2006/main">
            <a:off x="1257300" y="2914650"/>
            <a:ext cx="8572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7FAFC"/>
                </a:solidFill>
                <a:latin typeface="PingFang SC"/>
                <a:ea typeface="PingFang SC"/>
                <a:cs typeface="PingFang SC"/>
              </a:defRPr>
            </a:pPr>
            <a:r>
              <a:rPr sz="1725" b="1">
                <a:solidFill>
                  <a:srgbClr val="F7FAFC"/>
                </a:solidFill>
                <a:latin typeface="PingFang SC"/>
                <a:ea typeface="PingFang SC"/>
                <a:cs typeface="PingFang SC"/>
              </a:rPr>
              <a:t>不是。教学实训是它容易复现和推广的价值之一，但项目主线是验证 AI 机器人进入真实作业场景的可行路线。高温、高危、易腐蚀和重复搬运任务都可以作为后续落地方向。</a:t>
            </a:r>
          </a:p>
        </p:txBody>
      </p:sp>
      <p:sp>
        <p:nvSpPr>
          <p:cNvPr id="9" name="">
            <a:extLst xmlns:a="http://schemas.openxmlformats.org/drawingml/2006/main">
              <a:ext uri="{FF2B5EF4-FFF2-40B4-BE49-F238E27FC236}">
                <a16:creationId xmlns:a16="http://schemas.microsoft.com/office/drawing/2014/main" id="{3FF0E42D-3386-40EF-8665-B13B42D2656D}"/>
              </a:ext>
            </a:extLst>
          </p:cNvPr>
          <p:cNvSpPr>
            <a:spLocks xmlns:a="http://schemas.openxmlformats.org/drawingml/2006/main" noGrp="1"/>
          </p:cNvSpPr>
          <p:nvPr/>
        </p:nvSpPr>
        <p:spPr>
          <a:xfrm xmlns:a="http://schemas.openxmlformats.org/drawingml/2006/main">
            <a:off x="1257300" y="3943350"/>
            <a:ext cx="838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证据：系统已经具备自然语言交互、视觉观察、动作执行、动作示教、数据采集和 ACT 训练链路。</a:t>
            </a:r>
          </a:p>
        </p:txBody>
      </p:sp>
      <p:sp>
        <p:nvSpPr>
          <p:cNvPr id="10" name="">
            <a:extLst xmlns:a="http://schemas.openxmlformats.org/drawingml/2006/main">
              <a:ext uri="{FF2B5EF4-FFF2-40B4-BE49-F238E27FC236}">
                <a16:creationId xmlns:a16="http://schemas.microsoft.com/office/drawing/2014/main" id="{780DFF1B-D6AA-4725-B145-F5F11DD83A44}"/>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5A37CC0-857F-4207-AA96-FBF6E9CA158B}"/>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QA appendix: not part of 5-minute mainline</a:t>
            </a:r>
          </a:p>
        </p:txBody>
      </p:sp>
      <p:sp>
        <p:nvSpPr>
          <p:cNvPr id="12" name="">
            <a:extLst xmlns:a="http://schemas.openxmlformats.org/drawingml/2006/main">
              <a:ext uri="{FF2B5EF4-FFF2-40B4-BE49-F238E27FC236}">
                <a16:creationId xmlns:a16="http://schemas.microsoft.com/office/drawing/2014/main" id="{A609D6F8-3E35-4488-965D-87AE89D4B4DE}"/>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10</a:t>
            </a:r>
          </a:p>
        </p:txBody>
      </p:sp>
    </p:spTree>
    <p:extLst>
      <p:ext uri="{BB962C8B-B14F-4D97-AF65-F5344CB8AC3E}">
        <p14:creationId xmlns:p14="http://schemas.microsoft.com/office/powerpoint/2010/main" val="6902080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52C368-BDC2-4164-B472-323CD4F9B4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3CE0DE0-24F2-4F83-861C-37EDFA0C77DE}"/>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CD5BB9B-17D5-45DC-B298-22FEAEE6A1AE}"/>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11</a:t>
            </a:r>
          </a:p>
        </p:txBody>
      </p:sp>
      <p:sp>
        <p:nvSpPr>
          <p:cNvPr id="4" name="">
            <a:extLst xmlns:a="http://schemas.openxmlformats.org/drawingml/2006/main">
              <a:ext uri="{FF2B5EF4-FFF2-40B4-BE49-F238E27FC236}">
                <a16:creationId xmlns:a16="http://schemas.microsoft.com/office/drawing/2014/main" id="{A82C029D-B02D-40AC-813C-EFEB7FEE7F22}"/>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APPENDIX Q&amp;A</a:t>
            </a:r>
          </a:p>
        </p:txBody>
      </p:sp>
      <p:sp>
        <p:nvSpPr>
          <p:cNvPr id="5" name="">
            <a:extLst xmlns:a="http://schemas.openxmlformats.org/drawingml/2006/main">
              <a:ext uri="{FF2B5EF4-FFF2-40B4-BE49-F238E27FC236}">
                <a16:creationId xmlns:a16="http://schemas.microsoft.com/office/drawing/2014/main" id="{62BF9A68-BA5B-4F18-80E2-E136C2AE8E6F}"/>
              </a:ext>
            </a:extLst>
          </p:cNvPr>
          <p:cNvSpPr>
            <a:spLocks xmlns:a="http://schemas.openxmlformats.org/drawingml/2006/main" noGrp="1"/>
          </p:cNvSpPr>
          <p:nvPr/>
        </p:nvSpPr>
        <p:spPr>
          <a:xfrm xmlns:a="http://schemas.openxmlformats.org/drawingml/2006/main">
            <a:off x="552450" y="876300"/>
            <a:ext cx="9334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7FAFC"/>
                </a:solidFill>
                <a:latin typeface="PingFang SC"/>
                <a:ea typeface="PingFang SC"/>
                <a:cs typeface="PingFang SC"/>
              </a:defRPr>
            </a:pPr>
            <a:r>
              <a:rPr sz="2475" b="1">
                <a:solidFill>
                  <a:srgbClr val="F7FAFC"/>
                </a:solidFill>
                <a:latin typeface="PingFang SC"/>
                <a:ea typeface="PingFang SC"/>
                <a:cs typeface="PingFang SC"/>
              </a:rPr>
              <a:t>Q2：为什么源码叫 Client / Host，PPT 里讲服务端？</a:t>
            </a:r>
          </a:p>
        </p:txBody>
      </p:sp>
      <p:sp>
        <p:nvSpPr>
          <p:cNvPr id="6" name="">
            <a:extLst xmlns:a="http://schemas.openxmlformats.org/drawingml/2006/main">
              <a:ext uri="{FF2B5EF4-FFF2-40B4-BE49-F238E27FC236}">
                <a16:creationId xmlns:a16="http://schemas.microsoft.com/office/drawing/2014/main" id="{4A8D343B-4EB6-4FD4-AE71-DD19D8EAD4BF}"/>
              </a:ext>
            </a:extLst>
          </p:cNvPr>
          <p:cNvSpPr>
            <a:spLocks xmlns:a="http://schemas.openxmlformats.org/drawingml/2006/main" noGrp="1"/>
          </p:cNvSpPr>
          <p:nvPr/>
        </p:nvSpPr>
        <p:spPr>
          <a:xfrm xmlns:a="http://schemas.openxmlformats.org/drawingml/2006/main">
            <a:off x="952500" y="2190750"/>
            <a:ext cx="10287000" cy="2381250"/>
          </a:xfrm>
          <a:prstGeom xmlns:a="http://schemas.openxmlformats.org/drawingml/2006/main" prst="rect">
            <a:avLst/>
          </a:prstGeom>
          <a:solidFill xmlns:a="http://schemas.openxmlformats.org/drawingml/2006/main">
            <a:srgbClr val="111A2D"/>
          </a:solidFill>
          <a:ln xmlns:a="http://schemas.openxmlformats.org/drawingml/2006/main" w="9525">
            <a:solidFill>
              <a:srgbClr val="3B82F6"/>
            </a:solidFill>
            <a:prstDash val="solid"/>
          </a:ln>
        </p:spPr>
      </p:sp>
      <p:sp>
        <p:nvSpPr>
          <p:cNvPr id="7" name="">
            <a:extLst xmlns:a="http://schemas.openxmlformats.org/drawingml/2006/main">
              <a:ext uri="{FF2B5EF4-FFF2-40B4-BE49-F238E27FC236}">
                <a16:creationId xmlns:a16="http://schemas.microsoft.com/office/drawing/2014/main" id="{363E4EFD-A532-4802-8E8A-CD7104991C1B}"/>
              </a:ext>
            </a:extLst>
          </p:cNvPr>
          <p:cNvSpPr>
            <a:spLocks xmlns:a="http://schemas.openxmlformats.org/drawingml/2006/main" noGrp="1"/>
          </p:cNvSpPr>
          <p:nvPr/>
        </p:nvSpPr>
        <p:spPr>
          <a:xfrm xmlns:a="http://schemas.openxmlformats.org/drawingml/2006/main">
            <a:off x="1257300" y="2476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B82F6"/>
                </a:solidFill>
                <a:latin typeface="PingFang SC"/>
                <a:ea typeface="PingFang SC"/>
                <a:cs typeface="PingFang SC"/>
              </a:defRPr>
            </a:pPr>
            <a:r>
              <a:rPr sz="900" b="1">
                <a:solidFill>
                  <a:srgbClr val="3B82F6"/>
                </a:solidFill>
                <a:latin typeface="PingFang SC"/>
                <a:ea typeface="PingFang SC"/>
                <a:cs typeface="PingFang SC"/>
              </a:rPr>
              <a:t>建议回答</a:t>
            </a:r>
          </a:p>
        </p:txBody>
      </p:sp>
      <p:sp>
        <p:nvSpPr>
          <p:cNvPr id="8" name="">
            <a:extLst xmlns:a="http://schemas.openxmlformats.org/drawingml/2006/main">
              <a:ext uri="{FF2B5EF4-FFF2-40B4-BE49-F238E27FC236}">
                <a16:creationId xmlns:a16="http://schemas.microsoft.com/office/drawing/2014/main" id="{B9223E00-B0A6-43E6-905C-DBE96D5CCCFE}"/>
              </a:ext>
            </a:extLst>
          </p:cNvPr>
          <p:cNvSpPr>
            <a:spLocks xmlns:a="http://schemas.openxmlformats.org/drawingml/2006/main" noGrp="1"/>
          </p:cNvSpPr>
          <p:nvPr/>
        </p:nvSpPr>
        <p:spPr>
          <a:xfrm xmlns:a="http://schemas.openxmlformats.org/drawingml/2006/main">
            <a:off x="1257300" y="2914650"/>
            <a:ext cx="8763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7FAFC"/>
                </a:solidFill>
                <a:latin typeface="PingFang SC"/>
                <a:ea typeface="PingFang SC"/>
                <a:cs typeface="PingFang SC"/>
              </a:defRPr>
            </a:pPr>
            <a:r>
              <a:rPr sz="1650" b="1">
                <a:solidFill>
                  <a:srgbClr val="F7FAFC"/>
                </a:solidFill>
                <a:latin typeface="PingFang SC"/>
                <a:ea typeface="PingFang SC"/>
                <a:cs typeface="PingFang SC"/>
              </a:rPr>
              <a:t>源码沿用了 XLeRobot 官方 host-client 命名。为了让评委更容易理解，我们在答辩中把 Windows 端称为智能控制端，把树莓派端称为机器人服务端。本质上就是控制端发送 action，机器人服务端执行硬件动作并回传 observation。</a:t>
            </a:r>
          </a:p>
        </p:txBody>
      </p:sp>
      <p:sp>
        <p:nvSpPr>
          <p:cNvPr id="9" name="">
            <a:extLst xmlns:a="http://schemas.openxmlformats.org/drawingml/2006/main">
              <a:ext uri="{FF2B5EF4-FFF2-40B4-BE49-F238E27FC236}">
                <a16:creationId xmlns:a16="http://schemas.microsoft.com/office/drawing/2014/main" id="{4E05DD83-ECAD-45EE-9BDF-CF5A4A709505}"/>
              </a:ext>
            </a:extLst>
          </p:cNvPr>
          <p:cNvSpPr>
            <a:spLocks xmlns:a="http://schemas.openxmlformats.org/drawingml/2006/main" noGrp="1"/>
          </p:cNvSpPr>
          <p:nvPr/>
        </p:nvSpPr>
        <p:spPr>
          <a:xfrm xmlns:a="http://schemas.openxmlformats.org/drawingml/2006/main">
            <a:off x="1257300" y="40386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证据：ZMQ 5555 发送 action，5556 回传 observation。</a:t>
            </a:r>
          </a:p>
        </p:txBody>
      </p:sp>
      <p:sp>
        <p:nvSpPr>
          <p:cNvPr id="10" name="">
            <a:extLst xmlns:a="http://schemas.openxmlformats.org/drawingml/2006/main">
              <a:ext uri="{FF2B5EF4-FFF2-40B4-BE49-F238E27FC236}">
                <a16:creationId xmlns:a16="http://schemas.microsoft.com/office/drawing/2014/main" id="{7CA032AB-7620-4648-B325-252488AC36D6}"/>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2BE4A82-4131-43A1-9542-4713B90E2B1E}"/>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QA appendix: terminology bridge</a:t>
            </a:r>
          </a:p>
        </p:txBody>
      </p:sp>
      <p:sp>
        <p:nvSpPr>
          <p:cNvPr id="12" name="">
            <a:extLst xmlns:a="http://schemas.openxmlformats.org/drawingml/2006/main">
              <a:ext uri="{FF2B5EF4-FFF2-40B4-BE49-F238E27FC236}">
                <a16:creationId xmlns:a16="http://schemas.microsoft.com/office/drawing/2014/main" id="{DD4683B5-3AC4-4711-864E-22B21F5FE163}"/>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11</a:t>
            </a:r>
          </a:p>
        </p:txBody>
      </p:sp>
    </p:spTree>
    <p:extLst>
      <p:ext uri="{BB962C8B-B14F-4D97-AF65-F5344CB8AC3E}">
        <p14:creationId xmlns:p14="http://schemas.microsoft.com/office/powerpoint/2010/main" val="57431656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8C7321-B8C2-4C5C-9B02-FBAEE7C329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99C2D47-835D-4318-B4A9-FDD9B9AD924D}"/>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53E2CA6-FECD-4080-BA30-2ECA715E761B}"/>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12</a:t>
            </a:r>
          </a:p>
        </p:txBody>
      </p:sp>
      <p:sp>
        <p:nvSpPr>
          <p:cNvPr id="4" name="">
            <a:extLst xmlns:a="http://schemas.openxmlformats.org/drawingml/2006/main">
              <a:ext uri="{FF2B5EF4-FFF2-40B4-BE49-F238E27FC236}">
                <a16:creationId xmlns:a16="http://schemas.microsoft.com/office/drawing/2014/main" id="{AB335A1C-46AF-46FD-9CF8-C2B33232E6F5}"/>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APPENDIX Q&amp;A</a:t>
            </a:r>
          </a:p>
        </p:txBody>
      </p:sp>
      <p:sp>
        <p:nvSpPr>
          <p:cNvPr id="5" name="">
            <a:extLst xmlns:a="http://schemas.openxmlformats.org/drawingml/2006/main">
              <a:ext uri="{FF2B5EF4-FFF2-40B4-BE49-F238E27FC236}">
                <a16:creationId xmlns:a16="http://schemas.microsoft.com/office/drawing/2014/main" id="{4710F967-6C2D-47B5-B06F-331989CD0811}"/>
              </a:ext>
            </a:extLst>
          </p:cNvPr>
          <p:cNvSpPr>
            <a:spLocks xmlns:a="http://schemas.openxmlformats.org/drawingml/2006/main" noGrp="1"/>
          </p:cNvSpPr>
          <p:nvPr/>
        </p:nvSpPr>
        <p:spPr>
          <a:xfrm xmlns:a="http://schemas.openxmlformats.org/drawingml/2006/main">
            <a:off x="552450" y="876300"/>
            <a:ext cx="8763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Q3：这是不是只是把开源项目拼起来？</a:t>
            </a:r>
          </a:p>
        </p:txBody>
      </p:sp>
      <p:sp>
        <p:nvSpPr>
          <p:cNvPr id="6" name="">
            <a:extLst xmlns:a="http://schemas.openxmlformats.org/drawingml/2006/main">
              <a:ext uri="{FF2B5EF4-FFF2-40B4-BE49-F238E27FC236}">
                <a16:creationId xmlns:a16="http://schemas.microsoft.com/office/drawing/2014/main" id="{8E78B5EE-44D7-44A5-9D4E-7B1F802B540E}"/>
              </a:ext>
            </a:extLst>
          </p:cNvPr>
          <p:cNvSpPr>
            <a:spLocks xmlns:a="http://schemas.openxmlformats.org/drawingml/2006/main" noGrp="1"/>
          </p:cNvSpPr>
          <p:nvPr/>
        </p:nvSpPr>
        <p:spPr>
          <a:xfrm xmlns:a="http://schemas.openxmlformats.org/drawingml/2006/main">
            <a:off x="952500" y="2190750"/>
            <a:ext cx="10287000" cy="2476500"/>
          </a:xfrm>
          <a:prstGeom xmlns:a="http://schemas.openxmlformats.org/drawingml/2006/main" prst="rect">
            <a:avLst/>
          </a:prstGeom>
          <a:solidFill xmlns:a="http://schemas.openxmlformats.org/drawingml/2006/main">
            <a:srgbClr val="111A2D"/>
          </a:solidFill>
          <a:ln xmlns:a="http://schemas.openxmlformats.org/drawingml/2006/main" w="9525">
            <a:solidFill>
              <a:srgbClr val="22C55E"/>
            </a:solidFill>
            <a:prstDash val="solid"/>
          </a:ln>
        </p:spPr>
      </p:sp>
      <p:sp>
        <p:nvSpPr>
          <p:cNvPr id="7" name="">
            <a:extLst xmlns:a="http://schemas.openxmlformats.org/drawingml/2006/main">
              <a:ext uri="{FF2B5EF4-FFF2-40B4-BE49-F238E27FC236}">
                <a16:creationId xmlns:a16="http://schemas.microsoft.com/office/drawing/2014/main" id="{482B3857-4EB3-41F1-95FA-32847F5EA616}"/>
              </a:ext>
            </a:extLst>
          </p:cNvPr>
          <p:cNvSpPr>
            <a:spLocks xmlns:a="http://schemas.openxmlformats.org/drawingml/2006/main" noGrp="1"/>
          </p:cNvSpPr>
          <p:nvPr/>
        </p:nvSpPr>
        <p:spPr>
          <a:xfrm xmlns:a="http://schemas.openxmlformats.org/drawingml/2006/main">
            <a:off x="1257300" y="2476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C55E"/>
                </a:solidFill>
                <a:latin typeface="PingFang SC"/>
                <a:ea typeface="PingFang SC"/>
                <a:cs typeface="PingFang SC"/>
              </a:defRPr>
            </a:pPr>
            <a:r>
              <a:rPr sz="900" b="1">
                <a:solidFill>
                  <a:srgbClr val="22C55E"/>
                </a:solidFill>
                <a:latin typeface="PingFang SC"/>
                <a:ea typeface="PingFang SC"/>
                <a:cs typeface="PingFang SC"/>
              </a:rPr>
              <a:t>建议回答</a:t>
            </a:r>
          </a:p>
        </p:txBody>
      </p:sp>
      <p:sp>
        <p:nvSpPr>
          <p:cNvPr id="8" name="">
            <a:extLst xmlns:a="http://schemas.openxmlformats.org/drawingml/2006/main">
              <a:ext uri="{FF2B5EF4-FFF2-40B4-BE49-F238E27FC236}">
                <a16:creationId xmlns:a16="http://schemas.microsoft.com/office/drawing/2014/main" id="{7F3F2D6F-827B-4BF3-9D8E-FED119AE67E0}"/>
              </a:ext>
            </a:extLst>
          </p:cNvPr>
          <p:cNvSpPr>
            <a:spLocks xmlns:a="http://schemas.openxmlformats.org/drawingml/2006/main" noGrp="1"/>
          </p:cNvSpPr>
          <p:nvPr/>
        </p:nvSpPr>
        <p:spPr>
          <a:xfrm xmlns:a="http://schemas.openxmlformats.org/drawingml/2006/main">
            <a:off x="1257300" y="2876550"/>
            <a:ext cx="88582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AFC"/>
                </a:solidFill>
                <a:latin typeface="PingFang SC"/>
                <a:ea typeface="PingFang SC"/>
                <a:cs typeface="PingFang SC"/>
              </a:defRPr>
            </a:pPr>
            <a:r>
              <a:rPr sz="1500" b="1">
                <a:solidFill>
                  <a:srgbClr val="F7FAFC"/>
                </a:solidFill>
                <a:latin typeface="PingFang SC"/>
                <a:ea typeface="PingFang SC"/>
                <a:cs typeface="PingFang SC"/>
              </a:rPr>
              <a:t>项目确实基于 LeRobot、XLeRobot、RoboCrew 等开源生态，这是主动选择的工程路线。我们的贡献不是重复造轮子，而是把这些生态落地到真实低成本双臂移动机器人上，解决 Windows 高算力端与树莓派硬件端通信、官方工具远程适配、语音视觉交互、动作示教和数据训练闭环问题。</a:t>
            </a:r>
          </a:p>
        </p:txBody>
      </p:sp>
      <p:sp>
        <p:nvSpPr>
          <p:cNvPr id="9" name="">
            <a:extLst xmlns:a="http://schemas.openxmlformats.org/drawingml/2006/main">
              <a:ext uri="{FF2B5EF4-FFF2-40B4-BE49-F238E27FC236}">
                <a16:creationId xmlns:a16="http://schemas.microsoft.com/office/drawing/2014/main" id="{79CC09F9-F104-4DB2-8B37-5F7FA4C21196}"/>
              </a:ext>
            </a:extLst>
          </p:cNvPr>
          <p:cNvSpPr>
            <a:spLocks xmlns:a="http://schemas.openxmlformats.org/drawingml/2006/main" noGrp="1"/>
          </p:cNvSpPr>
          <p:nvPr/>
        </p:nvSpPr>
        <p:spPr>
          <a:xfrm xmlns:a="http://schemas.openxmlformats.org/drawingml/2006/main">
            <a:off x="1257300" y="4248150"/>
            <a:ext cx="723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关键词：真实硬件适配、工程整合、场景化原型验证。</a:t>
            </a:r>
          </a:p>
        </p:txBody>
      </p:sp>
      <p:sp>
        <p:nvSpPr>
          <p:cNvPr id="10" name="">
            <a:extLst xmlns:a="http://schemas.openxmlformats.org/drawingml/2006/main">
              <a:ext uri="{FF2B5EF4-FFF2-40B4-BE49-F238E27FC236}">
                <a16:creationId xmlns:a16="http://schemas.microsoft.com/office/drawing/2014/main" id="{AE0B41D0-31A6-45D6-B12C-3394D38C15CA}"/>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79F9EC2-5FBF-4419-88E9-E20F7B28901B}"/>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QA appendix: open-source contribution boundary</a:t>
            </a:r>
          </a:p>
        </p:txBody>
      </p:sp>
      <p:sp>
        <p:nvSpPr>
          <p:cNvPr id="12" name="">
            <a:extLst xmlns:a="http://schemas.openxmlformats.org/drawingml/2006/main">
              <a:ext uri="{FF2B5EF4-FFF2-40B4-BE49-F238E27FC236}">
                <a16:creationId xmlns:a16="http://schemas.microsoft.com/office/drawing/2014/main" id="{BC34B6D2-C2CC-4B75-A33F-0697082C7A33}"/>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12</a:t>
            </a:r>
          </a:p>
        </p:txBody>
      </p:sp>
    </p:spTree>
    <p:extLst>
      <p:ext uri="{BB962C8B-B14F-4D97-AF65-F5344CB8AC3E}">
        <p14:creationId xmlns:p14="http://schemas.microsoft.com/office/powerpoint/2010/main" val="7625467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95B6A5-FD7A-4216-9763-BEB6838277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3647F8A-47DC-498C-8AD4-A57D20BCFB04}"/>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5133BB9-D3D3-4654-82F1-49D03C73A6E8}"/>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13</a:t>
            </a:r>
          </a:p>
        </p:txBody>
      </p:sp>
      <p:sp>
        <p:nvSpPr>
          <p:cNvPr id="4" name="">
            <a:extLst xmlns:a="http://schemas.openxmlformats.org/drawingml/2006/main">
              <a:ext uri="{FF2B5EF4-FFF2-40B4-BE49-F238E27FC236}">
                <a16:creationId xmlns:a16="http://schemas.microsoft.com/office/drawing/2014/main" id="{370510B0-B2D6-4E2E-BEEB-279224ADDFA5}"/>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APPENDIX Q&amp;A</a:t>
            </a:r>
          </a:p>
        </p:txBody>
      </p:sp>
      <p:sp>
        <p:nvSpPr>
          <p:cNvPr id="5" name="">
            <a:extLst xmlns:a="http://schemas.openxmlformats.org/drawingml/2006/main">
              <a:ext uri="{FF2B5EF4-FFF2-40B4-BE49-F238E27FC236}">
                <a16:creationId xmlns:a16="http://schemas.microsoft.com/office/drawing/2014/main" id="{B1155E5E-0198-482B-8CEE-FDFD0AFB408E}"/>
              </a:ext>
            </a:extLst>
          </p:cNvPr>
          <p:cNvSpPr>
            <a:spLocks xmlns:a="http://schemas.openxmlformats.org/drawingml/2006/main" noGrp="1"/>
          </p:cNvSpPr>
          <p:nvPr/>
        </p:nvSpPr>
        <p:spPr>
          <a:xfrm xmlns:a="http://schemas.openxmlformats.org/drawingml/2006/main">
            <a:off x="552450" y="876300"/>
            <a:ext cx="8953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Q4：现在抓取成功率和 ACT 模型成熟吗？</a:t>
            </a:r>
          </a:p>
        </p:txBody>
      </p:sp>
      <p:sp>
        <p:nvSpPr>
          <p:cNvPr id="6" name="">
            <a:extLst xmlns:a="http://schemas.openxmlformats.org/drawingml/2006/main">
              <a:ext uri="{FF2B5EF4-FFF2-40B4-BE49-F238E27FC236}">
                <a16:creationId xmlns:a16="http://schemas.microsoft.com/office/drawing/2014/main" id="{5A0E0E04-F31F-49C7-BE5A-7ED819320D47}"/>
              </a:ext>
            </a:extLst>
          </p:cNvPr>
          <p:cNvSpPr>
            <a:spLocks xmlns:a="http://schemas.openxmlformats.org/drawingml/2006/main" noGrp="1"/>
          </p:cNvSpPr>
          <p:nvPr/>
        </p:nvSpPr>
        <p:spPr>
          <a:xfrm xmlns:a="http://schemas.openxmlformats.org/drawingml/2006/main">
            <a:off x="952500" y="2190750"/>
            <a:ext cx="10287000" cy="2476500"/>
          </a:xfrm>
          <a:prstGeom xmlns:a="http://schemas.openxmlformats.org/drawingml/2006/main" prst="rect">
            <a:avLst/>
          </a:prstGeom>
          <a:solidFill xmlns:a="http://schemas.openxmlformats.org/drawingml/2006/main">
            <a:srgbClr val="111A2D"/>
          </a:solidFill>
          <a:ln xmlns:a="http://schemas.openxmlformats.org/drawingml/2006/main" w="9525">
            <a:solidFill>
              <a:srgbClr val="F59E0B"/>
            </a:solidFill>
            <a:prstDash val="solid"/>
          </a:ln>
        </p:spPr>
      </p:sp>
      <p:sp>
        <p:nvSpPr>
          <p:cNvPr id="7" name="">
            <a:extLst xmlns:a="http://schemas.openxmlformats.org/drawingml/2006/main">
              <a:ext uri="{FF2B5EF4-FFF2-40B4-BE49-F238E27FC236}">
                <a16:creationId xmlns:a16="http://schemas.microsoft.com/office/drawing/2014/main" id="{26D72CE5-3AD8-42B4-82F3-3202114FB1E7}"/>
              </a:ext>
            </a:extLst>
          </p:cNvPr>
          <p:cNvSpPr>
            <a:spLocks xmlns:a="http://schemas.openxmlformats.org/drawingml/2006/main" noGrp="1"/>
          </p:cNvSpPr>
          <p:nvPr/>
        </p:nvSpPr>
        <p:spPr>
          <a:xfrm xmlns:a="http://schemas.openxmlformats.org/drawingml/2006/main">
            <a:off x="1257300" y="2476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59E0B"/>
                </a:solidFill>
                <a:latin typeface="PingFang SC"/>
                <a:ea typeface="PingFang SC"/>
                <a:cs typeface="PingFang SC"/>
              </a:defRPr>
            </a:pPr>
            <a:r>
              <a:rPr sz="900" b="1">
                <a:solidFill>
                  <a:srgbClr val="F59E0B"/>
                </a:solidFill>
                <a:latin typeface="PingFang SC"/>
                <a:ea typeface="PingFang SC"/>
                <a:cs typeface="PingFang SC"/>
              </a:rPr>
              <a:t>建议回答</a:t>
            </a:r>
          </a:p>
        </p:txBody>
      </p:sp>
      <p:sp>
        <p:nvSpPr>
          <p:cNvPr id="8" name="">
            <a:extLst xmlns:a="http://schemas.openxmlformats.org/drawingml/2006/main">
              <a:ext uri="{FF2B5EF4-FFF2-40B4-BE49-F238E27FC236}">
                <a16:creationId xmlns:a16="http://schemas.microsoft.com/office/drawing/2014/main" id="{383E84AE-2822-4DF9-99AD-764A063E8F55}"/>
              </a:ext>
            </a:extLst>
          </p:cNvPr>
          <p:cNvSpPr>
            <a:spLocks xmlns:a="http://schemas.openxmlformats.org/drawingml/2006/main" noGrp="1"/>
          </p:cNvSpPr>
          <p:nvPr/>
        </p:nvSpPr>
        <p:spPr>
          <a:xfrm xmlns:a="http://schemas.openxmlformats.org/drawingml/2006/main">
            <a:off x="1257300" y="2895600"/>
            <a:ext cx="8763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7FAFC"/>
                </a:solidFill>
                <a:latin typeface="PingFang SC"/>
                <a:ea typeface="PingFang SC"/>
                <a:cs typeface="PingFang SC"/>
              </a:defRPr>
            </a:pPr>
            <a:r>
              <a:rPr sz="1575" b="1">
                <a:solidFill>
                  <a:srgbClr val="F7FAFC"/>
                </a:solidFill>
                <a:latin typeface="PingFang SC"/>
                <a:ea typeface="PingFang SC"/>
                <a:cs typeface="PingFang SC"/>
              </a:rPr>
              <a:t>我们不会夸大。当前 200 step ACT checkpoint 主要用于证明采集、训练、加载和真机试跑链路已经打通。复杂抓取成功率仍依赖更多高质量 episode、更稳定的示教和更长训练。比赛现场优先展示稳定功能，复杂抓取用视频、数据和训练输出来证明路线。</a:t>
            </a:r>
          </a:p>
        </p:txBody>
      </p:sp>
      <p:sp>
        <p:nvSpPr>
          <p:cNvPr id="9" name="">
            <a:extLst xmlns:a="http://schemas.openxmlformats.org/drawingml/2006/main">
              <a:ext uri="{FF2B5EF4-FFF2-40B4-BE49-F238E27FC236}">
                <a16:creationId xmlns:a16="http://schemas.microsoft.com/office/drawing/2014/main" id="{7966C722-3393-4F2C-B3AA-8898A07B7759}"/>
              </a:ext>
            </a:extLst>
          </p:cNvPr>
          <p:cNvSpPr>
            <a:spLocks xmlns:a="http://schemas.openxmlformats.org/drawingml/2006/main" noGrp="1"/>
          </p:cNvSpPr>
          <p:nvPr/>
        </p:nvSpPr>
        <p:spPr>
          <a:xfrm xmlns:a="http://schemas.openxmlformats.org/drawingml/2006/main">
            <a:off x="1257300" y="4152900"/>
            <a:ext cx="723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4A3B8"/>
                </a:solidFill>
                <a:latin typeface="PingFang SC"/>
                <a:ea typeface="PingFang SC"/>
                <a:cs typeface="PingFang SC"/>
              </a:defRPr>
            </a:pPr>
            <a:r>
              <a:rPr sz="1050" b="0">
                <a:solidFill>
                  <a:srgbClr val="94A3B8"/>
                </a:solidFill>
                <a:latin typeface="PingFang SC"/>
                <a:ea typeface="PingFang SC"/>
                <a:cs typeface="PingFang SC"/>
              </a:rPr>
              <a:t>数据证据：17 episodes，6800 frames，3 cameras，17D state/action。</a:t>
            </a:r>
          </a:p>
        </p:txBody>
      </p:sp>
      <p:sp>
        <p:nvSpPr>
          <p:cNvPr id="10" name="">
            <a:extLst xmlns:a="http://schemas.openxmlformats.org/drawingml/2006/main">
              <a:ext uri="{FF2B5EF4-FFF2-40B4-BE49-F238E27FC236}">
                <a16:creationId xmlns:a16="http://schemas.microsoft.com/office/drawing/2014/main" id="{BB3225EA-F9F2-48B4-B1AE-79B817D336D8}"/>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CDA3644-E4E8-4271-8D45-366B8A1ACC66}"/>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QA appendix: honesty about model maturity</a:t>
            </a:r>
          </a:p>
        </p:txBody>
      </p:sp>
      <p:sp>
        <p:nvSpPr>
          <p:cNvPr id="12" name="">
            <a:extLst xmlns:a="http://schemas.openxmlformats.org/drawingml/2006/main">
              <a:ext uri="{FF2B5EF4-FFF2-40B4-BE49-F238E27FC236}">
                <a16:creationId xmlns:a16="http://schemas.microsoft.com/office/drawing/2014/main" id="{2064E2D4-7B76-4937-B596-60F2744C217F}"/>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13</a:t>
            </a:r>
          </a:p>
        </p:txBody>
      </p:sp>
    </p:spTree>
    <p:extLst>
      <p:ext uri="{BB962C8B-B14F-4D97-AF65-F5344CB8AC3E}">
        <p14:creationId xmlns:p14="http://schemas.microsoft.com/office/powerpoint/2010/main" val="15384797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376CC8-CBA0-408B-8B50-CD55455E3F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F418162-D6EB-4076-9E31-08E5BB00561E}"/>
              </a:ext>
            </a:extLst>
          </p:cNvPr>
          <p:cNvSpPr>
            <a:spLocks xmlns:a="http://schemas.openxmlformats.org/drawingml/2006/main" noGrp="1"/>
          </p:cNvSpPr>
          <p:nvPr/>
        </p:nvSpPr>
        <p:spPr>
          <a:xfrm xmlns:a="http://schemas.openxmlformats.org/drawingml/2006/main">
            <a:off x="552450" y="400050"/>
            <a:ext cx="342900" cy="171450"/>
          </a:xfrm>
          <a:prstGeom xmlns:a="http://schemas.openxmlformats.org/drawingml/2006/main" prst="rect">
            <a:avLst/>
          </a:prstGeom>
          <a:solidFill xmlns:a="http://schemas.openxmlformats.org/drawingml/2006/main">
            <a:srgbClr val="22D3E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916155-1E8E-493F-9CD5-D3219DB16EB0}"/>
              </a:ext>
            </a:extLst>
          </p:cNvPr>
          <p:cNvSpPr>
            <a:spLocks xmlns:a="http://schemas.openxmlformats.org/drawingml/2006/main" noGrp="1"/>
          </p:cNvSpPr>
          <p:nvPr/>
        </p:nvSpPr>
        <p:spPr>
          <a:xfrm xmlns:a="http://schemas.openxmlformats.org/drawingml/2006/main">
            <a:off x="619125" y="409575"/>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B1020"/>
                </a:solidFill>
                <a:latin typeface="PingFang SC"/>
                <a:ea typeface="PingFang SC"/>
                <a:cs typeface="PingFang SC"/>
              </a:defRPr>
            </a:pPr>
            <a:r>
              <a:rPr sz="675" b="1">
                <a:solidFill>
                  <a:srgbClr val="0B1020"/>
                </a:solidFill>
                <a:latin typeface="PingFang SC"/>
                <a:ea typeface="PingFang SC"/>
                <a:cs typeface="PingFang SC"/>
              </a:rPr>
              <a:t>14</a:t>
            </a:r>
          </a:p>
        </p:txBody>
      </p:sp>
      <p:sp>
        <p:nvSpPr>
          <p:cNvPr id="4" name="">
            <a:extLst xmlns:a="http://schemas.openxmlformats.org/drawingml/2006/main">
              <a:ext uri="{FF2B5EF4-FFF2-40B4-BE49-F238E27FC236}">
                <a16:creationId xmlns:a16="http://schemas.microsoft.com/office/drawing/2014/main" id="{92DE1D49-0DA3-4BCD-97DA-42DF28999585}"/>
              </a:ext>
            </a:extLst>
          </p:cNvPr>
          <p:cNvSpPr>
            <a:spLocks xmlns:a="http://schemas.openxmlformats.org/drawingml/2006/main" noGrp="1"/>
          </p:cNvSpPr>
          <p:nvPr/>
        </p:nvSpPr>
        <p:spPr>
          <a:xfrm xmlns:a="http://schemas.openxmlformats.org/drawingml/2006/main">
            <a:off x="990600" y="3810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4A3B8"/>
                </a:solidFill>
                <a:latin typeface="PingFang SC"/>
                <a:ea typeface="PingFang SC"/>
                <a:cs typeface="PingFang SC"/>
              </a:defRPr>
            </a:pPr>
            <a:r>
              <a:rPr sz="825" b="1">
                <a:solidFill>
                  <a:srgbClr val="94A3B8"/>
                </a:solidFill>
                <a:latin typeface="PingFang SC"/>
                <a:ea typeface="PingFang SC"/>
                <a:cs typeface="PingFang SC"/>
              </a:rPr>
              <a:t>APPENDIX Q&amp;A</a:t>
            </a:r>
          </a:p>
        </p:txBody>
      </p:sp>
      <p:sp>
        <p:nvSpPr>
          <p:cNvPr id="5" name="">
            <a:extLst xmlns:a="http://schemas.openxmlformats.org/drawingml/2006/main">
              <a:ext uri="{FF2B5EF4-FFF2-40B4-BE49-F238E27FC236}">
                <a16:creationId xmlns:a16="http://schemas.microsoft.com/office/drawing/2014/main" id="{6A2DC7C8-B55C-4D8C-8BBE-BD6F14F82020}"/>
              </a:ext>
            </a:extLst>
          </p:cNvPr>
          <p:cNvSpPr>
            <a:spLocks xmlns:a="http://schemas.openxmlformats.org/drawingml/2006/main" noGrp="1"/>
          </p:cNvSpPr>
          <p:nvPr/>
        </p:nvSpPr>
        <p:spPr>
          <a:xfrm xmlns:a="http://schemas.openxmlformats.org/drawingml/2006/main">
            <a:off x="552450" y="876300"/>
            <a:ext cx="8953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AFC"/>
                </a:solidFill>
                <a:latin typeface="PingFang SC"/>
                <a:ea typeface="PingFang SC"/>
                <a:cs typeface="PingFang SC"/>
              </a:defRPr>
            </a:pPr>
            <a:r>
              <a:rPr sz="2550" b="1">
                <a:solidFill>
                  <a:srgbClr val="F7FAFC"/>
                </a:solidFill>
                <a:latin typeface="PingFang SC"/>
                <a:ea typeface="PingFang SC"/>
                <a:cs typeface="PingFang SC"/>
              </a:rPr>
              <a:t>Q5：如果继续做，下一步最重要的是什么？</a:t>
            </a:r>
          </a:p>
        </p:txBody>
      </p:sp>
      <p:sp>
        <p:nvSpPr>
          <p:cNvPr id="6" name="">
            <a:extLst xmlns:a="http://schemas.openxmlformats.org/drawingml/2006/main">
              <a:ext uri="{FF2B5EF4-FFF2-40B4-BE49-F238E27FC236}">
                <a16:creationId xmlns:a16="http://schemas.microsoft.com/office/drawing/2014/main" id="{97296233-80C5-48B9-ABD5-595BFAF4ED40}"/>
              </a:ext>
            </a:extLst>
          </p:cNvPr>
          <p:cNvSpPr>
            <a:spLocks xmlns:a="http://schemas.openxmlformats.org/drawingml/2006/main" noGrp="1"/>
          </p:cNvSpPr>
          <p:nvPr/>
        </p:nvSpPr>
        <p:spPr>
          <a:xfrm xmlns:a="http://schemas.openxmlformats.org/drawingml/2006/main">
            <a:off x="952500" y="2152650"/>
            <a:ext cx="3048000" cy="2095500"/>
          </a:xfrm>
          <a:prstGeom xmlns:a="http://schemas.openxmlformats.org/drawingml/2006/main" prst="rect">
            <a:avLst/>
          </a:prstGeom>
          <a:solidFill xmlns:a="http://schemas.openxmlformats.org/drawingml/2006/main">
            <a:srgbClr val="111A2D"/>
          </a:solidFill>
          <a:ln xmlns:a="http://schemas.openxmlformats.org/drawingml/2006/main" w="9525">
            <a:solidFill>
              <a:srgbClr val="22D3EE"/>
            </a:solidFill>
            <a:prstDash val="solid"/>
          </a:ln>
        </p:spPr>
      </p:sp>
      <p:sp>
        <p:nvSpPr>
          <p:cNvPr id="7" name="">
            <a:extLst xmlns:a="http://schemas.openxmlformats.org/drawingml/2006/main">
              <a:ext uri="{FF2B5EF4-FFF2-40B4-BE49-F238E27FC236}">
                <a16:creationId xmlns:a16="http://schemas.microsoft.com/office/drawing/2014/main" id="{570EB84D-00F4-454A-B52F-5013450BD127}"/>
              </a:ext>
            </a:extLst>
          </p:cNvPr>
          <p:cNvSpPr>
            <a:spLocks xmlns:a="http://schemas.openxmlformats.org/drawingml/2006/main" noGrp="1"/>
          </p:cNvSpPr>
          <p:nvPr/>
        </p:nvSpPr>
        <p:spPr>
          <a:xfrm xmlns:a="http://schemas.openxmlformats.org/drawingml/2006/main">
            <a:off x="4572000" y="2152650"/>
            <a:ext cx="3048000" cy="2095500"/>
          </a:xfrm>
          <a:prstGeom xmlns:a="http://schemas.openxmlformats.org/drawingml/2006/main" prst="rect">
            <a:avLst/>
          </a:prstGeom>
          <a:solidFill xmlns:a="http://schemas.openxmlformats.org/drawingml/2006/main">
            <a:srgbClr val="111A2D"/>
          </a:solidFill>
          <a:ln xmlns:a="http://schemas.openxmlformats.org/drawingml/2006/main" w="9525">
            <a:solidFill>
              <a:srgbClr val="22C55E"/>
            </a:solidFill>
            <a:prstDash val="solid"/>
          </a:ln>
        </p:spPr>
      </p:sp>
      <p:sp>
        <p:nvSpPr>
          <p:cNvPr id="8" name="">
            <a:extLst xmlns:a="http://schemas.openxmlformats.org/drawingml/2006/main">
              <a:ext uri="{FF2B5EF4-FFF2-40B4-BE49-F238E27FC236}">
                <a16:creationId xmlns:a16="http://schemas.microsoft.com/office/drawing/2014/main" id="{5834E37D-BA4E-47C9-BD6C-6DFA195A27FD}"/>
              </a:ext>
            </a:extLst>
          </p:cNvPr>
          <p:cNvSpPr>
            <a:spLocks xmlns:a="http://schemas.openxmlformats.org/drawingml/2006/main" noGrp="1"/>
          </p:cNvSpPr>
          <p:nvPr/>
        </p:nvSpPr>
        <p:spPr>
          <a:xfrm xmlns:a="http://schemas.openxmlformats.org/drawingml/2006/main">
            <a:off x="8191500" y="2152650"/>
            <a:ext cx="3048000" cy="2095500"/>
          </a:xfrm>
          <a:prstGeom xmlns:a="http://schemas.openxmlformats.org/drawingml/2006/main" prst="rect">
            <a:avLst/>
          </a:prstGeom>
          <a:solidFill xmlns:a="http://schemas.openxmlformats.org/drawingml/2006/main">
            <a:srgbClr val="111A2D"/>
          </a:solidFill>
          <a:ln xmlns:a="http://schemas.openxmlformats.org/drawingml/2006/main" w="9525">
            <a:solidFill>
              <a:srgbClr val="F59E0B"/>
            </a:solidFill>
            <a:prstDash val="solid"/>
          </a:ln>
        </p:spPr>
      </p:sp>
      <p:sp>
        <p:nvSpPr>
          <p:cNvPr id="9" name="">
            <a:extLst xmlns:a="http://schemas.openxmlformats.org/drawingml/2006/main">
              <a:ext uri="{FF2B5EF4-FFF2-40B4-BE49-F238E27FC236}">
                <a16:creationId xmlns:a16="http://schemas.microsoft.com/office/drawing/2014/main" id="{8359527A-08EC-48F2-91BB-E31D803C9775}"/>
              </a:ext>
            </a:extLst>
          </p:cNvPr>
          <p:cNvSpPr>
            <a:spLocks xmlns:a="http://schemas.openxmlformats.org/drawingml/2006/main" noGrp="1"/>
          </p:cNvSpPr>
          <p:nvPr/>
        </p:nvSpPr>
        <p:spPr>
          <a:xfrm xmlns:a="http://schemas.openxmlformats.org/drawingml/2006/main">
            <a:off x="1257300" y="2495550"/>
            <a:ext cx="1524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D3EE"/>
                </a:solidFill>
                <a:latin typeface="PingFang SC"/>
                <a:ea typeface="PingFang SC"/>
                <a:cs typeface="PingFang SC"/>
              </a:defRPr>
            </a:pPr>
            <a:r>
              <a:rPr sz="1800" b="1">
                <a:solidFill>
                  <a:srgbClr val="22D3EE"/>
                </a:solidFill>
                <a:latin typeface="PingFang SC"/>
                <a:ea typeface="PingFang SC"/>
                <a:cs typeface="PingFang SC"/>
              </a:rPr>
              <a:t>更多数据</a:t>
            </a:r>
          </a:p>
        </p:txBody>
      </p:sp>
      <p:sp>
        <p:nvSpPr>
          <p:cNvPr id="10" name="">
            <a:extLst xmlns:a="http://schemas.openxmlformats.org/drawingml/2006/main">
              <a:ext uri="{FF2B5EF4-FFF2-40B4-BE49-F238E27FC236}">
                <a16:creationId xmlns:a16="http://schemas.microsoft.com/office/drawing/2014/main" id="{54FD6463-4B15-4146-A742-990CF19457CE}"/>
              </a:ext>
            </a:extLst>
          </p:cNvPr>
          <p:cNvSpPr>
            <a:spLocks xmlns:a="http://schemas.openxmlformats.org/drawingml/2006/main" noGrp="1"/>
          </p:cNvSpPr>
          <p:nvPr/>
        </p:nvSpPr>
        <p:spPr>
          <a:xfrm xmlns:a="http://schemas.openxmlformats.org/drawingml/2006/main">
            <a:off x="1257300" y="3048000"/>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AFC"/>
                </a:solidFill>
                <a:latin typeface="PingFang SC"/>
                <a:ea typeface="PingFang SC"/>
                <a:cs typeface="PingFang SC"/>
              </a:defRPr>
            </a:pPr>
            <a:r>
              <a:rPr sz="1200" b="0">
                <a:solidFill>
                  <a:srgbClr val="F7FAFC"/>
                </a:solidFill>
                <a:latin typeface="PingFang SC"/>
                <a:ea typeface="PingFang SC"/>
                <a:cs typeface="PingFang SC"/>
              </a:rPr>
              <a:t>增加高质量 episode，覆盖更多物体、更多角度和更多失败恢复。</a:t>
            </a:r>
          </a:p>
        </p:txBody>
      </p:sp>
      <p:sp>
        <p:nvSpPr>
          <p:cNvPr id="11" name="">
            <a:extLst xmlns:a="http://schemas.openxmlformats.org/drawingml/2006/main">
              <a:ext uri="{FF2B5EF4-FFF2-40B4-BE49-F238E27FC236}">
                <a16:creationId xmlns:a16="http://schemas.microsoft.com/office/drawing/2014/main" id="{FF7FF844-1CD6-4EED-82C2-C53070E3AE0C}"/>
              </a:ext>
            </a:extLst>
          </p:cNvPr>
          <p:cNvSpPr>
            <a:spLocks xmlns:a="http://schemas.openxmlformats.org/drawingml/2006/main" noGrp="1"/>
          </p:cNvSpPr>
          <p:nvPr/>
        </p:nvSpPr>
        <p:spPr>
          <a:xfrm xmlns:a="http://schemas.openxmlformats.org/drawingml/2006/main">
            <a:off x="4876800" y="2495550"/>
            <a:ext cx="1524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C55E"/>
                </a:solidFill>
                <a:latin typeface="PingFang SC"/>
                <a:ea typeface="PingFang SC"/>
                <a:cs typeface="PingFang SC"/>
              </a:defRPr>
            </a:pPr>
            <a:r>
              <a:rPr sz="1800" b="1">
                <a:solidFill>
                  <a:srgbClr val="22C55E"/>
                </a:solidFill>
                <a:latin typeface="PingFang SC"/>
                <a:ea typeface="PingFang SC"/>
                <a:cs typeface="PingFang SC"/>
              </a:rPr>
              <a:t>更强策略</a:t>
            </a:r>
          </a:p>
        </p:txBody>
      </p:sp>
      <p:sp>
        <p:nvSpPr>
          <p:cNvPr id="12" name="">
            <a:extLst xmlns:a="http://schemas.openxmlformats.org/drawingml/2006/main">
              <a:ext uri="{FF2B5EF4-FFF2-40B4-BE49-F238E27FC236}">
                <a16:creationId xmlns:a16="http://schemas.microsoft.com/office/drawing/2014/main" id="{C2CA7C73-D07C-4A66-AE10-90D49123136B}"/>
              </a:ext>
            </a:extLst>
          </p:cNvPr>
          <p:cNvSpPr>
            <a:spLocks xmlns:a="http://schemas.openxmlformats.org/drawingml/2006/main" noGrp="1"/>
          </p:cNvSpPr>
          <p:nvPr/>
        </p:nvSpPr>
        <p:spPr>
          <a:xfrm xmlns:a="http://schemas.openxmlformats.org/drawingml/2006/main">
            <a:off x="4876800" y="3048000"/>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AFC"/>
                </a:solidFill>
                <a:latin typeface="PingFang SC"/>
                <a:ea typeface="PingFang SC"/>
                <a:cs typeface="PingFang SC"/>
              </a:defRPr>
            </a:pPr>
            <a:r>
              <a:rPr sz="1200" b="0">
                <a:solidFill>
                  <a:srgbClr val="F7FAFC"/>
                </a:solidFill>
                <a:latin typeface="PingFang SC"/>
                <a:ea typeface="PingFang SC"/>
                <a:cs typeface="PingFang SC"/>
              </a:rPr>
              <a:t>继续提升 ACT/VLA 模型，并加入视觉检测、目标定位和安全约束。</a:t>
            </a:r>
          </a:p>
        </p:txBody>
      </p:sp>
      <p:sp>
        <p:nvSpPr>
          <p:cNvPr id="13" name="">
            <a:extLst xmlns:a="http://schemas.openxmlformats.org/drawingml/2006/main">
              <a:ext uri="{FF2B5EF4-FFF2-40B4-BE49-F238E27FC236}">
                <a16:creationId xmlns:a16="http://schemas.microsoft.com/office/drawing/2014/main" id="{690B83E8-78D3-4A2D-B7E0-80C97C2EB1B6}"/>
              </a:ext>
            </a:extLst>
          </p:cNvPr>
          <p:cNvSpPr>
            <a:spLocks xmlns:a="http://schemas.openxmlformats.org/drawingml/2006/main" noGrp="1"/>
          </p:cNvSpPr>
          <p:nvPr/>
        </p:nvSpPr>
        <p:spPr>
          <a:xfrm xmlns:a="http://schemas.openxmlformats.org/drawingml/2006/main">
            <a:off x="8496300" y="2495550"/>
            <a:ext cx="1524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59E0B"/>
                </a:solidFill>
                <a:latin typeface="PingFang SC"/>
                <a:ea typeface="PingFang SC"/>
                <a:cs typeface="PingFang SC"/>
              </a:defRPr>
            </a:pPr>
            <a:r>
              <a:rPr sz="1800" b="1">
                <a:solidFill>
                  <a:srgbClr val="F59E0B"/>
                </a:solidFill>
                <a:latin typeface="PingFang SC"/>
                <a:ea typeface="PingFang SC"/>
                <a:cs typeface="PingFang SC"/>
              </a:rPr>
              <a:t>更多载体</a:t>
            </a:r>
          </a:p>
        </p:txBody>
      </p:sp>
      <p:sp>
        <p:nvSpPr>
          <p:cNvPr id="14" name="">
            <a:extLst xmlns:a="http://schemas.openxmlformats.org/drawingml/2006/main">
              <a:ext uri="{FF2B5EF4-FFF2-40B4-BE49-F238E27FC236}">
                <a16:creationId xmlns:a16="http://schemas.microsoft.com/office/drawing/2014/main" id="{E7D34A32-9558-40C9-8CC6-536BC6E0CB53}"/>
              </a:ext>
            </a:extLst>
          </p:cNvPr>
          <p:cNvSpPr>
            <a:spLocks xmlns:a="http://schemas.openxmlformats.org/drawingml/2006/main" noGrp="1"/>
          </p:cNvSpPr>
          <p:nvPr/>
        </p:nvSpPr>
        <p:spPr>
          <a:xfrm xmlns:a="http://schemas.openxmlformats.org/drawingml/2006/main">
            <a:off x="8496300" y="3048000"/>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AFC"/>
                </a:solidFill>
                <a:latin typeface="PingFang SC"/>
                <a:ea typeface="PingFang SC"/>
                <a:cs typeface="PingFang SC"/>
              </a:defRPr>
            </a:pPr>
            <a:r>
              <a:rPr sz="1200" b="0">
                <a:solidFill>
                  <a:srgbClr val="F7FAFC"/>
                </a:solidFill>
                <a:latin typeface="PingFang SC"/>
                <a:ea typeface="PingFang SC"/>
                <a:cs typeface="PingFang SC"/>
              </a:rPr>
              <a:t>与机械狗、轮式机器人或服务机器人结合，进入更大的真实作业空间。</a:t>
            </a:r>
          </a:p>
        </p:txBody>
      </p:sp>
      <p:sp>
        <p:nvSpPr>
          <p:cNvPr id="15" name="">
            <a:extLst xmlns:a="http://schemas.openxmlformats.org/drawingml/2006/main">
              <a:ext uri="{FF2B5EF4-FFF2-40B4-BE49-F238E27FC236}">
                <a16:creationId xmlns:a16="http://schemas.microsoft.com/office/drawing/2014/main" id="{BD54F83F-7554-4414-B751-403B7B9BD1B6}"/>
              </a:ext>
            </a:extLst>
          </p:cNvPr>
          <p:cNvSpPr>
            <a:spLocks xmlns:a="http://schemas.openxmlformats.org/drawingml/2006/main" noGrp="1"/>
          </p:cNvSpPr>
          <p:nvPr/>
        </p:nvSpPr>
        <p:spPr>
          <a:xfrm xmlns:a="http://schemas.openxmlformats.org/drawingml/2006/main">
            <a:off x="1257300" y="4762500"/>
            <a:ext cx="9677400" cy="628650"/>
          </a:xfrm>
          <a:prstGeom xmlns:a="http://schemas.openxmlformats.org/drawingml/2006/main" prst="rect">
            <a:avLst/>
          </a:prstGeom>
          <a:solidFill xmlns:a="http://schemas.openxmlformats.org/drawingml/2006/main">
            <a:srgbClr val="0F2633"/>
          </a:solidFill>
          <a:ln xmlns:a="http://schemas.openxmlformats.org/drawingml/2006/main" w="9525">
            <a:solidFill>
              <a:srgbClr val="22D3EE"/>
            </a:solidFill>
            <a:prstDash val="solid"/>
          </a:ln>
        </p:spPr>
      </p:sp>
      <p:sp>
        <p:nvSpPr>
          <p:cNvPr id="16" name="">
            <a:extLst xmlns:a="http://schemas.openxmlformats.org/drawingml/2006/main">
              <a:ext uri="{FF2B5EF4-FFF2-40B4-BE49-F238E27FC236}">
                <a16:creationId xmlns:a16="http://schemas.microsoft.com/office/drawing/2014/main" id="{583CA4ED-EFCB-43EB-86BA-EFED57BEDF2F}"/>
              </a:ext>
            </a:extLst>
          </p:cNvPr>
          <p:cNvSpPr>
            <a:spLocks xmlns:a="http://schemas.openxmlformats.org/drawingml/2006/main" noGrp="1"/>
          </p:cNvSpPr>
          <p:nvPr/>
        </p:nvSpPr>
        <p:spPr>
          <a:xfrm xmlns:a="http://schemas.openxmlformats.org/drawingml/2006/main">
            <a:off x="1524000" y="497205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2D3EE"/>
                </a:solidFill>
                <a:latin typeface="PingFang SC"/>
                <a:ea typeface="PingFang SC"/>
                <a:cs typeface="PingFang SC"/>
              </a:defRPr>
            </a:pPr>
            <a:r>
              <a:rPr sz="900" b="1">
                <a:solidFill>
                  <a:srgbClr val="22D3EE"/>
                </a:solidFill>
                <a:latin typeface="PingFang SC"/>
                <a:ea typeface="PingFang SC"/>
                <a:cs typeface="PingFang SC"/>
              </a:rPr>
              <a:t>一句话</a:t>
            </a:r>
          </a:p>
        </p:txBody>
      </p:sp>
      <p:sp>
        <p:nvSpPr>
          <p:cNvPr id="17" name="">
            <a:extLst xmlns:a="http://schemas.openxmlformats.org/drawingml/2006/main">
              <a:ext uri="{FF2B5EF4-FFF2-40B4-BE49-F238E27FC236}">
                <a16:creationId xmlns:a16="http://schemas.microsoft.com/office/drawing/2014/main" id="{9F93F27E-41B2-42FE-88C7-930C0E9EFB3D}"/>
              </a:ext>
            </a:extLst>
          </p:cNvPr>
          <p:cNvSpPr>
            <a:spLocks xmlns:a="http://schemas.openxmlformats.org/drawingml/2006/main" noGrp="1"/>
          </p:cNvSpPr>
          <p:nvPr/>
        </p:nvSpPr>
        <p:spPr>
          <a:xfrm xmlns:a="http://schemas.openxmlformats.org/drawingml/2006/main">
            <a:off x="2381250" y="4895850"/>
            <a:ext cx="7524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AFC"/>
                </a:solidFill>
                <a:latin typeface="PingFang SC"/>
                <a:ea typeface="PingFang SC"/>
                <a:cs typeface="PingFang SC"/>
              </a:defRPr>
            </a:pPr>
            <a:r>
              <a:rPr sz="1500" b="1">
                <a:solidFill>
                  <a:srgbClr val="F7FAFC"/>
                </a:solidFill>
                <a:latin typeface="PingFang SC"/>
                <a:ea typeface="PingFang SC"/>
                <a:cs typeface="PingFang SC"/>
              </a:rPr>
              <a:t>下一步不是换一个更漂亮的演示，而是把原型推向更可靠、更自主、更接近真实现场的机器人作业系统。</a:t>
            </a:r>
          </a:p>
        </p:txBody>
      </p:sp>
      <p:sp>
        <p:nvSpPr>
          <p:cNvPr id="18" name="">
            <a:extLst xmlns:a="http://schemas.openxmlformats.org/drawingml/2006/main">
              <a:ext uri="{FF2B5EF4-FFF2-40B4-BE49-F238E27FC236}">
                <a16:creationId xmlns:a16="http://schemas.microsoft.com/office/drawing/2014/main" id="{EA5E3BB7-016D-4593-8609-0C29A0020157}"/>
              </a:ext>
            </a:extLst>
          </p:cNvPr>
          <p:cNvSpPr>
            <a:spLocks xmlns:a="http://schemas.openxmlformats.org/drawingml/2006/main" noGrp="1"/>
          </p:cNvSpPr>
          <p:nvPr/>
        </p:nvSpPr>
        <p:spPr>
          <a:xfrm xmlns:a="http://schemas.openxmlformats.org/drawingml/2006/main">
            <a:off x="552450" y="6438900"/>
            <a:ext cx="10287000" cy="9525"/>
          </a:xfrm>
          <a:prstGeom xmlns:a="http://schemas.openxmlformats.org/drawingml/2006/main" prst="rect">
            <a:avLst/>
          </a:prstGeom>
          <a:solidFill xmlns:a="http://schemas.openxmlformats.org/drawingml/2006/main">
            <a:srgbClr val="1F2A3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AB4EE2F-C6A0-4F40-AF0F-1CB5DEFEC56A}"/>
              </a:ext>
            </a:extLst>
          </p:cNvPr>
          <p:cNvSpPr>
            <a:spLocks xmlns:a="http://schemas.openxmlformats.org/drawingml/2006/main" noGrp="1"/>
          </p:cNvSpPr>
          <p:nvPr/>
        </p:nvSpPr>
        <p:spPr>
          <a:xfrm xmlns:a="http://schemas.openxmlformats.org/drawingml/2006/main">
            <a:off x="552450" y="65532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4748B"/>
                </a:solidFill>
                <a:latin typeface="PingFang SC"/>
                <a:ea typeface="PingFang SC"/>
                <a:cs typeface="PingFang SC"/>
              </a:defRPr>
            </a:pPr>
            <a:r>
              <a:rPr sz="675" b="0">
                <a:solidFill>
                  <a:srgbClr val="64748B"/>
                </a:solidFill>
                <a:latin typeface="PingFang SC"/>
                <a:ea typeface="PingFang SC"/>
                <a:cs typeface="PingFang SC"/>
              </a:rPr>
              <a:t>QA appendix: future work</a:t>
            </a:r>
          </a:p>
        </p:txBody>
      </p:sp>
      <p:sp>
        <p:nvSpPr>
          <p:cNvPr id="20" name="">
            <a:extLst xmlns:a="http://schemas.openxmlformats.org/drawingml/2006/main">
              <a:ext uri="{FF2B5EF4-FFF2-40B4-BE49-F238E27FC236}">
                <a16:creationId xmlns:a16="http://schemas.microsoft.com/office/drawing/2014/main" id="{8402B924-345C-4568-913A-5286D7F8FFE1}"/>
              </a:ext>
            </a:extLst>
          </p:cNvPr>
          <p:cNvSpPr>
            <a:spLocks xmlns:a="http://schemas.openxmlformats.org/drawingml/2006/main" noGrp="1"/>
          </p:cNvSpPr>
          <p:nvPr/>
        </p:nvSpPr>
        <p:spPr>
          <a:xfrm xmlns:a="http://schemas.openxmlformats.org/drawingml/2006/main">
            <a:off x="11220450" y="65151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94A3B8"/>
                </a:solidFill>
                <a:latin typeface="PingFang SC"/>
                <a:ea typeface="PingFang SC"/>
                <a:cs typeface="PingFang SC"/>
              </a:defRPr>
            </a:pPr>
            <a:r>
              <a:rPr sz="975" b="1">
                <a:solidFill>
                  <a:srgbClr val="94A3B8"/>
                </a:solidFill>
                <a:latin typeface="PingFang SC"/>
                <a:ea typeface="PingFang SC"/>
                <a:cs typeface="PingFang SC"/>
              </a:rPr>
              <a:t>14</a:t>
            </a:r>
          </a:p>
        </p:txBody>
      </p:sp>
    </p:spTree>
    <p:extLst>
      <p:ext uri="{BB962C8B-B14F-4D97-AF65-F5344CB8AC3E}">
        <p14:creationId xmlns:p14="http://schemas.microsoft.com/office/powerpoint/2010/main" val="1219412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2026-05-22T10:33:10.1100000Z</dcterms:created>
  <dcterms:modified xsi:type="dcterms:W3CDTF">2026-05-22T10:33:10.1100000Z</dcterms:modified>
</coreProperties>
</file>